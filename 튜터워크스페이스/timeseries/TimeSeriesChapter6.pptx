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316" r:id="rId2"/>
    <p:sldId id="368" r:id="rId3"/>
    <p:sldId id="369" r:id="rId4"/>
    <p:sldId id="370" r:id="rId5"/>
    <p:sldId id="373" r:id="rId6"/>
    <p:sldId id="372" r:id="rId7"/>
    <p:sldId id="321" r:id="rId8"/>
    <p:sldId id="376" r:id="rId9"/>
    <p:sldId id="322" r:id="rId10"/>
    <p:sldId id="374" r:id="rId11"/>
    <p:sldId id="380" r:id="rId12"/>
    <p:sldId id="375" r:id="rId13"/>
    <p:sldId id="378" r:id="rId14"/>
    <p:sldId id="379" r:id="rId15"/>
    <p:sldId id="389" r:id="rId16"/>
    <p:sldId id="386" r:id="rId17"/>
    <p:sldId id="387" r:id="rId18"/>
    <p:sldId id="391" r:id="rId19"/>
    <p:sldId id="390" r:id="rId20"/>
    <p:sldId id="385" r:id="rId21"/>
    <p:sldId id="382" r:id="rId22"/>
    <p:sldId id="377" r:id="rId23"/>
    <p:sldId id="38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006"/>
  </p:normalViewPr>
  <p:slideViewPr>
    <p:cSldViewPr snapToGrid="0" snapToObjects="1">
      <p:cViewPr>
        <p:scale>
          <a:sx n="114" d="100"/>
          <a:sy n="114" d="100"/>
        </p:scale>
        <p:origin x="472" y="-32"/>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3D9B8E-199F-D044-A5BA-63C872271851}" type="datetimeFigureOut">
              <a:rPr lang="en-US" smtClean="0"/>
              <a:t>11/11/22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C6667A-D783-D24D-9C21-829C312970E3}" type="slidenum">
              <a:rPr lang="en-US" smtClean="0"/>
              <a:t>‹#›</a:t>
            </a:fld>
            <a:endParaRPr lang="en-US"/>
          </a:p>
        </p:txBody>
      </p:sp>
    </p:spTree>
    <p:extLst>
      <p:ext uri="{BB962C8B-B14F-4D97-AF65-F5344CB8AC3E}">
        <p14:creationId xmlns:p14="http://schemas.microsoft.com/office/powerpoint/2010/main" val="3278437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88CFF-CFDC-B54C-B374-640BD237AB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18051C-FA45-9641-9ADA-068A745A47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AEEC17-E6EF-314A-8922-DAB16FF59301}"/>
              </a:ext>
            </a:extLst>
          </p:cNvPr>
          <p:cNvSpPr>
            <a:spLocks noGrp="1"/>
          </p:cNvSpPr>
          <p:nvPr>
            <p:ph type="dt" sz="half" idx="10"/>
          </p:nvPr>
        </p:nvSpPr>
        <p:spPr/>
        <p:txBody>
          <a:bodyPr/>
          <a:lstStyle/>
          <a:p>
            <a:fld id="{703984F1-7A0B-8346-B405-3CC38E362E9F}" type="datetimeFigureOut">
              <a:rPr lang="en-US" smtClean="0"/>
              <a:t>11/11/22</a:t>
            </a:fld>
            <a:endParaRPr lang="en-US"/>
          </a:p>
        </p:txBody>
      </p:sp>
      <p:sp>
        <p:nvSpPr>
          <p:cNvPr id="5" name="Footer Placeholder 4">
            <a:extLst>
              <a:ext uri="{FF2B5EF4-FFF2-40B4-BE49-F238E27FC236}">
                <a16:creationId xmlns:a16="http://schemas.microsoft.com/office/drawing/2014/main" id="{6E6F9886-1605-D54E-9831-BB9521EA1A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74FBB-43AC-9640-86F2-76EA3815199C}"/>
              </a:ext>
            </a:extLst>
          </p:cNvPr>
          <p:cNvSpPr>
            <a:spLocks noGrp="1"/>
          </p:cNvSpPr>
          <p:nvPr>
            <p:ph type="sldNum" sz="quarter" idx="12"/>
          </p:nvPr>
        </p:nvSpPr>
        <p:spPr/>
        <p:txBody>
          <a:bodyPr/>
          <a:lstStyle/>
          <a:p>
            <a:fld id="{B5652E90-7BDD-0C45-8611-49DB81E3DAC2}" type="slidenum">
              <a:rPr lang="en-US" smtClean="0"/>
              <a:t>‹#›</a:t>
            </a:fld>
            <a:endParaRPr lang="en-US"/>
          </a:p>
        </p:txBody>
      </p:sp>
    </p:spTree>
    <p:extLst>
      <p:ext uri="{BB962C8B-B14F-4D97-AF65-F5344CB8AC3E}">
        <p14:creationId xmlns:p14="http://schemas.microsoft.com/office/powerpoint/2010/main" val="1816228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025FF-00BE-2B43-8572-31ABF50A73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3BEAF5-0A0E-8442-A581-040860FC530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14F303-9DF6-C24D-98AC-0052B3C6E862}"/>
              </a:ext>
            </a:extLst>
          </p:cNvPr>
          <p:cNvSpPr>
            <a:spLocks noGrp="1"/>
          </p:cNvSpPr>
          <p:nvPr>
            <p:ph type="dt" sz="half" idx="10"/>
          </p:nvPr>
        </p:nvSpPr>
        <p:spPr/>
        <p:txBody>
          <a:bodyPr/>
          <a:lstStyle/>
          <a:p>
            <a:fld id="{703984F1-7A0B-8346-B405-3CC38E362E9F}" type="datetimeFigureOut">
              <a:rPr lang="en-US" smtClean="0"/>
              <a:t>11/11/22</a:t>
            </a:fld>
            <a:endParaRPr lang="en-US"/>
          </a:p>
        </p:txBody>
      </p:sp>
      <p:sp>
        <p:nvSpPr>
          <p:cNvPr id="5" name="Footer Placeholder 4">
            <a:extLst>
              <a:ext uri="{FF2B5EF4-FFF2-40B4-BE49-F238E27FC236}">
                <a16:creationId xmlns:a16="http://schemas.microsoft.com/office/drawing/2014/main" id="{04CF2B39-DCF4-9140-AB6C-2C2698C87F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34A4E-C1CB-3046-B0F7-C7A10D51E778}"/>
              </a:ext>
            </a:extLst>
          </p:cNvPr>
          <p:cNvSpPr>
            <a:spLocks noGrp="1"/>
          </p:cNvSpPr>
          <p:nvPr>
            <p:ph type="sldNum" sz="quarter" idx="12"/>
          </p:nvPr>
        </p:nvSpPr>
        <p:spPr/>
        <p:txBody>
          <a:bodyPr/>
          <a:lstStyle/>
          <a:p>
            <a:fld id="{B5652E90-7BDD-0C45-8611-49DB81E3DAC2}" type="slidenum">
              <a:rPr lang="en-US" smtClean="0"/>
              <a:t>‹#›</a:t>
            </a:fld>
            <a:endParaRPr lang="en-US"/>
          </a:p>
        </p:txBody>
      </p:sp>
    </p:spTree>
    <p:extLst>
      <p:ext uri="{BB962C8B-B14F-4D97-AF65-F5344CB8AC3E}">
        <p14:creationId xmlns:p14="http://schemas.microsoft.com/office/powerpoint/2010/main" val="4067383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BE090-A601-054B-A686-E4DD82F281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54CAFE-D602-FC4E-9D40-8F34FE589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A838B39-BA56-244D-9D84-82178DFC2206}"/>
              </a:ext>
            </a:extLst>
          </p:cNvPr>
          <p:cNvSpPr>
            <a:spLocks noGrp="1"/>
          </p:cNvSpPr>
          <p:nvPr>
            <p:ph type="dt" sz="half" idx="10"/>
          </p:nvPr>
        </p:nvSpPr>
        <p:spPr/>
        <p:txBody>
          <a:bodyPr/>
          <a:lstStyle/>
          <a:p>
            <a:fld id="{703984F1-7A0B-8346-B405-3CC38E362E9F}" type="datetimeFigureOut">
              <a:rPr lang="en-US" smtClean="0"/>
              <a:t>11/11/22</a:t>
            </a:fld>
            <a:endParaRPr lang="en-US"/>
          </a:p>
        </p:txBody>
      </p:sp>
      <p:sp>
        <p:nvSpPr>
          <p:cNvPr id="5" name="Footer Placeholder 4">
            <a:extLst>
              <a:ext uri="{FF2B5EF4-FFF2-40B4-BE49-F238E27FC236}">
                <a16:creationId xmlns:a16="http://schemas.microsoft.com/office/drawing/2014/main" id="{D0169671-DF2A-6B45-B4F7-C843521E9B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86EEA3-D45C-F246-9CF5-B035105F841F}"/>
              </a:ext>
            </a:extLst>
          </p:cNvPr>
          <p:cNvSpPr>
            <a:spLocks noGrp="1"/>
          </p:cNvSpPr>
          <p:nvPr>
            <p:ph type="sldNum" sz="quarter" idx="12"/>
          </p:nvPr>
        </p:nvSpPr>
        <p:spPr/>
        <p:txBody>
          <a:bodyPr/>
          <a:lstStyle/>
          <a:p>
            <a:fld id="{B5652E90-7BDD-0C45-8611-49DB81E3DAC2}" type="slidenum">
              <a:rPr lang="en-US" smtClean="0"/>
              <a:t>‹#›</a:t>
            </a:fld>
            <a:endParaRPr lang="en-US"/>
          </a:p>
        </p:txBody>
      </p:sp>
    </p:spTree>
    <p:extLst>
      <p:ext uri="{BB962C8B-B14F-4D97-AF65-F5344CB8AC3E}">
        <p14:creationId xmlns:p14="http://schemas.microsoft.com/office/powerpoint/2010/main" val="1397946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EFA02-CD4C-B746-9908-061267EFF8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895F54-A600-0E4A-A126-211FD4899AC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D355CE-2AA1-6843-B56A-DB81B957D7D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3DCB469-D2D7-ED4C-9C90-E5430971F1F0}"/>
              </a:ext>
            </a:extLst>
          </p:cNvPr>
          <p:cNvSpPr>
            <a:spLocks noGrp="1"/>
          </p:cNvSpPr>
          <p:nvPr>
            <p:ph type="dt" sz="half" idx="10"/>
          </p:nvPr>
        </p:nvSpPr>
        <p:spPr/>
        <p:txBody>
          <a:bodyPr/>
          <a:lstStyle/>
          <a:p>
            <a:fld id="{703984F1-7A0B-8346-B405-3CC38E362E9F}" type="datetimeFigureOut">
              <a:rPr lang="en-US" smtClean="0"/>
              <a:t>11/11/22</a:t>
            </a:fld>
            <a:endParaRPr lang="en-US"/>
          </a:p>
        </p:txBody>
      </p:sp>
      <p:sp>
        <p:nvSpPr>
          <p:cNvPr id="6" name="Footer Placeholder 5">
            <a:extLst>
              <a:ext uri="{FF2B5EF4-FFF2-40B4-BE49-F238E27FC236}">
                <a16:creationId xmlns:a16="http://schemas.microsoft.com/office/drawing/2014/main" id="{66E03146-9CCF-6B4E-ABB4-992B36FAF6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DBE2CB-FFCB-1C4C-AA02-017C29892D79}"/>
              </a:ext>
            </a:extLst>
          </p:cNvPr>
          <p:cNvSpPr>
            <a:spLocks noGrp="1"/>
          </p:cNvSpPr>
          <p:nvPr>
            <p:ph type="sldNum" sz="quarter" idx="12"/>
          </p:nvPr>
        </p:nvSpPr>
        <p:spPr/>
        <p:txBody>
          <a:bodyPr/>
          <a:lstStyle/>
          <a:p>
            <a:fld id="{B5652E90-7BDD-0C45-8611-49DB81E3DAC2}" type="slidenum">
              <a:rPr lang="en-US" smtClean="0"/>
              <a:t>‹#›</a:t>
            </a:fld>
            <a:endParaRPr lang="en-US"/>
          </a:p>
        </p:txBody>
      </p:sp>
    </p:spTree>
    <p:extLst>
      <p:ext uri="{BB962C8B-B14F-4D97-AF65-F5344CB8AC3E}">
        <p14:creationId xmlns:p14="http://schemas.microsoft.com/office/powerpoint/2010/main" val="870192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ED6FC-B4E0-4C47-AD20-5FB112F188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18B917-DE7C-B246-8C0F-6F266F75FB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27A6DAE-9FBB-4B40-AD38-62BCDEB816D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3ED5F0-143E-B449-A267-67A8B1AAC2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B7AA48D-7DE6-F843-B7EF-02F7A4D2B37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B8FA44-65B4-7449-83E6-291E16A0BD6B}"/>
              </a:ext>
            </a:extLst>
          </p:cNvPr>
          <p:cNvSpPr>
            <a:spLocks noGrp="1"/>
          </p:cNvSpPr>
          <p:nvPr>
            <p:ph type="dt" sz="half" idx="10"/>
          </p:nvPr>
        </p:nvSpPr>
        <p:spPr/>
        <p:txBody>
          <a:bodyPr/>
          <a:lstStyle/>
          <a:p>
            <a:fld id="{703984F1-7A0B-8346-B405-3CC38E362E9F}" type="datetimeFigureOut">
              <a:rPr lang="en-US" smtClean="0"/>
              <a:t>11/11/22</a:t>
            </a:fld>
            <a:endParaRPr lang="en-US"/>
          </a:p>
        </p:txBody>
      </p:sp>
      <p:sp>
        <p:nvSpPr>
          <p:cNvPr id="8" name="Footer Placeholder 7">
            <a:extLst>
              <a:ext uri="{FF2B5EF4-FFF2-40B4-BE49-F238E27FC236}">
                <a16:creationId xmlns:a16="http://schemas.microsoft.com/office/drawing/2014/main" id="{A7282205-BA3D-4640-A5F6-47F06F47AD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2792E8-E0D8-9048-8F0F-E3C6A8A39B5D}"/>
              </a:ext>
            </a:extLst>
          </p:cNvPr>
          <p:cNvSpPr>
            <a:spLocks noGrp="1"/>
          </p:cNvSpPr>
          <p:nvPr>
            <p:ph type="sldNum" sz="quarter" idx="12"/>
          </p:nvPr>
        </p:nvSpPr>
        <p:spPr/>
        <p:txBody>
          <a:bodyPr/>
          <a:lstStyle/>
          <a:p>
            <a:fld id="{B5652E90-7BDD-0C45-8611-49DB81E3DAC2}" type="slidenum">
              <a:rPr lang="en-US" smtClean="0"/>
              <a:t>‹#›</a:t>
            </a:fld>
            <a:endParaRPr lang="en-US"/>
          </a:p>
        </p:txBody>
      </p:sp>
    </p:spTree>
    <p:extLst>
      <p:ext uri="{BB962C8B-B14F-4D97-AF65-F5344CB8AC3E}">
        <p14:creationId xmlns:p14="http://schemas.microsoft.com/office/powerpoint/2010/main" val="1749528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6DFE4-7C4E-B644-82EB-DE2C922E3E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D34409-D4EE-0648-9CF7-608795D00C5B}"/>
              </a:ext>
            </a:extLst>
          </p:cNvPr>
          <p:cNvSpPr>
            <a:spLocks noGrp="1"/>
          </p:cNvSpPr>
          <p:nvPr>
            <p:ph type="dt" sz="half" idx="10"/>
          </p:nvPr>
        </p:nvSpPr>
        <p:spPr/>
        <p:txBody>
          <a:bodyPr/>
          <a:lstStyle/>
          <a:p>
            <a:fld id="{703984F1-7A0B-8346-B405-3CC38E362E9F}" type="datetimeFigureOut">
              <a:rPr lang="en-US" smtClean="0"/>
              <a:t>11/11/22</a:t>
            </a:fld>
            <a:endParaRPr lang="en-US"/>
          </a:p>
        </p:txBody>
      </p:sp>
      <p:sp>
        <p:nvSpPr>
          <p:cNvPr id="4" name="Footer Placeholder 3">
            <a:extLst>
              <a:ext uri="{FF2B5EF4-FFF2-40B4-BE49-F238E27FC236}">
                <a16:creationId xmlns:a16="http://schemas.microsoft.com/office/drawing/2014/main" id="{3C9A77E9-989E-3546-8421-5AC132A962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4F8B0B-0180-5848-BE9D-1083537C1632}"/>
              </a:ext>
            </a:extLst>
          </p:cNvPr>
          <p:cNvSpPr>
            <a:spLocks noGrp="1"/>
          </p:cNvSpPr>
          <p:nvPr>
            <p:ph type="sldNum" sz="quarter" idx="12"/>
          </p:nvPr>
        </p:nvSpPr>
        <p:spPr/>
        <p:txBody>
          <a:bodyPr/>
          <a:lstStyle/>
          <a:p>
            <a:fld id="{B5652E90-7BDD-0C45-8611-49DB81E3DAC2}" type="slidenum">
              <a:rPr lang="en-US" smtClean="0"/>
              <a:t>‹#›</a:t>
            </a:fld>
            <a:endParaRPr lang="en-US"/>
          </a:p>
        </p:txBody>
      </p:sp>
    </p:spTree>
    <p:extLst>
      <p:ext uri="{BB962C8B-B14F-4D97-AF65-F5344CB8AC3E}">
        <p14:creationId xmlns:p14="http://schemas.microsoft.com/office/powerpoint/2010/main" val="916428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C2EF4C-5AAC-4846-98DE-3F82AD03D8AC}"/>
              </a:ext>
            </a:extLst>
          </p:cNvPr>
          <p:cNvSpPr>
            <a:spLocks noGrp="1"/>
          </p:cNvSpPr>
          <p:nvPr>
            <p:ph type="dt" sz="half" idx="10"/>
          </p:nvPr>
        </p:nvSpPr>
        <p:spPr/>
        <p:txBody>
          <a:bodyPr/>
          <a:lstStyle/>
          <a:p>
            <a:fld id="{703984F1-7A0B-8346-B405-3CC38E362E9F}" type="datetimeFigureOut">
              <a:rPr lang="en-US" smtClean="0"/>
              <a:t>11/11/22</a:t>
            </a:fld>
            <a:endParaRPr lang="en-US"/>
          </a:p>
        </p:txBody>
      </p:sp>
      <p:sp>
        <p:nvSpPr>
          <p:cNvPr id="3" name="Footer Placeholder 2">
            <a:extLst>
              <a:ext uri="{FF2B5EF4-FFF2-40B4-BE49-F238E27FC236}">
                <a16:creationId xmlns:a16="http://schemas.microsoft.com/office/drawing/2014/main" id="{1487214E-C005-AC40-AF38-783C8312AF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FBA70A2-37E6-504C-A249-38C293C3CCEF}"/>
              </a:ext>
            </a:extLst>
          </p:cNvPr>
          <p:cNvSpPr>
            <a:spLocks noGrp="1"/>
          </p:cNvSpPr>
          <p:nvPr>
            <p:ph type="sldNum" sz="quarter" idx="12"/>
          </p:nvPr>
        </p:nvSpPr>
        <p:spPr/>
        <p:txBody>
          <a:bodyPr/>
          <a:lstStyle/>
          <a:p>
            <a:fld id="{B5652E90-7BDD-0C45-8611-49DB81E3DAC2}" type="slidenum">
              <a:rPr lang="en-US" smtClean="0"/>
              <a:t>‹#›</a:t>
            </a:fld>
            <a:endParaRPr lang="en-US"/>
          </a:p>
        </p:txBody>
      </p:sp>
    </p:spTree>
    <p:extLst>
      <p:ext uri="{BB962C8B-B14F-4D97-AF65-F5344CB8AC3E}">
        <p14:creationId xmlns:p14="http://schemas.microsoft.com/office/powerpoint/2010/main" val="440456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A9F5E-7BC8-3845-8012-61BA644001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A647CC-6F61-5244-A682-DB3D4CD1C5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D98ABF-62CD-F144-AFA5-796F5C3FD5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97FD31C-CF2C-914D-9BC7-39620514DEFD}"/>
              </a:ext>
            </a:extLst>
          </p:cNvPr>
          <p:cNvSpPr>
            <a:spLocks noGrp="1"/>
          </p:cNvSpPr>
          <p:nvPr>
            <p:ph type="dt" sz="half" idx="10"/>
          </p:nvPr>
        </p:nvSpPr>
        <p:spPr/>
        <p:txBody>
          <a:bodyPr/>
          <a:lstStyle/>
          <a:p>
            <a:fld id="{703984F1-7A0B-8346-B405-3CC38E362E9F}" type="datetimeFigureOut">
              <a:rPr lang="en-US" smtClean="0"/>
              <a:t>11/11/22</a:t>
            </a:fld>
            <a:endParaRPr lang="en-US"/>
          </a:p>
        </p:txBody>
      </p:sp>
      <p:sp>
        <p:nvSpPr>
          <p:cNvPr id="6" name="Footer Placeholder 5">
            <a:extLst>
              <a:ext uri="{FF2B5EF4-FFF2-40B4-BE49-F238E27FC236}">
                <a16:creationId xmlns:a16="http://schemas.microsoft.com/office/drawing/2014/main" id="{C7812A06-02CB-CF46-B736-3BAD2DFD4C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B2C131-67D5-784F-915A-3098667BEE36}"/>
              </a:ext>
            </a:extLst>
          </p:cNvPr>
          <p:cNvSpPr>
            <a:spLocks noGrp="1"/>
          </p:cNvSpPr>
          <p:nvPr>
            <p:ph type="sldNum" sz="quarter" idx="12"/>
          </p:nvPr>
        </p:nvSpPr>
        <p:spPr/>
        <p:txBody>
          <a:bodyPr/>
          <a:lstStyle/>
          <a:p>
            <a:fld id="{B5652E90-7BDD-0C45-8611-49DB81E3DAC2}" type="slidenum">
              <a:rPr lang="en-US" smtClean="0"/>
              <a:t>‹#›</a:t>
            </a:fld>
            <a:endParaRPr lang="en-US"/>
          </a:p>
        </p:txBody>
      </p:sp>
    </p:spTree>
    <p:extLst>
      <p:ext uri="{BB962C8B-B14F-4D97-AF65-F5344CB8AC3E}">
        <p14:creationId xmlns:p14="http://schemas.microsoft.com/office/powerpoint/2010/main" val="2017595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CDF6E-1D66-1944-B15D-22C33BCF8C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E3DD56-B607-A04C-9A62-B6B616B18A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4CFC80-2654-7F4F-9F5C-70F867E525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F673277-1D94-DC43-A04D-7B6D2DFC6981}"/>
              </a:ext>
            </a:extLst>
          </p:cNvPr>
          <p:cNvSpPr>
            <a:spLocks noGrp="1"/>
          </p:cNvSpPr>
          <p:nvPr>
            <p:ph type="dt" sz="half" idx="10"/>
          </p:nvPr>
        </p:nvSpPr>
        <p:spPr/>
        <p:txBody>
          <a:bodyPr/>
          <a:lstStyle/>
          <a:p>
            <a:fld id="{703984F1-7A0B-8346-B405-3CC38E362E9F}" type="datetimeFigureOut">
              <a:rPr lang="en-US" smtClean="0"/>
              <a:t>11/11/22</a:t>
            </a:fld>
            <a:endParaRPr lang="en-US"/>
          </a:p>
        </p:txBody>
      </p:sp>
      <p:sp>
        <p:nvSpPr>
          <p:cNvPr id="6" name="Footer Placeholder 5">
            <a:extLst>
              <a:ext uri="{FF2B5EF4-FFF2-40B4-BE49-F238E27FC236}">
                <a16:creationId xmlns:a16="http://schemas.microsoft.com/office/drawing/2014/main" id="{D177206C-2EF9-5940-B3C6-3B75167E51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4C2570-52B2-AB4B-B816-F4C4E1C2D901}"/>
              </a:ext>
            </a:extLst>
          </p:cNvPr>
          <p:cNvSpPr>
            <a:spLocks noGrp="1"/>
          </p:cNvSpPr>
          <p:nvPr>
            <p:ph type="sldNum" sz="quarter" idx="12"/>
          </p:nvPr>
        </p:nvSpPr>
        <p:spPr/>
        <p:txBody>
          <a:bodyPr/>
          <a:lstStyle/>
          <a:p>
            <a:fld id="{B5652E90-7BDD-0C45-8611-49DB81E3DAC2}" type="slidenum">
              <a:rPr lang="en-US" smtClean="0"/>
              <a:t>‹#›</a:t>
            </a:fld>
            <a:endParaRPr lang="en-US"/>
          </a:p>
        </p:txBody>
      </p:sp>
    </p:spTree>
    <p:extLst>
      <p:ext uri="{BB962C8B-B14F-4D97-AF65-F5344CB8AC3E}">
        <p14:creationId xmlns:p14="http://schemas.microsoft.com/office/powerpoint/2010/main" val="1870031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B5532-CF4D-8042-9431-5E5F43B295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D98D1E9-C2F8-CF4A-AA5B-876C545E580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AD5996-1B1F-BF4A-85BF-BBD4A70B0E94}"/>
              </a:ext>
            </a:extLst>
          </p:cNvPr>
          <p:cNvSpPr>
            <a:spLocks noGrp="1"/>
          </p:cNvSpPr>
          <p:nvPr>
            <p:ph type="dt" sz="half" idx="10"/>
          </p:nvPr>
        </p:nvSpPr>
        <p:spPr/>
        <p:txBody>
          <a:bodyPr/>
          <a:lstStyle/>
          <a:p>
            <a:fld id="{703984F1-7A0B-8346-B405-3CC38E362E9F}" type="datetimeFigureOut">
              <a:rPr lang="en-US" smtClean="0"/>
              <a:t>11/11/22</a:t>
            </a:fld>
            <a:endParaRPr lang="en-US"/>
          </a:p>
        </p:txBody>
      </p:sp>
      <p:sp>
        <p:nvSpPr>
          <p:cNvPr id="5" name="Footer Placeholder 4">
            <a:extLst>
              <a:ext uri="{FF2B5EF4-FFF2-40B4-BE49-F238E27FC236}">
                <a16:creationId xmlns:a16="http://schemas.microsoft.com/office/drawing/2014/main" id="{45A44B4C-06CE-CF4C-A47F-BF28E6C2ED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0545F0-D43C-CF45-AF3B-584BA8FC7F85}"/>
              </a:ext>
            </a:extLst>
          </p:cNvPr>
          <p:cNvSpPr>
            <a:spLocks noGrp="1"/>
          </p:cNvSpPr>
          <p:nvPr>
            <p:ph type="sldNum" sz="quarter" idx="12"/>
          </p:nvPr>
        </p:nvSpPr>
        <p:spPr/>
        <p:txBody>
          <a:bodyPr/>
          <a:lstStyle/>
          <a:p>
            <a:fld id="{B5652E90-7BDD-0C45-8611-49DB81E3DAC2}" type="slidenum">
              <a:rPr lang="en-US" smtClean="0"/>
              <a:t>‹#›</a:t>
            </a:fld>
            <a:endParaRPr lang="en-US"/>
          </a:p>
        </p:txBody>
      </p:sp>
    </p:spTree>
    <p:extLst>
      <p:ext uri="{BB962C8B-B14F-4D97-AF65-F5344CB8AC3E}">
        <p14:creationId xmlns:p14="http://schemas.microsoft.com/office/powerpoint/2010/main" val="3267209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2FB337-8956-7A45-AF71-2B8F95DD3C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BD007B-6C71-1B46-A160-07D8E7EF2DD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48E304-7C31-0D42-8F10-C4019156D10B}"/>
              </a:ext>
            </a:extLst>
          </p:cNvPr>
          <p:cNvSpPr>
            <a:spLocks noGrp="1"/>
          </p:cNvSpPr>
          <p:nvPr>
            <p:ph type="dt" sz="half" idx="10"/>
          </p:nvPr>
        </p:nvSpPr>
        <p:spPr/>
        <p:txBody>
          <a:bodyPr/>
          <a:lstStyle/>
          <a:p>
            <a:fld id="{703984F1-7A0B-8346-B405-3CC38E362E9F}" type="datetimeFigureOut">
              <a:rPr lang="en-US" smtClean="0"/>
              <a:t>11/11/22</a:t>
            </a:fld>
            <a:endParaRPr lang="en-US"/>
          </a:p>
        </p:txBody>
      </p:sp>
      <p:sp>
        <p:nvSpPr>
          <p:cNvPr id="5" name="Footer Placeholder 4">
            <a:extLst>
              <a:ext uri="{FF2B5EF4-FFF2-40B4-BE49-F238E27FC236}">
                <a16:creationId xmlns:a16="http://schemas.microsoft.com/office/drawing/2014/main" id="{1AE9BD95-2A27-D24D-A38D-02E510368B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C57B55-A362-8E44-818B-1CDDBBFA1059}"/>
              </a:ext>
            </a:extLst>
          </p:cNvPr>
          <p:cNvSpPr>
            <a:spLocks noGrp="1"/>
          </p:cNvSpPr>
          <p:nvPr>
            <p:ph type="sldNum" sz="quarter" idx="12"/>
          </p:nvPr>
        </p:nvSpPr>
        <p:spPr/>
        <p:txBody>
          <a:bodyPr/>
          <a:lstStyle/>
          <a:p>
            <a:fld id="{B5652E90-7BDD-0C45-8611-49DB81E3DAC2}" type="slidenum">
              <a:rPr lang="en-US" smtClean="0"/>
              <a:t>‹#›</a:t>
            </a:fld>
            <a:endParaRPr lang="en-US"/>
          </a:p>
        </p:txBody>
      </p:sp>
    </p:spTree>
    <p:extLst>
      <p:ext uri="{BB962C8B-B14F-4D97-AF65-F5344CB8AC3E}">
        <p14:creationId xmlns:p14="http://schemas.microsoft.com/office/powerpoint/2010/main" val="1658413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8DCED1-2E79-5B46-B0AC-1B935BCCFD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411DD4-D678-1948-9224-4346DD6750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021BDE-A7A8-A141-94A3-599B33181C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3984F1-7A0B-8346-B405-3CC38E362E9F}" type="datetimeFigureOut">
              <a:rPr lang="en-US" smtClean="0"/>
              <a:t>11/11/22</a:t>
            </a:fld>
            <a:endParaRPr lang="en-US"/>
          </a:p>
        </p:txBody>
      </p:sp>
      <p:sp>
        <p:nvSpPr>
          <p:cNvPr id="5" name="Footer Placeholder 4">
            <a:extLst>
              <a:ext uri="{FF2B5EF4-FFF2-40B4-BE49-F238E27FC236}">
                <a16:creationId xmlns:a16="http://schemas.microsoft.com/office/drawing/2014/main" id="{0B8F4DBC-B0B2-E84F-B1F9-130B17BA2D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759F4D-7DB8-634C-8B7B-7036D78DC4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652E90-7BDD-0C45-8611-49DB81E3DAC2}" type="slidenum">
              <a:rPr lang="en-US" smtClean="0"/>
              <a:t>‹#›</a:t>
            </a:fld>
            <a:endParaRPr lang="en-US"/>
          </a:p>
        </p:txBody>
      </p:sp>
    </p:spTree>
    <p:extLst>
      <p:ext uri="{BB962C8B-B14F-4D97-AF65-F5344CB8AC3E}">
        <p14:creationId xmlns:p14="http://schemas.microsoft.com/office/powerpoint/2010/main" val="36847092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94760-BBEA-2D4A-BA7D-850FD1A55DE0}"/>
              </a:ext>
            </a:extLst>
          </p:cNvPr>
          <p:cNvSpPr>
            <a:spLocks noGrp="1"/>
          </p:cNvSpPr>
          <p:nvPr>
            <p:ph type="title"/>
          </p:nvPr>
        </p:nvSpPr>
        <p:spPr>
          <a:xfrm>
            <a:off x="838200" y="365125"/>
            <a:ext cx="10515600" cy="828055"/>
          </a:xfrm>
        </p:spPr>
        <p:txBody>
          <a:bodyPr>
            <a:normAutofit/>
          </a:bodyPr>
          <a:lstStyle/>
          <a:p>
            <a:pPr algn="ctr"/>
            <a:r>
              <a:rPr lang="en-US" sz="3200" b="1" dirty="0"/>
              <a:t>Chapter 6: Seasonality</a:t>
            </a:r>
          </a:p>
        </p:txBody>
      </p:sp>
      <p:sp>
        <p:nvSpPr>
          <p:cNvPr id="3" name="Content Placeholder 2">
            <a:extLst>
              <a:ext uri="{FF2B5EF4-FFF2-40B4-BE49-F238E27FC236}">
                <a16:creationId xmlns:a16="http://schemas.microsoft.com/office/drawing/2014/main" id="{17C8561E-38B2-2F44-B1A8-536E6B7EE39E}"/>
              </a:ext>
            </a:extLst>
          </p:cNvPr>
          <p:cNvSpPr>
            <a:spLocks noGrp="1"/>
          </p:cNvSpPr>
          <p:nvPr>
            <p:ph idx="1"/>
          </p:nvPr>
        </p:nvSpPr>
        <p:spPr>
          <a:xfrm>
            <a:off x="838200" y="1193180"/>
            <a:ext cx="10515600" cy="4983783"/>
          </a:xfrm>
        </p:spPr>
        <p:txBody>
          <a:bodyPr>
            <a:normAutofit lnSpcReduction="10000"/>
          </a:bodyPr>
          <a:lstStyle/>
          <a:p>
            <a:r>
              <a:rPr lang="en-US" sz="2000" dirty="0"/>
              <a:t>Many economic variable exhibit some form of cyclicality: “seasonality”, like flower sales, Christmas sales (impact of retail trade), airplane ticket sales. Seasonality has an impact on the series total variance. If you goal is to forecast, seasonality should be taken into account. </a:t>
            </a:r>
          </a:p>
          <a:p>
            <a:endParaRPr lang="en-US" sz="2000" dirty="0"/>
          </a:p>
          <a:p>
            <a:r>
              <a:rPr lang="en-US" sz="2000" dirty="0"/>
              <a:t>The dependence on the past tends to occur most strongly at multiples of some seasonal lag (s) when there is evidence of seasonal fluctuations. </a:t>
            </a:r>
          </a:p>
          <a:p>
            <a:pPr marL="0" indent="0">
              <a:buNone/>
            </a:pPr>
            <a:endParaRPr lang="en-US" sz="2000" dirty="0"/>
          </a:p>
          <a:p>
            <a:r>
              <a:rPr lang="en-US" sz="2000" dirty="0"/>
              <a:t>Ignoring seasonality is a misspecification of the model problem.</a:t>
            </a:r>
          </a:p>
          <a:p>
            <a:endParaRPr lang="en-US" sz="2000" dirty="0"/>
          </a:p>
          <a:p>
            <a:r>
              <a:rPr lang="en-US" sz="2000" dirty="0"/>
              <a:t>Seasonality can have different lengths: weekly, monthly, quarterly frequency. </a:t>
            </a:r>
          </a:p>
          <a:p>
            <a:endParaRPr lang="en-US" sz="2000" dirty="0"/>
          </a:p>
          <a:p>
            <a:r>
              <a:rPr lang="en-US" sz="2000" dirty="0"/>
              <a:t>The ACF and PACFs can help us to determine the periodicity in the series. The correlation between some specific quarters or months will be shown in the correlogram. We can see from the ACF of Male Unemployment (on first difference) that 36</a:t>
            </a:r>
            <a:r>
              <a:rPr lang="en-US" sz="2000" baseline="30000" dirty="0"/>
              <a:t>th</a:t>
            </a:r>
            <a:r>
              <a:rPr lang="en-US" sz="2000" dirty="0"/>
              <a:t> month is correlated with the 24</a:t>
            </a:r>
            <a:r>
              <a:rPr lang="en-US" sz="2000" baseline="30000" dirty="0"/>
              <a:t>th</a:t>
            </a:r>
            <a:r>
              <a:rPr lang="en-US" sz="2000" dirty="0"/>
              <a:t> month, that is correlated with the 12</a:t>
            </a:r>
            <a:r>
              <a:rPr lang="en-US" sz="2000" baseline="30000" dirty="0"/>
              <a:t>th</a:t>
            </a:r>
            <a:r>
              <a:rPr lang="en-US" sz="2000" dirty="0"/>
              <a:t> month.</a:t>
            </a:r>
          </a:p>
          <a:p>
            <a:pPr marL="0" indent="0">
              <a:buNone/>
            </a:pPr>
            <a:endParaRPr lang="en-US" dirty="0"/>
          </a:p>
          <a:p>
            <a:endParaRPr lang="en-US" dirty="0"/>
          </a:p>
        </p:txBody>
      </p:sp>
    </p:spTree>
    <p:extLst>
      <p:ext uri="{BB962C8B-B14F-4D97-AF65-F5344CB8AC3E}">
        <p14:creationId xmlns:p14="http://schemas.microsoft.com/office/powerpoint/2010/main" val="2354940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FF58C2-46B3-EA44-BD56-9105272DCF93}"/>
              </a:ext>
            </a:extLst>
          </p:cNvPr>
          <p:cNvPicPr>
            <a:picLocks noChangeAspect="1"/>
          </p:cNvPicPr>
          <p:nvPr/>
        </p:nvPicPr>
        <p:blipFill>
          <a:blip r:embed="rId2"/>
          <a:stretch>
            <a:fillRect/>
          </a:stretch>
        </p:blipFill>
        <p:spPr>
          <a:xfrm>
            <a:off x="1380492" y="0"/>
            <a:ext cx="9431016" cy="6858000"/>
          </a:xfrm>
          <a:prstGeom prst="rect">
            <a:avLst/>
          </a:prstGeom>
        </p:spPr>
      </p:pic>
    </p:spTree>
    <p:extLst>
      <p:ext uri="{BB962C8B-B14F-4D97-AF65-F5344CB8AC3E}">
        <p14:creationId xmlns:p14="http://schemas.microsoft.com/office/powerpoint/2010/main" val="3602297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66A0E2-E8AD-284C-A801-D7FD1DABAD7B}"/>
              </a:ext>
            </a:extLst>
          </p:cNvPr>
          <p:cNvPicPr>
            <a:picLocks noChangeAspect="1"/>
          </p:cNvPicPr>
          <p:nvPr/>
        </p:nvPicPr>
        <p:blipFill>
          <a:blip r:embed="rId2"/>
          <a:stretch>
            <a:fillRect/>
          </a:stretch>
        </p:blipFill>
        <p:spPr>
          <a:xfrm>
            <a:off x="1380492" y="0"/>
            <a:ext cx="9431016" cy="6858000"/>
          </a:xfrm>
          <a:prstGeom prst="rect">
            <a:avLst/>
          </a:prstGeom>
        </p:spPr>
      </p:pic>
    </p:spTree>
    <p:extLst>
      <p:ext uri="{BB962C8B-B14F-4D97-AF65-F5344CB8AC3E}">
        <p14:creationId xmlns:p14="http://schemas.microsoft.com/office/powerpoint/2010/main" val="374355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CEF3265-4D0E-9B4A-AE9C-35CC43E52A0F}"/>
              </a:ext>
            </a:extLst>
          </p:cNvPr>
          <p:cNvPicPr>
            <a:picLocks noChangeAspect="1"/>
          </p:cNvPicPr>
          <p:nvPr/>
        </p:nvPicPr>
        <p:blipFill>
          <a:blip r:embed="rId2"/>
          <a:stretch>
            <a:fillRect/>
          </a:stretch>
        </p:blipFill>
        <p:spPr>
          <a:xfrm>
            <a:off x="1380492" y="0"/>
            <a:ext cx="9431016" cy="6858000"/>
          </a:xfrm>
          <a:prstGeom prst="rect">
            <a:avLst/>
          </a:prstGeom>
        </p:spPr>
      </p:pic>
    </p:spTree>
    <p:extLst>
      <p:ext uri="{BB962C8B-B14F-4D97-AF65-F5344CB8AC3E}">
        <p14:creationId xmlns:p14="http://schemas.microsoft.com/office/powerpoint/2010/main" val="4039811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459C81-F7E5-4A4E-B735-5532C94249D0}"/>
              </a:ext>
            </a:extLst>
          </p:cNvPr>
          <p:cNvPicPr>
            <a:picLocks noChangeAspect="1"/>
          </p:cNvPicPr>
          <p:nvPr/>
        </p:nvPicPr>
        <p:blipFill>
          <a:blip r:embed="rId2"/>
          <a:stretch>
            <a:fillRect/>
          </a:stretch>
        </p:blipFill>
        <p:spPr>
          <a:xfrm>
            <a:off x="1380492" y="0"/>
            <a:ext cx="9431016" cy="6858000"/>
          </a:xfrm>
          <a:prstGeom prst="rect">
            <a:avLst/>
          </a:prstGeom>
        </p:spPr>
      </p:pic>
    </p:spTree>
    <p:extLst>
      <p:ext uri="{BB962C8B-B14F-4D97-AF65-F5344CB8AC3E}">
        <p14:creationId xmlns:p14="http://schemas.microsoft.com/office/powerpoint/2010/main" val="2578260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2B7C593-6AC5-9146-9B47-92AA87444AC6}"/>
              </a:ext>
            </a:extLst>
          </p:cNvPr>
          <p:cNvPicPr>
            <a:picLocks noChangeAspect="1"/>
          </p:cNvPicPr>
          <p:nvPr/>
        </p:nvPicPr>
        <p:blipFill>
          <a:blip r:embed="rId2"/>
          <a:stretch>
            <a:fillRect/>
          </a:stretch>
        </p:blipFill>
        <p:spPr>
          <a:xfrm>
            <a:off x="1380492" y="0"/>
            <a:ext cx="9431016" cy="6858000"/>
          </a:xfrm>
          <a:prstGeom prst="rect">
            <a:avLst/>
          </a:prstGeom>
        </p:spPr>
      </p:pic>
    </p:spTree>
    <p:extLst>
      <p:ext uri="{BB962C8B-B14F-4D97-AF65-F5344CB8AC3E}">
        <p14:creationId xmlns:p14="http://schemas.microsoft.com/office/powerpoint/2010/main" val="2033680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94760-BBEA-2D4A-BA7D-850FD1A55DE0}"/>
              </a:ext>
            </a:extLst>
          </p:cNvPr>
          <p:cNvSpPr>
            <a:spLocks noGrp="1"/>
          </p:cNvSpPr>
          <p:nvPr>
            <p:ph type="title"/>
          </p:nvPr>
        </p:nvSpPr>
        <p:spPr>
          <a:xfrm>
            <a:off x="838200" y="365125"/>
            <a:ext cx="10515600" cy="694241"/>
          </a:xfrm>
        </p:spPr>
        <p:txBody>
          <a:bodyPr>
            <a:normAutofit/>
          </a:bodyPr>
          <a:lstStyle/>
          <a:p>
            <a:pPr algn="ctr"/>
            <a:r>
              <a:rPr lang="en-US" sz="3200" dirty="0"/>
              <a:t>Type of Seasonality: Stochastic and Deterministic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C8561E-38B2-2F44-B1A8-536E6B7EE39E}"/>
                  </a:ext>
                </a:extLst>
              </p:cNvPr>
              <p:cNvSpPr>
                <a:spLocks noGrp="1"/>
              </p:cNvSpPr>
              <p:nvPr>
                <p:ph idx="1"/>
              </p:nvPr>
            </p:nvSpPr>
            <p:spPr>
              <a:xfrm>
                <a:off x="838200" y="1193180"/>
                <a:ext cx="10515600" cy="4983783"/>
              </a:xfrm>
            </p:spPr>
            <p:txBody>
              <a:bodyPr>
                <a:normAutofit fontScale="92500" lnSpcReduction="20000"/>
              </a:bodyPr>
              <a:lstStyle/>
              <a:p>
                <a:endParaRPr lang="en-US" sz="2000" dirty="0">
                  <a:solidFill>
                    <a:srgbClr val="FF0000"/>
                  </a:solidFill>
                </a:endParaRPr>
              </a:p>
              <a:p>
                <a:r>
                  <a:rPr lang="en-US" sz="2000" dirty="0">
                    <a:solidFill>
                      <a:srgbClr val="FF0000"/>
                    </a:solidFill>
                  </a:rPr>
                  <a:t>Stochastic: </a:t>
                </a:r>
                <a:r>
                  <a:rPr lang="en-US" sz="2000" dirty="0"/>
                  <a:t>when the seasonality evolver over time: a random walk Christmas sales, for example. To remove the stochastic seasonality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oMath>
                </a14:m>
                <a:r>
                  <a:rPr lang="en-US" sz="2000" dirty="0"/>
                  <a:t> seasonal difference (it will remove seasonal unit roots):</a:t>
                </a:r>
              </a:p>
              <a:p>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−12</m:t>
                          </m:r>
                        </m:sub>
                      </m:sSub>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d>
                        <m:dPr>
                          <m:ctrlPr>
                            <a:rPr lang="en-US" sz="2000" i="1" smtClean="0">
                              <a:latin typeface="Cambria Math" panose="02040503050406030204" pitchFamily="18" charset="0"/>
                            </a:rPr>
                          </m:ctrlPr>
                        </m:dPr>
                        <m:e>
                          <m:r>
                            <a:rPr lang="en-US" sz="2000" b="0" i="1" smtClean="0">
                              <a:latin typeface="Cambria Math" panose="02040503050406030204" pitchFamily="18" charset="0"/>
                            </a:rPr>
                            <m:t>1−</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𝐿</m:t>
                              </m:r>
                            </m:e>
                            <m:sup>
                              <m:r>
                                <a:rPr lang="en-US" sz="2000" b="0" i="1" smtClean="0">
                                  <a:latin typeface="Cambria Math" panose="02040503050406030204" pitchFamily="18" charset="0"/>
                                </a:rPr>
                                <m:t>12</m:t>
                              </m:r>
                            </m:sup>
                          </m:sSup>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𝐷</m:t>
                          </m:r>
                        </m:e>
                        <m:sub>
                          <m:r>
                            <a:rPr lang="en-US" sz="2000" b="0" i="1" smtClean="0">
                              <a:latin typeface="Cambria Math" panose="02040503050406030204" pitchFamily="18" charset="0"/>
                            </a:rPr>
                            <m:t>12</m:t>
                          </m:r>
                        </m:sub>
                      </m:sSub>
                    </m:oMath>
                  </m:oMathPara>
                </a14:m>
                <a:endParaRPr lang="en-US" sz="2000" dirty="0"/>
              </a:p>
              <a:p>
                <a:pPr marL="0" indent="0">
                  <a:buNone/>
                </a:pPr>
                <a:endParaRPr lang="en-US" sz="2000" dirty="0"/>
              </a:p>
              <a:p>
                <a:pPr marL="0" indent="0">
                  <a:buNone/>
                </a:pPr>
                <a:r>
                  <a:rPr lang="en-US" sz="2000" dirty="0"/>
                  <a:t>How common are seasonal unit roots? VERY RARE!!! Should not take seasonal differences (more chances of misspecification of the model). </a:t>
                </a:r>
              </a:p>
              <a:p>
                <a:pPr marL="0" indent="0">
                  <a:buNone/>
                </a:pPr>
                <a:endParaRPr lang="en-US" sz="2000" dirty="0"/>
              </a:p>
              <a:p>
                <a:pPr marL="0" indent="0">
                  <a:buNone/>
                </a:pPr>
                <a:r>
                  <a:rPr lang="en-US" sz="2000" dirty="0"/>
                  <a:t>Many macroeconomic data are available in de-seasonalized form. </a:t>
                </a:r>
              </a:p>
              <a:p>
                <a:pPr marL="0" indent="0">
                  <a:buNone/>
                </a:pPr>
                <a:endParaRPr lang="en-US" sz="2000" dirty="0"/>
              </a:p>
              <a:p>
                <a:pPr marL="0" indent="0">
                  <a:buNone/>
                </a:pPr>
                <a:r>
                  <a:rPr lang="en-US" sz="2000" dirty="0" err="1"/>
                  <a:t>Ghysel</a:t>
                </a:r>
                <a:r>
                  <a:rPr lang="en-US" sz="2000" dirty="0"/>
                  <a:t> and Perron (1993): shows that using de-seasonalized data lowers the power of unit root tests.  Their results shows that the de-seasonalizing procedures used by statistical agencies introduce an upward bias on the estimates of the AR coefficient and their sum: the standard  UR tests are less able to reject the  null hypothesis of UR.  We should test for UR without de-seasonalize the time series. </a:t>
                </a:r>
              </a:p>
              <a:p>
                <a:pPr marL="0" indent="0">
                  <a:buNone/>
                </a:pPr>
                <a:endParaRPr lang="en-US" sz="2000" dirty="0"/>
              </a:p>
              <a:p>
                <a:pPr marL="0" indent="0">
                  <a:buNone/>
                </a:pPr>
                <a:r>
                  <a:rPr lang="en-US" sz="2000" dirty="0"/>
                  <a:t>	</a:t>
                </a:r>
                <a:endParaRPr lang="en-US" dirty="0"/>
              </a:p>
            </p:txBody>
          </p:sp>
        </mc:Choice>
        <mc:Fallback xmlns="">
          <p:sp>
            <p:nvSpPr>
              <p:cNvPr id="3" name="Content Placeholder 2">
                <a:extLst>
                  <a:ext uri="{FF2B5EF4-FFF2-40B4-BE49-F238E27FC236}">
                    <a16:creationId xmlns:a16="http://schemas.microsoft.com/office/drawing/2014/main" id="{17C8561E-38B2-2F44-B1A8-536E6B7EE39E}"/>
                  </a:ext>
                </a:extLst>
              </p:cNvPr>
              <p:cNvSpPr>
                <a:spLocks noGrp="1" noRot="1" noChangeAspect="1" noMove="1" noResize="1" noEditPoints="1" noAdjustHandles="1" noChangeArrowheads="1" noChangeShapeType="1" noTextEdit="1"/>
              </p:cNvSpPr>
              <p:nvPr>
                <p:ph idx="1"/>
              </p:nvPr>
            </p:nvSpPr>
            <p:spPr>
              <a:xfrm>
                <a:off x="838200" y="1193180"/>
                <a:ext cx="10515600" cy="4983783"/>
              </a:xfrm>
              <a:blipFill>
                <a:blip r:embed="rId2"/>
                <a:stretch>
                  <a:fillRect l="-483" r="-965"/>
                </a:stretch>
              </a:blipFill>
            </p:spPr>
            <p:txBody>
              <a:bodyPr/>
              <a:lstStyle/>
              <a:p>
                <a:r>
                  <a:rPr lang="en-US">
                    <a:noFill/>
                  </a:rPr>
                  <a:t> </a:t>
                </a:r>
              </a:p>
            </p:txBody>
          </p:sp>
        </mc:Fallback>
      </mc:AlternateContent>
    </p:spTree>
    <p:extLst>
      <p:ext uri="{BB962C8B-B14F-4D97-AF65-F5344CB8AC3E}">
        <p14:creationId xmlns:p14="http://schemas.microsoft.com/office/powerpoint/2010/main" val="2529743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8E036-5972-E045-88BB-646BA6ABBA89}"/>
              </a:ext>
            </a:extLst>
          </p:cNvPr>
          <p:cNvSpPr>
            <a:spLocks noGrp="1"/>
          </p:cNvSpPr>
          <p:nvPr>
            <p:ph type="title"/>
          </p:nvPr>
        </p:nvSpPr>
        <p:spPr>
          <a:xfrm>
            <a:off x="838200" y="365126"/>
            <a:ext cx="10515600" cy="883812"/>
          </a:xfrm>
        </p:spPr>
        <p:txBody>
          <a:bodyPr>
            <a:normAutofit/>
          </a:bodyPr>
          <a:lstStyle/>
          <a:p>
            <a:pPr algn="ctr"/>
            <a:r>
              <a:rPr lang="en-US" sz="3200" dirty="0"/>
              <a:t>Deterministic Seasonality</a:t>
            </a:r>
          </a:p>
        </p:txBody>
      </p:sp>
      <p:sp>
        <p:nvSpPr>
          <p:cNvPr id="3" name="Content Placeholder 2">
            <a:extLst>
              <a:ext uri="{FF2B5EF4-FFF2-40B4-BE49-F238E27FC236}">
                <a16:creationId xmlns:a16="http://schemas.microsoft.com/office/drawing/2014/main" id="{4BCE43A8-476E-4A48-96BB-CDE9EEEF997B}"/>
              </a:ext>
            </a:extLst>
          </p:cNvPr>
          <p:cNvSpPr>
            <a:spLocks noGrp="1"/>
          </p:cNvSpPr>
          <p:nvPr>
            <p:ph idx="1"/>
          </p:nvPr>
        </p:nvSpPr>
        <p:spPr/>
        <p:txBody>
          <a:bodyPr>
            <a:normAutofit/>
          </a:bodyPr>
          <a:lstStyle/>
          <a:p>
            <a:r>
              <a:rPr lang="en-US" sz="2200" dirty="0">
                <a:solidFill>
                  <a:srgbClr val="FF0000"/>
                </a:solidFill>
              </a:rPr>
              <a:t>Deterministic: </a:t>
            </a:r>
            <a:r>
              <a:rPr lang="en-US" sz="2200" dirty="0"/>
              <a:t>Deterministic seasonality occurs when the pattern (same amount or same percentage) is the same each year. It is bet captured by seasonal dummies. If the variable is in level, the dummies will capture level shifts; if the variable is in logarithm, then the dummies capture percentage changes.  </a:t>
            </a:r>
          </a:p>
          <a:p>
            <a:pPr marL="0" indent="0">
              <a:buNone/>
            </a:pPr>
            <a:endParaRPr lang="en-US" sz="2200" dirty="0"/>
          </a:p>
          <a:p>
            <a:pPr marL="0" indent="0">
              <a:buNone/>
            </a:pPr>
            <a:r>
              <a:rPr lang="en-US" sz="2000" dirty="0"/>
              <a:t>	</a:t>
            </a:r>
            <a:r>
              <a:rPr lang="en-US" sz="2000" b="1" dirty="0"/>
              <a:t>Deterministic seasonality is more than adequate to account for seasonality. </a:t>
            </a:r>
          </a:p>
          <a:p>
            <a:pPr marL="0" indent="0">
              <a:buNone/>
            </a:pPr>
            <a:endParaRPr lang="en-US" sz="2200" dirty="0">
              <a:solidFill>
                <a:srgbClr val="FF0000"/>
              </a:solidFill>
            </a:endParaRPr>
          </a:p>
          <a:p>
            <a:pPr marL="0" indent="0">
              <a:buNone/>
            </a:pPr>
            <a:r>
              <a:rPr lang="en-US" sz="2200" dirty="0">
                <a:solidFill>
                  <a:srgbClr val="FF0000"/>
                </a:solidFill>
              </a:rPr>
              <a:t>Example: </a:t>
            </a:r>
            <a:r>
              <a:rPr lang="en-US" sz="2200" dirty="0"/>
              <a:t>Christmas shopping show a spike of approximately 20% growth every winter. </a:t>
            </a:r>
            <a:endParaRPr lang="en-US" sz="2200" dirty="0">
              <a:solidFill>
                <a:srgbClr val="FF0000"/>
              </a:solidFill>
            </a:endParaRPr>
          </a:p>
          <a:p>
            <a:pPr marL="0" indent="0">
              <a:buNone/>
            </a:pPr>
            <a:endParaRPr lang="en-US" sz="2200" dirty="0"/>
          </a:p>
          <a:p>
            <a:r>
              <a:rPr lang="en-US" sz="2200" dirty="0">
                <a:solidFill>
                  <a:srgbClr val="FF0000"/>
                </a:solidFill>
              </a:rPr>
              <a:t>How to remove deterministic seasonality</a:t>
            </a:r>
            <a:r>
              <a:rPr lang="en-US" sz="2200" dirty="0"/>
              <a:t>: as we “detrend” a trend-stationary process, we “de-seasonalize” a process that shows seasonality, by including seasonal dummies.</a:t>
            </a:r>
          </a:p>
          <a:p>
            <a:endParaRPr lang="en-US" dirty="0"/>
          </a:p>
        </p:txBody>
      </p:sp>
    </p:spTree>
    <p:extLst>
      <p:ext uri="{BB962C8B-B14F-4D97-AF65-F5344CB8AC3E}">
        <p14:creationId xmlns:p14="http://schemas.microsoft.com/office/powerpoint/2010/main" val="2014444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A51D1-361B-A949-BA1D-26159BB8F484}"/>
              </a:ext>
            </a:extLst>
          </p:cNvPr>
          <p:cNvSpPr>
            <a:spLocks noGrp="1"/>
          </p:cNvSpPr>
          <p:nvPr>
            <p:ph type="title"/>
          </p:nvPr>
        </p:nvSpPr>
        <p:spPr>
          <a:xfrm>
            <a:off x="838200" y="365126"/>
            <a:ext cx="10515600" cy="1073382"/>
          </a:xfrm>
        </p:spPr>
        <p:txBody>
          <a:bodyPr>
            <a:normAutofit/>
          </a:bodyPr>
          <a:lstStyle/>
          <a:p>
            <a:pPr algn="ctr"/>
            <a:r>
              <a:rPr lang="en-US" sz="3200" b="1" dirty="0"/>
              <a:t>Modeling Seasonal Data: additive seasonality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A2D9C0-D355-E949-A654-871FCD909FA6}"/>
                  </a:ext>
                </a:extLst>
              </p:cNvPr>
              <p:cNvSpPr>
                <a:spLocks noGrp="1"/>
              </p:cNvSpPr>
              <p:nvPr>
                <p:ph idx="1"/>
              </p:nvPr>
            </p:nvSpPr>
            <p:spPr>
              <a:xfrm>
                <a:off x="838200" y="1438508"/>
                <a:ext cx="10515600" cy="4738455"/>
              </a:xfrm>
            </p:spPr>
            <p:txBody>
              <a:bodyPr>
                <a:normAutofit/>
              </a:bodyPr>
              <a:lstStyle/>
              <a:p>
                <a:pPr marL="0" indent="0">
                  <a:buNone/>
                </a:pPr>
                <a:r>
                  <a:rPr lang="en-US" sz="2000" dirty="0"/>
                  <a:t>Box-Jenkins also introduced a technique for modeling seasonal data. Seasonality can be additive or multiplicative. </a:t>
                </a:r>
              </a:p>
              <a:p>
                <a:endParaRPr lang="en-US" sz="2000" dirty="0"/>
              </a:p>
              <a:p>
                <a:r>
                  <a:rPr lang="en-US" sz="2000" dirty="0"/>
                  <a:t>Additive seasonality in the ARIMA model:</a:t>
                </a:r>
              </a:p>
              <a:p>
                <a:pPr marL="0" indent="0">
                  <a:buNone/>
                </a:pPr>
                <a:r>
                  <a:rPr lang="en-US" sz="2000" dirty="0"/>
                  <a:t>Just add an </a:t>
                </a:r>
                <a:r>
                  <a:rPr lang="en-US" sz="2000" b="1" dirty="0"/>
                  <a:t>AR term or MA term </a:t>
                </a:r>
                <a:r>
                  <a:rPr lang="en-US" sz="2000" dirty="0"/>
                  <a:t>at a seasonal frequency.</a:t>
                </a:r>
              </a:p>
              <a:p>
                <a:pPr marL="0" indent="0">
                  <a:buNone/>
                </a:pPr>
                <a:endParaRPr lang="en-US" sz="2000" dirty="0"/>
              </a:p>
              <a:p>
                <a:pPr marL="0" indent="0">
                  <a:buNone/>
                </a:pPr>
                <a:r>
                  <a:rPr lang="en-US" sz="2000" dirty="0">
                    <a:solidFill>
                      <a:srgbClr val="FF0000"/>
                    </a:solidFill>
                  </a:rPr>
                  <a:t>Example: </a:t>
                </a: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4</m:t>
                          </m:r>
                        </m:sub>
                      </m:sSub>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−4</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𝑒</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solidFill>
                    <a:srgbClr val="FF0000"/>
                  </a:solidFill>
                </a:endParaRPr>
              </a:p>
              <a:p>
                <a:pPr marL="0" indent="0">
                  <a:buNone/>
                </a:pPr>
                <a:r>
                  <a:rPr lang="en-US" sz="2000" dirty="0"/>
                  <a:t> </a:t>
                </a:r>
                <a:endParaRPr lang="en-US" sz="20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d>
                            <m:dPr>
                              <m:ctrlPr>
                                <a:rPr lang="en-US" sz="2000" i="1">
                                  <a:latin typeface="Cambria Math" panose="02040503050406030204" pitchFamily="18" charset="0"/>
                                </a:rPr>
                              </m:ctrlPr>
                            </m:dPr>
                            <m:e>
                              <m:r>
                                <a:rPr lang="en-US" sz="2000" i="1">
                                  <a:latin typeface="Cambria Math" panose="02040503050406030204" pitchFamily="18" charset="0"/>
                                </a:rPr>
                                <m:t>1−</m:t>
                              </m:r>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4</m:t>
                                  </m:r>
                                </m:sub>
                              </m:sSub>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𝐿</m:t>
                                  </m:r>
                                </m:e>
                                <m:sup>
                                  <m:r>
                                    <a:rPr lang="en-US" sz="2000" b="0" i="1" smtClean="0">
                                      <a:latin typeface="Cambria Math" panose="02040503050406030204" pitchFamily="18" charset="0"/>
                                    </a:rPr>
                                    <m:t>4</m:t>
                                  </m:r>
                                </m:sup>
                              </m:sSup>
                            </m:e>
                          </m:d>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𝑒</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a:p>
                <a:pPr marL="0" indent="0">
                  <a:buNone/>
                </a:pPr>
                <a:endParaRPr lang="en-US" sz="2000" dirty="0"/>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67A2D9C0-D355-E949-A654-871FCD909FA6}"/>
                  </a:ext>
                </a:extLst>
              </p:cNvPr>
              <p:cNvSpPr>
                <a:spLocks noGrp="1" noRot="1" noChangeAspect="1" noMove="1" noResize="1" noEditPoints="1" noAdjustHandles="1" noChangeArrowheads="1" noChangeShapeType="1" noTextEdit="1"/>
              </p:cNvSpPr>
              <p:nvPr>
                <p:ph idx="1"/>
              </p:nvPr>
            </p:nvSpPr>
            <p:spPr>
              <a:xfrm>
                <a:off x="838200" y="1438508"/>
                <a:ext cx="10515600" cy="4738455"/>
              </a:xfrm>
              <a:blipFill>
                <a:blip r:embed="rId2"/>
                <a:stretch>
                  <a:fillRect l="-603" t="-1337"/>
                </a:stretch>
              </a:blipFill>
            </p:spPr>
            <p:txBody>
              <a:bodyPr/>
              <a:lstStyle/>
              <a:p>
                <a:r>
                  <a:rPr lang="en-US">
                    <a:noFill/>
                  </a:rPr>
                  <a:t> </a:t>
                </a:r>
              </a:p>
            </p:txBody>
          </p:sp>
        </mc:Fallback>
      </mc:AlternateContent>
    </p:spTree>
    <p:extLst>
      <p:ext uri="{BB962C8B-B14F-4D97-AF65-F5344CB8AC3E}">
        <p14:creationId xmlns:p14="http://schemas.microsoft.com/office/powerpoint/2010/main" val="3160690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A51D1-361B-A949-BA1D-26159BB8F484}"/>
              </a:ext>
            </a:extLst>
          </p:cNvPr>
          <p:cNvSpPr>
            <a:spLocks noGrp="1"/>
          </p:cNvSpPr>
          <p:nvPr>
            <p:ph type="title"/>
          </p:nvPr>
        </p:nvSpPr>
        <p:spPr>
          <a:xfrm>
            <a:off x="838200" y="365126"/>
            <a:ext cx="10515600" cy="1073382"/>
          </a:xfrm>
        </p:spPr>
        <p:txBody>
          <a:bodyPr>
            <a:normAutofit/>
          </a:bodyPr>
          <a:lstStyle/>
          <a:p>
            <a:pPr algn="ctr"/>
            <a:r>
              <a:rPr lang="en-US" sz="3200" b="1" dirty="0"/>
              <a:t>Modeling Seasonal Data: SARIMA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7A2D9C0-D355-E949-A654-871FCD909FA6}"/>
                  </a:ext>
                </a:extLst>
              </p:cNvPr>
              <p:cNvSpPr>
                <a:spLocks noGrp="1"/>
              </p:cNvSpPr>
              <p:nvPr>
                <p:ph idx="1"/>
              </p:nvPr>
            </p:nvSpPr>
            <p:spPr>
              <a:xfrm>
                <a:off x="838200" y="1438508"/>
                <a:ext cx="10515600" cy="5330282"/>
              </a:xfrm>
            </p:spPr>
            <p:txBody>
              <a:bodyPr>
                <a:normAutofit lnSpcReduction="10000"/>
              </a:bodyPr>
              <a:lstStyle/>
              <a:p>
                <a:pPr marL="0" indent="0">
                  <a:buNone/>
                </a:pPr>
                <a:r>
                  <a:rPr lang="en-US" sz="2000" dirty="0">
                    <a:solidFill>
                      <a:srgbClr val="FF0000"/>
                    </a:solidFill>
                  </a:rPr>
                  <a:t>Multiplicative Seasonality</a:t>
                </a:r>
                <a:r>
                  <a:rPr lang="en-US" sz="2000" dirty="0"/>
                  <a:t>: December sales are not always independent on previous months sales (see lag t-5 below in our example). The additive model would not have capture this correlation.</a:t>
                </a:r>
                <a:r>
                  <a:rPr lang="en-US" sz="2000" b="1" dirty="0"/>
                  <a:t> Multiplicative seasonality allows for the interaction of the ARIMA and seasonal components of the series </a:t>
                </a:r>
                <a:r>
                  <a:rPr lang="en-US" sz="2000" dirty="0"/>
                  <a:t>and captures the complexity of the process (non-independence) with few parameters to be estimated (parsimonious model).  </a:t>
                </a:r>
              </a:p>
              <a:p>
                <a:pPr marL="0" indent="0">
                  <a:buNone/>
                </a:pPr>
                <a:r>
                  <a:rPr lang="en-US" sz="2000" dirty="0">
                    <a:solidFill>
                      <a:srgbClr val="FF0000"/>
                    </a:solidFill>
                  </a:rPr>
                  <a:t>Example</a:t>
                </a:r>
                <a:r>
                  <a:rPr lang="en-US" sz="2000" dirty="0"/>
                  <a:t>: SARIMA </a:t>
                </a:r>
                <a14:m>
                  <m:oMath xmlns:m="http://schemas.openxmlformats.org/officeDocument/2006/math">
                    <m:d>
                      <m:dPr>
                        <m:ctrlPr>
                          <a:rPr lang="en-US" sz="2000" i="1" smtClean="0">
                            <a:latin typeface="Cambria Math" panose="02040503050406030204" pitchFamily="18" charset="0"/>
                          </a:rPr>
                        </m:ctrlPr>
                      </m:dPr>
                      <m:e>
                        <m:r>
                          <a:rPr lang="en-US" sz="2000" b="0" i="1" smtClean="0">
                            <a:latin typeface="Cambria Math" panose="02040503050406030204" pitchFamily="18" charset="0"/>
                          </a:rPr>
                          <m:t>1,0,1</m:t>
                        </m:r>
                      </m:e>
                    </m:d>
                    <m:r>
                      <a:rPr lang="en-US" sz="2000" i="1" smtClean="0">
                        <a:latin typeface="Cambria Math" panose="02040503050406030204" pitchFamily="18" charset="0"/>
                        <a:ea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d>
                          <m:dPr>
                            <m:ctrlPr>
                              <a:rPr lang="en-US" sz="200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1,0,0</m:t>
                            </m:r>
                          </m:e>
                        </m:d>
                      </m:e>
                      <m:sub>
                        <m:r>
                          <a:rPr lang="en-US" sz="2000" b="0" i="1" smtClean="0">
                            <a:latin typeface="Cambria Math" panose="02040503050406030204" pitchFamily="18" charset="0"/>
                            <a:ea typeface="Cambria Math" panose="02040503050406030204" pitchFamily="18" charset="0"/>
                          </a:rPr>
                          <m:t>4</m:t>
                        </m:r>
                      </m:sub>
                    </m:sSub>
                  </m:oMath>
                </a14:m>
                <a:endParaRPr lang="en-US" sz="2000" dirty="0"/>
              </a:p>
              <a:p>
                <a:pPr marL="0" indent="0">
                  <a:buNone/>
                </a:pPr>
                <a:endParaRPr lang="en-US" sz="20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ctrlPr>
                            <a:rPr lang="en-US" sz="2000" i="1">
                              <a:latin typeface="Cambria Math" panose="02040503050406030204" pitchFamily="18" charset="0"/>
                            </a:rPr>
                          </m:ctrlPr>
                        </m:dPr>
                        <m:e>
                          <m:r>
                            <a:rPr lang="en-US" sz="2000" i="1">
                              <a:latin typeface="Cambria Math" panose="02040503050406030204" pitchFamily="18" charset="0"/>
                            </a:rPr>
                            <m:t>1−</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4</m:t>
                              </m:r>
                            </m:sub>
                          </m:sSub>
                          <m:sSup>
                            <m:sSupPr>
                              <m:ctrlPr>
                                <a:rPr lang="en-US" sz="2000" i="1">
                                  <a:latin typeface="Cambria Math" panose="02040503050406030204" pitchFamily="18" charset="0"/>
                                </a:rPr>
                              </m:ctrlPr>
                            </m:sSupPr>
                            <m:e>
                              <m:r>
                                <a:rPr lang="en-US" sz="2000" i="1">
                                  <a:latin typeface="Cambria Math" panose="02040503050406030204" pitchFamily="18" charset="0"/>
                                </a:rPr>
                                <m:t>𝐿</m:t>
                              </m:r>
                            </m:e>
                            <m:sup>
                              <m:r>
                                <a:rPr lang="en-US" sz="2000" i="1">
                                  <a:latin typeface="Cambria Math" panose="02040503050406030204" pitchFamily="18" charset="0"/>
                                </a:rPr>
                                <m:t>4</m:t>
                              </m:r>
                            </m:sup>
                          </m:sSup>
                        </m:e>
                      </m:d>
                      <m:r>
                        <a:rPr lang="en-US" sz="2000" b="0" i="1" smtClean="0">
                          <a:latin typeface="Cambria Math" panose="02040503050406030204" pitchFamily="18" charset="0"/>
                        </a:rPr>
                        <m:t>=</m:t>
                      </m:r>
                      <m:r>
                        <m:rPr>
                          <m:sty m:val="p"/>
                        </m:rPr>
                        <a:rPr lang="el-GR" sz="2000" b="0" i="1" smtClean="0">
                          <a:latin typeface="Cambria Math" panose="02040503050406030204" pitchFamily="18" charset="0"/>
                          <a:ea typeface="Cambria Math" panose="02040503050406030204" pitchFamily="18" charset="0"/>
                        </a:rPr>
                        <m:t>Φ</m:t>
                      </m:r>
                      <m:d>
                        <m:dPr>
                          <m:ctrlPr>
                            <a:rPr lang="el-GR" sz="2000" b="0" i="1" smtClean="0">
                              <a:latin typeface="Cambria Math" panose="02040503050406030204" pitchFamily="18" charset="0"/>
                              <a:ea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𝐿</m:t>
                              </m:r>
                            </m:e>
                            <m:sup>
                              <m:r>
                                <a:rPr lang="en-US" sz="2000" i="1">
                                  <a:latin typeface="Cambria Math" panose="02040503050406030204" pitchFamily="18" charset="0"/>
                                </a:rPr>
                                <m:t>4</m:t>
                              </m:r>
                            </m:sup>
                          </m:sSup>
                        </m:e>
                      </m:d>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d>
                        <m:dPr>
                          <m:ctrlPr>
                            <a:rPr lang="en-US" sz="2000" i="1">
                              <a:latin typeface="Cambria Math" panose="02040503050406030204" pitchFamily="18" charset="0"/>
                            </a:rPr>
                          </m:ctrlPr>
                        </m:dPr>
                        <m:e>
                          <m:r>
                            <a:rPr lang="en-US" sz="2000" i="1">
                              <a:latin typeface="Cambria Math" panose="02040503050406030204" pitchFamily="18" charset="0"/>
                            </a:rPr>
                            <m:t>1−</m:t>
                          </m:r>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𝐿</m:t>
                          </m:r>
                        </m:e>
                      </m:d>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𝜙</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𝐿</m:t>
                          </m:r>
                        </m:e>
                      </m:d>
                    </m:oMath>
                  </m:oMathPara>
                </a14:m>
                <a:endParaRPr lang="en-US" sz="2000" dirty="0"/>
              </a:p>
              <a:p>
                <a:pPr marL="0" indent="0">
                  <a:buNone/>
                </a:pPr>
                <a:r>
                  <a:rPr lang="en-US" sz="2000" dirty="0"/>
                  <a:t> Our multiplicative model (SARIMA) becomes (we multiply the polynomials)</a:t>
                </a:r>
              </a:p>
              <a:p>
                <a:pPr marL="0" indent="0">
                  <a:buNone/>
                </a:pPr>
                <a:endParaRPr lang="en-US" sz="20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ea typeface="Cambria Math" panose="02040503050406030204" pitchFamily="18" charset="0"/>
                        </a:rPr>
                        <m:t>𝜙</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𝐿</m:t>
                          </m:r>
                        </m:e>
                      </m:d>
                      <m:r>
                        <m:rPr>
                          <m:sty m:val="p"/>
                        </m:rPr>
                        <a:rPr lang="el-GR" sz="2000" i="1">
                          <a:latin typeface="Cambria Math" panose="02040503050406030204" pitchFamily="18" charset="0"/>
                          <a:ea typeface="Cambria Math" panose="02040503050406030204" pitchFamily="18" charset="0"/>
                        </a:rPr>
                        <m:t>Φ</m:t>
                      </m:r>
                      <m:d>
                        <m:dPr>
                          <m:ctrlPr>
                            <a:rPr lang="el-GR" sz="2000" i="1">
                              <a:latin typeface="Cambria Math" panose="02040503050406030204" pitchFamily="18" charset="0"/>
                              <a:ea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𝐿</m:t>
                              </m:r>
                            </m:e>
                            <m:sup>
                              <m:r>
                                <a:rPr lang="en-US" sz="2000" i="1">
                                  <a:latin typeface="Cambria Math" panose="02040503050406030204" pitchFamily="18" charset="0"/>
                                </a:rPr>
                                <m:t>4</m:t>
                              </m:r>
                            </m:sup>
                          </m:sSup>
                        </m:e>
                      </m:d>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𝑒</m:t>
                          </m:r>
                        </m:e>
                        <m:sub>
                          <m:r>
                            <a:rPr lang="en-US" sz="2000" i="1">
                              <a:latin typeface="Cambria Math" panose="02040503050406030204" pitchFamily="18" charset="0"/>
                              <a:ea typeface="Cambria Math" panose="02040503050406030204" pitchFamily="18" charset="0"/>
                            </a:rPr>
                            <m:t>𝑡</m:t>
                          </m:r>
                        </m:sub>
                      </m:sSub>
                    </m:oMath>
                  </m:oMathPara>
                </a14:m>
                <a:endParaRPr lang="en-US" sz="2000" i="1" dirty="0">
                  <a:latin typeface="Cambria Math" panose="02040503050406030204" pitchFamily="18" charset="0"/>
                </a:endParaRPr>
              </a:p>
              <a:p>
                <a:pPr marL="0" indent="0">
                  <a:buNone/>
                </a:pPr>
                <a:endParaRPr lang="en-US" sz="20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d>
                        <m:dPr>
                          <m:ctrlPr>
                            <a:rPr lang="en-US" sz="2000" i="1">
                              <a:latin typeface="Cambria Math" panose="02040503050406030204" pitchFamily="18" charset="0"/>
                            </a:rPr>
                          </m:ctrlPr>
                        </m:dPr>
                        <m:e>
                          <m:r>
                            <a:rPr lang="en-US" sz="2000" i="1">
                              <a:latin typeface="Cambria Math" panose="02040503050406030204" pitchFamily="18" charset="0"/>
                            </a:rPr>
                            <m:t>1−</m:t>
                          </m:r>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1</m:t>
                              </m:r>
                            </m:sub>
                          </m:sSub>
                          <m:r>
                            <a:rPr lang="en-US" sz="2000" i="1">
                              <a:latin typeface="Cambria Math" panose="02040503050406030204" pitchFamily="18" charset="0"/>
                            </a:rPr>
                            <m:t>𝐿</m:t>
                          </m:r>
                        </m:e>
                      </m:d>
                      <m:d>
                        <m:dPr>
                          <m:ctrlPr>
                            <a:rPr lang="en-US" sz="2000" i="1">
                              <a:latin typeface="Cambria Math" panose="02040503050406030204" pitchFamily="18" charset="0"/>
                            </a:rPr>
                          </m:ctrlPr>
                        </m:dPr>
                        <m:e>
                          <m:r>
                            <a:rPr lang="en-US" sz="2000" i="1">
                              <a:latin typeface="Cambria Math" panose="02040503050406030204" pitchFamily="18" charset="0"/>
                            </a:rPr>
                            <m:t>1−</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4</m:t>
                              </m:r>
                            </m:sub>
                          </m:sSub>
                          <m:sSup>
                            <m:sSupPr>
                              <m:ctrlPr>
                                <a:rPr lang="en-US" sz="2000" i="1">
                                  <a:latin typeface="Cambria Math" panose="02040503050406030204" pitchFamily="18" charset="0"/>
                                </a:rPr>
                              </m:ctrlPr>
                            </m:sSupPr>
                            <m:e>
                              <m:r>
                                <a:rPr lang="en-US" sz="2000" i="1">
                                  <a:latin typeface="Cambria Math" panose="02040503050406030204" pitchFamily="18" charset="0"/>
                                </a:rPr>
                                <m:t>𝐿</m:t>
                              </m:r>
                            </m:e>
                            <m:sup>
                              <m:r>
                                <a:rPr lang="en-US" sz="2000" i="1">
                                  <a:latin typeface="Cambria Math" panose="02040503050406030204" pitchFamily="18" charset="0"/>
                                </a:rPr>
                                <m:t>4</m:t>
                              </m:r>
                            </m:sup>
                          </m:sSup>
                        </m:e>
                      </m:d>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𝑒</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4</m:t>
                          </m:r>
                        </m:sub>
                      </m:sSub>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−4</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4</m:t>
                          </m:r>
                        </m:sub>
                      </m:sSub>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𝑡</m:t>
                          </m:r>
                          <m:r>
                            <a:rPr lang="en-US" sz="2000" b="0" i="1" smtClean="0">
                              <a:latin typeface="Cambria Math" panose="02040503050406030204" pitchFamily="18" charset="0"/>
                            </a:rPr>
                            <m:t>−5</m:t>
                          </m:r>
                        </m:sub>
                      </m:sSub>
                      <m:r>
                        <a:rPr lang="en-US" sz="2000" b="0" i="1" smtClean="0">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𝑒</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67A2D9C0-D355-E949-A654-871FCD909FA6}"/>
                  </a:ext>
                </a:extLst>
              </p:cNvPr>
              <p:cNvSpPr>
                <a:spLocks noGrp="1" noRot="1" noChangeAspect="1" noMove="1" noResize="1" noEditPoints="1" noAdjustHandles="1" noChangeArrowheads="1" noChangeShapeType="1" noTextEdit="1"/>
              </p:cNvSpPr>
              <p:nvPr>
                <p:ph idx="1"/>
              </p:nvPr>
            </p:nvSpPr>
            <p:spPr>
              <a:xfrm>
                <a:off x="838200" y="1438508"/>
                <a:ext cx="10515600" cy="5330282"/>
              </a:xfrm>
              <a:blipFill>
                <a:blip r:embed="rId2"/>
                <a:stretch>
                  <a:fillRect l="-603" t="-1663"/>
                </a:stretch>
              </a:blipFill>
            </p:spPr>
            <p:txBody>
              <a:bodyPr/>
              <a:lstStyle/>
              <a:p>
                <a:r>
                  <a:rPr lang="en-US">
                    <a:noFill/>
                  </a:rPr>
                  <a:t> </a:t>
                </a:r>
              </a:p>
            </p:txBody>
          </p:sp>
        </mc:Fallback>
      </mc:AlternateContent>
    </p:spTree>
    <p:extLst>
      <p:ext uri="{BB962C8B-B14F-4D97-AF65-F5344CB8AC3E}">
        <p14:creationId xmlns:p14="http://schemas.microsoft.com/office/powerpoint/2010/main" val="1478595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9CD75-A211-2D46-A0DB-6A2F3B43855C}"/>
              </a:ext>
            </a:extLst>
          </p:cNvPr>
          <p:cNvSpPr>
            <a:spLocks noGrp="1"/>
          </p:cNvSpPr>
          <p:nvPr>
            <p:ph type="title"/>
          </p:nvPr>
        </p:nvSpPr>
        <p:spPr>
          <a:xfrm>
            <a:off x="838200" y="365125"/>
            <a:ext cx="10515600" cy="526973"/>
          </a:xfrm>
        </p:spPr>
        <p:txBody>
          <a:bodyPr>
            <a:normAutofit fontScale="90000"/>
          </a:bodyPr>
          <a:lstStyle/>
          <a:p>
            <a:pPr algn="ctr"/>
            <a:r>
              <a:rPr lang="en-US" sz="3200" b="1" dirty="0"/>
              <a:t>MA Seasonality: additive and multiplicative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0537073-502D-FA44-BC6B-F070084BBDE3}"/>
                  </a:ext>
                </a:extLst>
              </p:cNvPr>
              <p:cNvSpPr>
                <a:spLocks noGrp="1"/>
              </p:cNvSpPr>
              <p:nvPr>
                <p:ph idx="1"/>
              </p:nvPr>
            </p:nvSpPr>
            <p:spPr>
              <a:xfrm>
                <a:off x="838200" y="802888"/>
                <a:ext cx="10515600" cy="5374075"/>
              </a:xfrm>
            </p:spPr>
            <p:txBody>
              <a:bodyPr>
                <a:normAutofit/>
              </a:bodyPr>
              <a:lstStyle/>
              <a:p>
                <a:r>
                  <a:rPr lang="en-US" sz="2000" dirty="0"/>
                  <a:t>The seasonal pattern can occur via the error terms.</a:t>
                </a:r>
              </a:p>
              <a:p>
                <a:pPr marL="0" indent="0">
                  <a:buNone/>
                </a:pPr>
                <a:r>
                  <a:rPr lang="en-US" sz="2000" dirty="0">
                    <a:solidFill>
                      <a:srgbClr val="FF0000"/>
                    </a:solidFill>
                  </a:rPr>
                  <a:t>Additive SMA(12):  </a:t>
                </a: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𝑢</m:t>
                          </m:r>
                        </m:e>
                        <m:sub>
                          <m:r>
                            <a:rPr lang="en-US" sz="2000" i="1">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𝛾</m:t>
                          </m:r>
                        </m:e>
                        <m:sub>
                          <m:r>
                            <a:rPr lang="en-US" sz="2000" b="0" i="1" smtClean="0">
                              <a:latin typeface="Cambria Math" panose="02040503050406030204" pitchFamily="18" charset="0"/>
                              <a:ea typeface="Cambria Math" panose="02040503050406030204" pitchFamily="18" charset="0"/>
                            </a:rPr>
                            <m:t>12</m:t>
                          </m:r>
                        </m:sub>
                      </m:sSub>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𝑢</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−12</m:t>
                          </m:r>
                        </m:sub>
                      </m:sSub>
                    </m:oMath>
                  </m:oMathPara>
                </a14:m>
                <a:endParaRPr lang="en-US" sz="2000" dirty="0">
                  <a:solidFill>
                    <a:srgbClr val="FF0000"/>
                  </a:solidFill>
                </a:endParaRPr>
              </a:p>
              <a:p>
                <a:pPr marL="0" indent="0">
                  <a:buNone/>
                </a:pPr>
                <a:endParaRPr lang="en-US" sz="2000" dirty="0">
                  <a:solidFill>
                    <a:srgbClr val="FF0000"/>
                  </a:solidFill>
                </a:endParaRPr>
              </a:p>
              <a:p>
                <a:pPr marL="0" indent="0">
                  <a:buNone/>
                </a:pPr>
                <a:r>
                  <a:rPr lang="en-US" sz="2000" dirty="0">
                    <a:solidFill>
                      <a:srgbClr val="FF0000"/>
                    </a:solidFill>
                  </a:rPr>
                  <a:t>Multiplicative: ARIMA(0,0,1)x(0,0,2)</a:t>
                </a:r>
                <a:r>
                  <a:rPr lang="en-US" sz="2000" baseline="-25000" dirty="0">
                    <a:solidFill>
                      <a:srgbClr val="FF0000"/>
                    </a:solidFill>
                  </a:rPr>
                  <a:t>12</a:t>
                </a:r>
              </a:p>
              <a:p>
                <a:pPr marL="0" indent="0">
                  <a:buNone/>
                </a:pPr>
                <a:endParaRPr lang="en-US" sz="2000" baseline="-25000" dirty="0">
                  <a:solidFill>
                    <a:srgbClr val="FF0000"/>
                  </a:solidFill>
                </a:endParaRPr>
              </a:p>
              <a:p>
                <a:pPr marL="0" indent="0" algn="ctr">
                  <a:buNone/>
                </a:pPr>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𝑢</m:t>
                        </m:r>
                      </m:e>
                      <m:sub>
                        <m:r>
                          <a:rPr lang="en-US" sz="2000" i="1">
                            <a:latin typeface="Cambria Math" panose="02040503050406030204" pitchFamily="18" charset="0"/>
                            <a:ea typeface="Cambria Math" panose="02040503050406030204" pitchFamily="18" charset="0"/>
                          </a:rPr>
                          <m:t>𝑡</m:t>
                        </m:r>
                      </m:sub>
                    </m:sSub>
                    <m:d>
                      <m:dPr>
                        <m:ctrlPr>
                          <a:rPr lang="en-US" sz="200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1</m:t>
                            </m:r>
                          </m:sub>
                        </m:sSub>
                      </m:e>
                    </m:d>
                    <m:d>
                      <m:dPr>
                        <m:ctrlPr>
                          <a:rPr lang="en-US" sz="200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12</m:t>
                            </m:r>
                          </m:sub>
                        </m:sSub>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𝐿</m:t>
                            </m:r>
                          </m:e>
                          <m:sup>
                            <m:r>
                              <a:rPr lang="en-US" sz="2000" b="0" i="1" smtClean="0">
                                <a:latin typeface="Cambria Math" panose="02040503050406030204" pitchFamily="18" charset="0"/>
                                <a:ea typeface="Cambria Math" panose="02040503050406030204" pitchFamily="18" charset="0"/>
                              </a:rPr>
                              <m:t>12</m:t>
                            </m:r>
                          </m:sup>
                        </m:sSup>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24</m:t>
                            </m:r>
                          </m:sub>
                        </m:sSub>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𝐿</m:t>
                            </m:r>
                          </m:e>
                          <m:sup>
                            <m:r>
                              <a:rPr lang="en-US" sz="2000" b="0" i="1" smtClean="0">
                                <a:latin typeface="Cambria Math" panose="02040503050406030204" pitchFamily="18" charset="0"/>
                                <a:ea typeface="Cambria Math" panose="02040503050406030204" pitchFamily="18" charset="0"/>
                              </a:rPr>
                              <m:t>24</m:t>
                            </m:r>
                          </m:sup>
                        </m:sSup>
                      </m:e>
                    </m:d>
                  </m:oMath>
                </a14:m>
                <a:endParaRPr lang="en-US" sz="2000" i="1" dirty="0">
                  <a:latin typeface="Cambria Math" panose="02040503050406030204" pitchFamily="18" charset="0"/>
                </a:endParaRPr>
              </a:p>
              <a:p>
                <a:pPr marL="0" indent="0" algn="ctr">
                  <a:buNone/>
                </a:pPr>
                <a:endParaRPr lang="en-US" sz="20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d>
                            <m:dPr>
                              <m:ctrlPr>
                                <a:rPr lang="en-US" sz="2000" i="1">
                                  <a:latin typeface="Cambria Math" panose="02040503050406030204" pitchFamily="18" charset="0"/>
                                </a:rPr>
                              </m:ctrlPr>
                            </m:dPr>
                            <m:e>
                              <m:r>
                                <a:rPr lang="en-US" sz="2000" i="1">
                                  <a:latin typeface="Cambria Math" panose="02040503050406030204" pitchFamily="18" charset="0"/>
                                </a:rPr>
                                <m:t>1−</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4</m:t>
                                  </m:r>
                                </m:sub>
                              </m:sSub>
                              <m:sSup>
                                <m:sSupPr>
                                  <m:ctrlPr>
                                    <a:rPr lang="en-US" sz="2000" i="1">
                                      <a:latin typeface="Cambria Math" panose="02040503050406030204" pitchFamily="18" charset="0"/>
                                    </a:rPr>
                                  </m:ctrlPr>
                                </m:sSupPr>
                                <m:e>
                                  <m:r>
                                    <a:rPr lang="en-US" sz="2000" i="1">
                                      <a:latin typeface="Cambria Math" panose="02040503050406030204" pitchFamily="18" charset="0"/>
                                    </a:rPr>
                                    <m:t>𝐿</m:t>
                                  </m:r>
                                </m:e>
                                <m:sup>
                                  <m:r>
                                    <a:rPr lang="en-US" sz="2000" i="1">
                                      <a:latin typeface="Cambria Math" panose="02040503050406030204" pitchFamily="18" charset="0"/>
                                    </a:rPr>
                                    <m:t>4</m:t>
                                  </m:r>
                                </m:sup>
                              </m:sSup>
                            </m:e>
                          </m:d>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𝑒</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a:p>
                <a:pPr marL="0" indent="0">
                  <a:buNone/>
                </a:pPr>
                <a:endParaRPr lang="en-US" sz="2000" dirty="0"/>
              </a:p>
              <a:p>
                <a:pPr marL="0" indent="0">
                  <a:buNone/>
                </a:pPr>
                <a:r>
                  <a:rPr lang="en-US" sz="2000" dirty="0"/>
                  <a:t>On STATA:</a:t>
                </a:r>
              </a:p>
              <a:p>
                <a:pPr marL="0" indent="0">
                  <a:buNone/>
                </a:pPr>
                <a:r>
                  <a:rPr lang="en-US" sz="2000" dirty="0" err="1"/>
                  <a:t>arima</a:t>
                </a:r>
                <a:r>
                  <a:rPr lang="en-US" sz="2000" dirty="0"/>
                  <a:t> X, </a:t>
                </a:r>
                <a:r>
                  <a:rPr lang="en-US" sz="2000" dirty="0" err="1"/>
                  <a:t>arima</a:t>
                </a:r>
                <a:r>
                  <a:rPr lang="en-US" sz="2000" dirty="0"/>
                  <a:t>(0,0,1) </a:t>
                </a:r>
                <a:r>
                  <a:rPr lang="en-US" sz="2000" dirty="0" err="1"/>
                  <a:t>sarima</a:t>
                </a:r>
                <a:r>
                  <a:rPr lang="en-US" sz="2000" dirty="0"/>
                  <a:t> (0, 0, 2, 12)</a:t>
                </a:r>
              </a:p>
              <a:p>
                <a:pPr marL="0" indent="0">
                  <a:buNone/>
                </a:pPr>
                <a:r>
                  <a:rPr lang="en-US" sz="2000" dirty="0"/>
                  <a:t>In general:</a:t>
                </a:r>
              </a:p>
              <a:p>
                <a:pPr marL="0" indent="0">
                  <a:buNone/>
                </a:pPr>
                <a:r>
                  <a:rPr lang="en-US" sz="2000" dirty="0" err="1"/>
                  <a:t>arima</a:t>
                </a:r>
                <a:r>
                  <a:rPr lang="en-US" sz="2000" dirty="0"/>
                  <a:t>(p, d, q)x(P, D, Q)</a:t>
                </a:r>
                <a:r>
                  <a:rPr lang="en-US" sz="2000" baseline="-25000" dirty="0"/>
                  <a:t>s</a:t>
                </a:r>
              </a:p>
              <a:p>
                <a:pPr marL="0" indent="0">
                  <a:buNone/>
                </a:pPr>
                <a:endParaRPr lang="en-US" sz="2000" dirty="0"/>
              </a:p>
            </p:txBody>
          </p:sp>
        </mc:Choice>
        <mc:Fallback>
          <p:sp>
            <p:nvSpPr>
              <p:cNvPr id="3" name="Content Placeholder 2">
                <a:extLst>
                  <a:ext uri="{FF2B5EF4-FFF2-40B4-BE49-F238E27FC236}">
                    <a16:creationId xmlns:a16="http://schemas.microsoft.com/office/drawing/2014/main" id="{60537073-502D-FA44-BC6B-F070084BBDE3}"/>
                  </a:ext>
                </a:extLst>
              </p:cNvPr>
              <p:cNvSpPr>
                <a:spLocks noGrp="1" noRot="1" noChangeAspect="1" noMove="1" noResize="1" noEditPoints="1" noAdjustHandles="1" noChangeArrowheads="1" noChangeShapeType="1" noTextEdit="1"/>
              </p:cNvSpPr>
              <p:nvPr>
                <p:ph idx="1"/>
              </p:nvPr>
            </p:nvSpPr>
            <p:spPr>
              <a:xfrm>
                <a:off x="838200" y="802888"/>
                <a:ext cx="10515600" cy="5374075"/>
              </a:xfrm>
              <a:blipFill>
                <a:blip r:embed="rId2"/>
                <a:stretch>
                  <a:fillRect l="-724" t="-1415"/>
                </a:stretch>
              </a:blipFill>
            </p:spPr>
            <p:txBody>
              <a:bodyPr/>
              <a:lstStyle/>
              <a:p>
                <a:r>
                  <a:rPr lang="en-US">
                    <a:noFill/>
                  </a:rPr>
                  <a:t> </a:t>
                </a:r>
              </a:p>
            </p:txBody>
          </p:sp>
        </mc:Fallback>
      </mc:AlternateContent>
    </p:spTree>
    <p:extLst>
      <p:ext uri="{BB962C8B-B14F-4D97-AF65-F5344CB8AC3E}">
        <p14:creationId xmlns:p14="http://schemas.microsoft.com/office/powerpoint/2010/main" val="602092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AC92E-8D87-314B-A4E4-9770601CB1B9}"/>
              </a:ext>
            </a:extLst>
          </p:cNvPr>
          <p:cNvSpPr>
            <a:spLocks noGrp="1"/>
          </p:cNvSpPr>
          <p:nvPr>
            <p:ph type="title"/>
          </p:nvPr>
        </p:nvSpPr>
        <p:spPr>
          <a:xfrm>
            <a:off x="838200" y="365126"/>
            <a:ext cx="10515600" cy="850358"/>
          </a:xfrm>
        </p:spPr>
        <p:txBody>
          <a:bodyPr>
            <a:normAutofit/>
          </a:bodyPr>
          <a:lstStyle/>
          <a:p>
            <a:pPr algn="ctr"/>
            <a:r>
              <a:rPr lang="en-US" sz="3200" dirty="0"/>
              <a:t>SARIMA(P, D, Q) IDENTIFICATION: ACFs and PACFs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7413BF9-C236-BD45-B740-B62552512BEA}"/>
                  </a:ext>
                </a:extLst>
              </p:cNvPr>
              <p:cNvSpPr>
                <a:spLocks noGrp="1"/>
              </p:cNvSpPr>
              <p:nvPr>
                <p:ph idx="1"/>
              </p:nvPr>
            </p:nvSpPr>
            <p:spPr>
              <a:xfrm>
                <a:off x="838200" y="1215484"/>
                <a:ext cx="10515600" cy="4961479"/>
              </a:xfrm>
            </p:spPr>
            <p:txBody>
              <a:bodyPr>
                <a:normAutofit fontScale="70000" lnSpcReduction="20000"/>
              </a:bodyPr>
              <a:lstStyle/>
              <a:p>
                <a:r>
                  <a:rPr lang="en-US" sz="2600" dirty="0"/>
                  <a:t>Computing the ACF - </a:t>
                </a:r>
                <a:r>
                  <a:rPr lang="en-US" sz="2600" dirty="0">
                    <a:solidFill>
                      <a:srgbClr val="FF0000"/>
                    </a:solidFill>
                  </a:rPr>
                  <a:t>example: SAR(4)</a:t>
                </a:r>
              </a:p>
              <a:p>
                <a:endParaRPr lang="en-US" sz="2600" dirty="0">
                  <a:solidFill>
                    <a:srgbClr val="FF0000"/>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r>
                        <a:rPr lang="en-US" sz="2000" b="0" i="1" smtClean="0">
                          <a:latin typeface="Cambria Math" panose="02040503050406030204" pitchFamily="18" charset="0"/>
                        </a:rPr>
                        <m:t>0.5</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−4</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𝑒</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a:p>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e>
                      </m:d>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−2</m:t>
                              </m:r>
                            </m:sub>
                          </m:sSub>
                        </m:e>
                      </m:d>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−3</m:t>
                              </m:r>
                            </m:sub>
                          </m:sSub>
                        </m:e>
                      </m:d>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−4</m:t>
                              </m:r>
                            </m:sub>
                          </m:sSub>
                        </m:e>
                      </m:d>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0.5</m:t>
                      </m:r>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−5</m:t>
                              </m:r>
                            </m:sub>
                          </m:sSub>
                        </m:e>
                      </m:d>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m:oMathPara>
                </a14:m>
                <a:endParaRPr lang="en-US" sz="2000" b="0" dirty="0">
                  <a:ea typeface="Cambria Math" panose="02040503050406030204" pitchFamily="18" charset="0"/>
                </a:endParaRPr>
              </a:p>
              <a:p>
                <a:pPr marL="0" indent="0">
                  <a:buNone/>
                </a:pPr>
                <a:endParaRPr lang="en-US" sz="2000"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−6</m:t>
                              </m:r>
                            </m:sub>
                          </m:sSub>
                        </m:e>
                      </m:d>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m:oMathPara>
                </a14:m>
                <a:endParaRPr lang="en-US" sz="2000" b="0" dirty="0">
                  <a:ea typeface="Cambria Math" panose="02040503050406030204" pitchFamily="18" charset="0"/>
                </a:endParaRPr>
              </a:p>
              <a:p>
                <a:pPr marL="0" indent="0">
                  <a:buNone/>
                </a:pPr>
                <a:endParaRPr lang="en-US" sz="2000"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−7</m:t>
                              </m:r>
                            </m:sub>
                          </m:sSub>
                        </m:e>
                      </m:d>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m:oMathPara>
                </a14:m>
                <a:endParaRPr lang="en-US" sz="2000" b="0" dirty="0">
                  <a:ea typeface="Cambria Math" panose="02040503050406030204" pitchFamily="18" charset="0"/>
                </a:endParaRPr>
              </a:p>
              <a:p>
                <a:pPr marL="0" indent="0">
                  <a:buNone/>
                </a:pPr>
                <a:endParaRPr lang="en-US" sz="2000"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−8</m:t>
                              </m:r>
                            </m:sub>
                          </m:sSub>
                        </m:e>
                      </m:d>
                      <m:r>
                        <a:rPr lang="en-US" sz="2000">
                          <a:latin typeface="Cambria Math" panose="02040503050406030204" pitchFamily="18" charset="0"/>
                          <a:ea typeface="Cambria Math" panose="02040503050406030204" pitchFamily="18" charset="0"/>
                        </a:rPr>
                        <m:t>=</m:t>
                      </m:r>
                      <m:sSup>
                        <m:sSupPr>
                          <m:ctrlPr>
                            <a:rPr lang="en-US" sz="200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0.5</m:t>
                          </m:r>
                        </m:e>
                        <m:sup>
                          <m:r>
                            <a:rPr lang="en-US" sz="2000" b="0" i="1" smtClean="0">
                              <a:latin typeface="Cambria Math" panose="02040503050406030204" pitchFamily="18" charset="0"/>
                              <a:ea typeface="Cambria Math" panose="02040503050406030204" pitchFamily="18" charset="0"/>
                            </a:rPr>
                            <m:t>2</m:t>
                          </m:r>
                        </m:sup>
                      </m:sSup>
                      <m:r>
                        <a:rPr lang="en-US" sz="2000" b="0" i="1" smtClean="0">
                          <a:latin typeface="Cambria Math" panose="02040503050406030204" pitchFamily="18" charset="0"/>
                          <a:ea typeface="Cambria Math" panose="02040503050406030204" pitchFamily="18" charset="0"/>
                        </a:rPr>
                        <m:t>=0.25</m:t>
                      </m:r>
                    </m:oMath>
                  </m:oMathPara>
                </a14:m>
                <a:endParaRPr lang="en-US" sz="2000" dirty="0"/>
              </a:p>
              <a:p>
                <a:pPr marL="0" indent="0">
                  <a:buNone/>
                </a:pPr>
                <a:endParaRPr lang="en-US" dirty="0"/>
              </a:p>
            </p:txBody>
          </p:sp>
        </mc:Choice>
        <mc:Fallback>
          <p:sp>
            <p:nvSpPr>
              <p:cNvPr id="3" name="Content Placeholder 2">
                <a:extLst>
                  <a:ext uri="{FF2B5EF4-FFF2-40B4-BE49-F238E27FC236}">
                    <a16:creationId xmlns:a16="http://schemas.microsoft.com/office/drawing/2014/main" id="{C7413BF9-C236-BD45-B740-B62552512BEA}"/>
                  </a:ext>
                </a:extLst>
              </p:cNvPr>
              <p:cNvSpPr>
                <a:spLocks noGrp="1" noRot="1" noChangeAspect="1" noMove="1" noResize="1" noEditPoints="1" noAdjustHandles="1" noChangeArrowheads="1" noChangeShapeType="1" noTextEdit="1"/>
              </p:cNvSpPr>
              <p:nvPr>
                <p:ph idx="1"/>
              </p:nvPr>
            </p:nvSpPr>
            <p:spPr>
              <a:xfrm>
                <a:off x="838200" y="1215484"/>
                <a:ext cx="10515600" cy="4961479"/>
              </a:xfrm>
              <a:blipFill>
                <a:blip r:embed="rId2"/>
                <a:stretch>
                  <a:fillRect l="-483" t="-2041"/>
                </a:stretch>
              </a:blipFill>
            </p:spPr>
            <p:txBody>
              <a:bodyPr/>
              <a:lstStyle/>
              <a:p>
                <a:r>
                  <a:rPr lang="en-US">
                    <a:noFill/>
                  </a:rPr>
                  <a:t> </a:t>
                </a:r>
              </a:p>
            </p:txBody>
          </p:sp>
        </mc:Fallback>
      </mc:AlternateContent>
    </p:spTree>
    <p:extLst>
      <p:ext uri="{BB962C8B-B14F-4D97-AF65-F5344CB8AC3E}">
        <p14:creationId xmlns:p14="http://schemas.microsoft.com/office/powerpoint/2010/main" val="1419369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E4AF99-273E-1A42-A615-AB9C25E741F1}"/>
              </a:ext>
            </a:extLst>
          </p:cNvPr>
          <p:cNvPicPr>
            <a:picLocks noChangeAspect="1"/>
          </p:cNvPicPr>
          <p:nvPr/>
        </p:nvPicPr>
        <p:blipFill>
          <a:blip r:embed="rId2"/>
          <a:stretch>
            <a:fillRect/>
          </a:stretch>
        </p:blipFill>
        <p:spPr>
          <a:xfrm>
            <a:off x="1380492" y="0"/>
            <a:ext cx="9431016" cy="6858000"/>
          </a:xfrm>
          <a:prstGeom prst="rect">
            <a:avLst/>
          </a:prstGeom>
        </p:spPr>
      </p:pic>
    </p:spTree>
    <p:extLst>
      <p:ext uri="{BB962C8B-B14F-4D97-AF65-F5344CB8AC3E}">
        <p14:creationId xmlns:p14="http://schemas.microsoft.com/office/powerpoint/2010/main" val="3553689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6AFEFC-4764-5844-BC78-42596B8EC6F9}"/>
              </a:ext>
            </a:extLst>
          </p:cNvPr>
          <p:cNvPicPr>
            <a:picLocks noChangeAspect="1"/>
          </p:cNvPicPr>
          <p:nvPr/>
        </p:nvPicPr>
        <p:blipFill>
          <a:blip r:embed="rId2"/>
          <a:stretch>
            <a:fillRect/>
          </a:stretch>
        </p:blipFill>
        <p:spPr>
          <a:xfrm>
            <a:off x="1380492" y="0"/>
            <a:ext cx="9431016" cy="6858000"/>
          </a:xfrm>
          <a:prstGeom prst="rect">
            <a:avLst/>
          </a:prstGeom>
        </p:spPr>
      </p:pic>
    </p:spTree>
    <p:extLst>
      <p:ext uri="{BB962C8B-B14F-4D97-AF65-F5344CB8AC3E}">
        <p14:creationId xmlns:p14="http://schemas.microsoft.com/office/powerpoint/2010/main" val="2384061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AC92E-8D87-314B-A4E4-9770601CB1B9}"/>
              </a:ext>
            </a:extLst>
          </p:cNvPr>
          <p:cNvSpPr>
            <a:spLocks noGrp="1"/>
          </p:cNvSpPr>
          <p:nvPr>
            <p:ph type="title"/>
          </p:nvPr>
        </p:nvSpPr>
        <p:spPr>
          <a:xfrm>
            <a:off x="838200" y="365126"/>
            <a:ext cx="10515600" cy="850358"/>
          </a:xfrm>
        </p:spPr>
        <p:txBody>
          <a:bodyPr>
            <a:normAutofit/>
          </a:bodyPr>
          <a:lstStyle/>
          <a:p>
            <a:pPr algn="ctr"/>
            <a:r>
              <a:rPr lang="en-US" sz="3200" dirty="0"/>
              <a:t>SARIMA(P, D, Q) IDENTIFICATION: ACFs and PACFs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7413BF9-C236-BD45-B740-B62552512BEA}"/>
                  </a:ext>
                </a:extLst>
              </p:cNvPr>
              <p:cNvSpPr>
                <a:spLocks noGrp="1"/>
              </p:cNvSpPr>
              <p:nvPr>
                <p:ph idx="1"/>
              </p:nvPr>
            </p:nvSpPr>
            <p:spPr>
              <a:xfrm>
                <a:off x="838200" y="1215484"/>
                <a:ext cx="10515600" cy="4961479"/>
              </a:xfrm>
            </p:spPr>
            <p:txBody>
              <a:bodyPr>
                <a:normAutofit fontScale="85000" lnSpcReduction="20000"/>
              </a:bodyPr>
              <a:lstStyle/>
              <a:p>
                <a:r>
                  <a:rPr lang="en-US" sz="2600" dirty="0"/>
                  <a:t>Computing the ACF - example: </a:t>
                </a: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r>
                        <a:rPr lang="en-US" sz="2000" b="0" i="1" smtClean="0">
                          <a:latin typeface="Cambria Math" panose="02040503050406030204" pitchFamily="18" charset="0"/>
                        </a:rPr>
                        <m:t>0.5</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𝑒</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−4</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𝑒</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a:p>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e>
                      </m:d>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−2</m:t>
                              </m:r>
                            </m:sub>
                          </m:sSub>
                        </m:e>
                      </m:d>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−3</m:t>
                              </m:r>
                            </m:sub>
                          </m:sSub>
                        </m:e>
                      </m:d>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−4</m:t>
                              </m:r>
                            </m:sub>
                          </m:sSub>
                        </m:e>
                      </m:d>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−5</m:t>
                              </m:r>
                            </m:sub>
                          </m:sSub>
                        </m:e>
                      </m:d>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m:oMathPara>
                </a14:m>
                <a:endParaRPr lang="en-US" sz="2000" b="0" dirty="0">
                  <a:ea typeface="Cambria Math" panose="02040503050406030204" pitchFamily="18" charset="0"/>
                </a:endParaRPr>
              </a:p>
              <a:p>
                <a:pPr marL="0" indent="0">
                  <a:buNone/>
                </a:pPr>
                <a:endParaRPr lang="en-US" sz="2000"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−6</m:t>
                              </m:r>
                            </m:sub>
                          </m:sSub>
                        </m:e>
                      </m:d>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m:oMathPara>
                </a14:m>
                <a:endParaRPr lang="en-US" sz="2000" b="0" dirty="0">
                  <a:ea typeface="Cambria Math" panose="02040503050406030204" pitchFamily="18" charset="0"/>
                </a:endParaRPr>
              </a:p>
              <a:p>
                <a:pPr marL="0" indent="0">
                  <a:buNone/>
                </a:pPr>
                <a:endParaRPr lang="en-US" sz="2000"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−7</m:t>
                              </m:r>
                            </m:sub>
                          </m:sSub>
                        </m:e>
                      </m:d>
                      <m:r>
                        <a:rPr lang="en-US" sz="200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m:oMathPara>
                </a14:m>
                <a:endParaRPr lang="en-US" sz="2000" b="0" dirty="0">
                  <a:ea typeface="Cambria Math" panose="02040503050406030204" pitchFamily="18" charset="0"/>
                </a:endParaRPr>
              </a:p>
              <a:p>
                <a:pPr marL="0" indent="0">
                  <a:buNone/>
                </a:pPr>
                <a:endParaRPr lang="en-US" sz="2000"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𝐶𝑜𝑟𝑟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−12</m:t>
                              </m:r>
                            </m:sub>
                          </m:sSub>
                        </m:e>
                      </m:d>
                      <m:r>
                        <a:rPr lang="en-US" sz="2000">
                          <a:latin typeface="Cambria Math" panose="02040503050406030204" pitchFamily="18" charset="0"/>
                          <a:ea typeface="Cambria Math" panose="02040503050406030204" pitchFamily="18" charset="0"/>
                        </a:rPr>
                        <m:t>=</m:t>
                      </m:r>
                      <m:r>
                        <a:rPr lang="en-US" sz="2000" b="0" i="0" smtClean="0">
                          <a:latin typeface="Cambria Math" panose="02040503050406030204" pitchFamily="18" charset="0"/>
                          <a:ea typeface="Cambria Math" panose="02040503050406030204" pitchFamily="18" charset="0"/>
                        </a:rPr>
                        <m:t>0.5</m:t>
                      </m:r>
                    </m:oMath>
                  </m:oMathPara>
                </a14:m>
                <a:endParaRPr lang="en-US" dirty="0"/>
              </a:p>
            </p:txBody>
          </p:sp>
        </mc:Choice>
        <mc:Fallback>
          <p:sp>
            <p:nvSpPr>
              <p:cNvPr id="3" name="Content Placeholder 2">
                <a:extLst>
                  <a:ext uri="{FF2B5EF4-FFF2-40B4-BE49-F238E27FC236}">
                    <a16:creationId xmlns:a16="http://schemas.microsoft.com/office/drawing/2014/main" id="{C7413BF9-C236-BD45-B740-B62552512BEA}"/>
                  </a:ext>
                </a:extLst>
              </p:cNvPr>
              <p:cNvSpPr>
                <a:spLocks noGrp="1" noRot="1" noChangeAspect="1" noMove="1" noResize="1" noEditPoints="1" noAdjustHandles="1" noChangeArrowheads="1" noChangeShapeType="1" noTextEdit="1"/>
              </p:cNvSpPr>
              <p:nvPr>
                <p:ph idx="1"/>
              </p:nvPr>
            </p:nvSpPr>
            <p:spPr>
              <a:xfrm>
                <a:off x="838200" y="1215484"/>
                <a:ext cx="10515600" cy="4961479"/>
              </a:xfrm>
              <a:blipFill>
                <a:blip r:embed="rId2"/>
                <a:stretch>
                  <a:fillRect l="-724" t="-2551"/>
                </a:stretch>
              </a:blipFill>
            </p:spPr>
            <p:txBody>
              <a:bodyPr/>
              <a:lstStyle/>
              <a:p>
                <a:r>
                  <a:rPr lang="en-US">
                    <a:noFill/>
                  </a:rPr>
                  <a:t> </a:t>
                </a:r>
              </a:p>
            </p:txBody>
          </p:sp>
        </mc:Fallback>
      </mc:AlternateContent>
    </p:spTree>
    <p:extLst>
      <p:ext uri="{BB962C8B-B14F-4D97-AF65-F5344CB8AC3E}">
        <p14:creationId xmlns:p14="http://schemas.microsoft.com/office/powerpoint/2010/main" val="3654529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A9690-B705-AF38-9736-9282A1275458}"/>
              </a:ext>
            </a:extLst>
          </p:cNvPr>
          <p:cNvSpPr>
            <a:spLocks noGrp="1"/>
          </p:cNvSpPr>
          <p:nvPr>
            <p:ph type="title"/>
          </p:nvPr>
        </p:nvSpPr>
        <p:spPr/>
        <p:txBody>
          <a:bodyPr/>
          <a:lstStyle/>
          <a:p>
            <a:r>
              <a:rPr lang="en-US" sz="4400" dirty="0">
                <a:solidFill>
                  <a:srgbClr val="FF0000"/>
                </a:solidFill>
              </a:rPr>
              <a:t>Autocorrelation: Additive SMA(12)</a:t>
            </a:r>
            <a:endParaRPr lang="en-US" dirty="0"/>
          </a:p>
        </p:txBody>
      </p:sp>
      <p:pic>
        <p:nvPicPr>
          <p:cNvPr id="5" name="Content Placeholder 4">
            <a:extLst>
              <a:ext uri="{FF2B5EF4-FFF2-40B4-BE49-F238E27FC236}">
                <a16:creationId xmlns:a16="http://schemas.microsoft.com/office/drawing/2014/main" id="{EFDD365C-7878-E1CB-563F-BFE170C4F10A}"/>
              </a:ext>
            </a:extLst>
          </p:cNvPr>
          <p:cNvPicPr>
            <a:picLocks noGrp="1" noChangeAspect="1"/>
          </p:cNvPicPr>
          <p:nvPr>
            <p:ph idx="1"/>
          </p:nvPr>
        </p:nvPicPr>
        <p:blipFill>
          <a:blip r:embed="rId2"/>
          <a:stretch>
            <a:fillRect/>
          </a:stretch>
        </p:blipFill>
        <p:spPr>
          <a:xfrm>
            <a:off x="3581400" y="2172494"/>
            <a:ext cx="5029200" cy="3657600"/>
          </a:xfrm>
        </p:spPr>
      </p:pic>
    </p:spTree>
    <p:extLst>
      <p:ext uri="{BB962C8B-B14F-4D97-AF65-F5344CB8AC3E}">
        <p14:creationId xmlns:p14="http://schemas.microsoft.com/office/powerpoint/2010/main" val="549042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586D5-E99E-B53F-7E46-F54CFF4D250A}"/>
              </a:ext>
            </a:extLst>
          </p:cNvPr>
          <p:cNvSpPr>
            <a:spLocks noGrp="1"/>
          </p:cNvSpPr>
          <p:nvPr>
            <p:ph type="title"/>
          </p:nvPr>
        </p:nvSpPr>
        <p:spPr/>
        <p:txBody>
          <a:bodyPr/>
          <a:lstStyle/>
          <a:p>
            <a:r>
              <a:rPr lang="en-US" sz="4400" dirty="0">
                <a:solidFill>
                  <a:srgbClr val="FF0000"/>
                </a:solidFill>
              </a:rPr>
              <a:t>Partial Autocorrelation: Additive SMA(12)</a:t>
            </a:r>
            <a:endParaRPr lang="en-US" dirty="0"/>
          </a:p>
        </p:txBody>
      </p:sp>
      <p:pic>
        <p:nvPicPr>
          <p:cNvPr id="5" name="Content Placeholder 4">
            <a:extLst>
              <a:ext uri="{FF2B5EF4-FFF2-40B4-BE49-F238E27FC236}">
                <a16:creationId xmlns:a16="http://schemas.microsoft.com/office/drawing/2014/main" id="{AD32CBC7-1AE5-6008-7EFD-85CFE6B08187}"/>
              </a:ext>
            </a:extLst>
          </p:cNvPr>
          <p:cNvPicPr>
            <a:picLocks noGrp="1" noChangeAspect="1"/>
          </p:cNvPicPr>
          <p:nvPr>
            <p:ph idx="1"/>
          </p:nvPr>
        </p:nvPicPr>
        <p:blipFill>
          <a:blip r:embed="rId2"/>
          <a:stretch>
            <a:fillRect/>
          </a:stretch>
        </p:blipFill>
        <p:spPr>
          <a:xfrm>
            <a:off x="3581400" y="2172494"/>
            <a:ext cx="5029200" cy="3657600"/>
          </a:xfrm>
        </p:spPr>
      </p:pic>
    </p:spTree>
    <p:extLst>
      <p:ext uri="{BB962C8B-B14F-4D97-AF65-F5344CB8AC3E}">
        <p14:creationId xmlns:p14="http://schemas.microsoft.com/office/powerpoint/2010/main" val="3109516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536C3-0F8E-23C3-18FC-315439DFE94B}"/>
              </a:ext>
            </a:extLst>
          </p:cNvPr>
          <p:cNvSpPr>
            <a:spLocks noGrp="1"/>
          </p:cNvSpPr>
          <p:nvPr>
            <p:ph type="title"/>
          </p:nvPr>
        </p:nvSpPr>
        <p:spPr/>
        <p:txBody>
          <a:bodyPr>
            <a:normAutofit/>
          </a:bodyPr>
          <a:lstStyle/>
          <a:p>
            <a:pPr algn="ctr"/>
            <a:r>
              <a:rPr lang="en-US" sz="3600" dirty="0">
                <a:solidFill>
                  <a:srgbClr val="FF0000"/>
                </a:solidFill>
              </a:rPr>
              <a:t>Autocorrelation: Multiplicative ARIMA(0,0,1)(0,0,12)</a:t>
            </a:r>
            <a:endParaRPr lang="en-US" sz="3600" dirty="0"/>
          </a:p>
        </p:txBody>
      </p:sp>
      <p:pic>
        <p:nvPicPr>
          <p:cNvPr id="5" name="Content Placeholder 4">
            <a:extLst>
              <a:ext uri="{FF2B5EF4-FFF2-40B4-BE49-F238E27FC236}">
                <a16:creationId xmlns:a16="http://schemas.microsoft.com/office/drawing/2014/main" id="{E206FFE1-6830-DF0C-E797-4E36842E5184}"/>
              </a:ext>
            </a:extLst>
          </p:cNvPr>
          <p:cNvPicPr>
            <a:picLocks noGrp="1" noChangeAspect="1"/>
          </p:cNvPicPr>
          <p:nvPr>
            <p:ph idx="1"/>
          </p:nvPr>
        </p:nvPicPr>
        <p:blipFill>
          <a:blip r:embed="rId2"/>
          <a:stretch>
            <a:fillRect/>
          </a:stretch>
        </p:blipFill>
        <p:spPr>
          <a:xfrm>
            <a:off x="2575931" y="2047431"/>
            <a:ext cx="6614532" cy="4810569"/>
          </a:xfrm>
        </p:spPr>
      </p:pic>
    </p:spTree>
    <p:extLst>
      <p:ext uri="{BB962C8B-B14F-4D97-AF65-F5344CB8AC3E}">
        <p14:creationId xmlns:p14="http://schemas.microsoft.com/office/powerpoint/2010/main" val="1408666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97E6F-7902-7E5E-A6B7-6005FF89E710}"/>
              </a:ext>
            </a:extLst>
          </p:cNvPr>
          <p:cNvSpPr>
            <a:spLocks noGrp="1"/>
          </p:cNvSpPr>
          <p:nvPr>
            <p:ph type="title"/>
          </p:nvPr>
        </p:nvSpPr>
        <p:spPr/>
        <p:txBody>
          <a:bodyPr>
            <a:normAutofit/>
          </a:bodyPr>
          <a:lstStyle/>
          <a:p>
            <a:pPr algn="ctr"/>
            <a:r>
              <a:rPr lang="en-US" sz="3600" dirty="0">
                <a:solidFill>
                  <a:srgbClr val="FF0000"/>
                </a:solidFill>
              </a:rPr>
              <a:t>Partial Autocorrelation: Multiplicative ARIMA(0,0,1)(0,0,12)</a:t>
            </a:r>
            <a:endParaRPr lang="en-US" sz="3600" dirty="0"/>
          </a:p>
        </p:txBody>
      </p:sp>
      <p:pic>
        <p:nvPicPr>
          <p:cNvPr id="5" name="Content Placeholder 4">
            <a:extLst>
              <a:ext uri="{FF2B5EF4-FFF2-40B4-BE49-F238E27FC236}">
                <a16:creationId xmlns:a16="http://schemas.microsoft.com/office/drawing/2014/main" id="{804ABF20-6A06-7371-8C4D-D94F2BCB96B2}"/>
              </a:ext>
            </a:extLst>
          </p:cNvPr>
          <p:cNvPicPr>
            <a:picLocks noGrp="1" noChangeAspect="1"/>
          </p:cNvPicPr>
          <p:nvPr>
            <p:ph idx="1"/>
          </p:nvPr>
        </p:nvPicPr>
        <p:blipFill>
          <a:blip r:embed="rId2"/>
          <a:stretch>
            <a:fillRect/>
          </a:stretch>
        </p:blipFill>
        <p:spPr>
          <a:xfrm>
            <a:off x="2297150" y="1909386"/>
            <a:ext cx="6623826" cy="4817328"/>
          </a:xfrm>
        </p:spPr>
      </p:pic>
    </p:spTree>
    <p:extLst>
      <p:ext uri="{BB962C8B-B14F-4D97-AF65-F5344CB8AC3E}">
        <p14:creationId xmlns:p14="http://schemas.microsoft.com/office/powerpoint/2010/main" val="1391554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316FB-545B-9645-BCE1-78ECF35FF1BF}"/>
              </a:ext>
            </a:extLst>
          </p:cNvPr>
          <p:cNvSpPr>
            <a:spLocks noGrp="1"/>
          </p:cNvSpPr>
          <p:nvPr>
            <p:ph type="title"/>
          </p:nvPr>
        </p:nvSpPr>
        <p:spPr>
          <a:xfrm>
            <a:off x="838200" y="365126"/>
            <a:ext cx="10569498" cy="1006474"/>
          </a:xfrm>
        </p:spPr>
        <p:txBody>
          <a:bodyPr>
            <a:normAutofit/>
          </a:bodyPr>
          <a:lstStyle/>
          <a:p>
            <a:pPr algn="ctr"/>
            <a:r>
              <a:rPr lang="en-US" sz="3200" b="1" dirty="0"/>
              <a:t>Behavior of the ACF and PACF for pure SARIMA model</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B19D7DDD-533A-2943-A6BB-D03DA2DFD2D7}"/>
                  </a:ext>
                </a:extLst>
              </p:cNvPr>
              <p:cNvGraphicFramePr>
                <a:graphicFrameLocks noGrp="1"/>
              </p:cNvGraphicFramePr>
              <p:nvPr>
                <p:ph idx="1"/>
                <p:extLst>
                  <p:ext uri="{D42A27DB-BD31-4B8C-83A1-F6EECF244321}">
                    <p14:modId xmlns:p14="http://schemas.microsoft.com/office/powerpoint/2010/main" val="449792979"/>
                  </p:ext>
                </p:extLst>
              </p:nvPr>
            </p:nvGraphicFramePr>
            <p:xfrm>
              <a:off x="838200" y="1728943"/>
              <a:ext cx="10803676" cy="4091994"/>
            </p:xfrm>
            <a:graphic>
              <a:graphicData uri="http://schemas.openxmlformats.org/drawingml/2006/table">
                <a:tbl>
                  <a:tblPr firstRow="1" bandRow="1">
                    <a:tableStyleId>{5940675A-B579-460E-94D1-54222C63F5DA}</a:tableStyleId>
                  </a:tblPr>
                  <a:tblGrid>
                    <a:gridCol w="2700919">
                      <a:extLst>
                        <a:ext uri="{9D8B030D-6E8A-4147-A177-3AD203B41FA5}">
                          <a16:colId xmlns:a16="http://schemas.microsoft.com/office/drawing/2014/main" val="3975515089"/>
                        </a:ext>
                      </a:extLst>
                    </a:gridCol>
                    <a:gridCol w="2700919">
                      <a:extLst>
                        <a:ext uri="{9D8B030D-6E8A-4147-A177-3AD203B41FA5}">
                          <a16:colId xmlns:a16="http://schemas.microsoft.com/office/drawing/2014/main" val="2650825915"/>
                        </a:ext>
                      </a:extLst>
                    </a:gridCol>
                    <a:gridCol w="2700919">
                      <a:extLst>
                        <a:ext uri="{9D8B030D-6E8A-4147-A177-3AD203B41FA5}">
                          <a16:colId xmlns:a16="http://schemas.microsoft.com/office/drawing/2014/main" val="542727848"/>
                        </a:ext>
                      </a:extLst>
                    </a:gridCol>
                    <a:gridCol w="2700919">
                      <a:extLst>
                        <a:ext uri="{9D8B030D-6E8A-4147-A177-3AD203B41FA5}">
                          <a16:colId xmlns:a16="http://schemas.microsoft.com/office/drawing/2014/main" val="2207708316"/>
                        </a:ext>
                      </a:extLst>
                    </a:gridCol>
                  </a:tblGrid>
                  <a:tr h="843639">
                    <a:tc>
                      <a:txBody>
                        <a:bodyPr/>
                        <a:lstStyle/>
                        <a:p>
                          <a:endParaRPr lang="en-US" dirty="0"/>
                        </a:p>
                      </a:txBody>
                      <a:tcPr/>
                    </a:tc>
                    <a:tc>
                      <a:txBody>
                        <a:bodyPr/>
                        <a:lstStyle/>
                        <a:p>
                          <a:r>
                            <a:rPr lang="en-US" dirty="0"/>
                            <a:t>AR(P)s</a:t>
                          </a:r>
                        </a:p>
                      </a:txBody>
                      <a:tcPr/>
                    </a:tc>
                    <a:tc>
                      <a:txBody>
                        <a:bodyPr/>
                        <a:lstStyle/>
                        <a:p>
                          <a:r>
                            <a:rPr lang="en-US" dirty="0"/>
                            <a:t>MA(Q)s</a:t>
                          </a:r>
                        </a:p>
                      </a:txBody>
                      <a:tcPr/>
                    </a:tc>
                    <a:tc>
                      <a:txBody>
                        <a:bodyPr/>
                        <a:lstStyle/>
                        <a:p>
                          <a:r>
                            <a:rPr lang="en-US" dirty="0"/>
                            <a:t>ARMA(P,Q)s</a:t>
                          </a:r>
                        </a:p>
                      </a:txBody>
                      <a:tcPr/>
                    </a:tc>
                    <a:extLst>
                      <a:ext uri="{0D108BD9-81ED-4DB2-BD59-A6C34878D82A}">
                        <a16:rowId xmlns:a16="http://schemas.microsoft.com/office/drawing/2014/main" val="184565468"/>
                      </a:ext>
                    </a:extLst>
                  </a:tr>
                  <a:tr h="1456143">
                    <a:tc>
                      <a:txBody>
                        <a:bodyPr/>
                        <a:lstStyle/>
                        <a:p>
                          <a:r>
                            <a:rPr lang="en-US" dirty="0"/>
                            <a:t>ACF*</a:t>
                          </a:r>
                        </a:p>
                      </a:txBody>
                      <a:tcPr/>
                    </a:tc>
                    <a:tc>
                      <a:txBody>
                        <a:bodyPr/>
                        <a:lstStyle/>
                        <a:p>
                          <a:r>
                            <a:rPr lang="en-US" dirty="0"/>
                            <a:t>Tails off at lags k*s</a:t>
                          </a:r>
                        </a:p>
                        <a:p>
                          <a:r>
                            <a:rPr lang="en-US" dirty="0"/>
                            <a:t>k = 1, 2, ….., </a:t>
                          </a:r>
                        </a:p>
                      </a:txBody>
                      <a:tcPr/>
                    </a:tc>
                    <a:tc>
                      <a:txBody>
                        <a:bodyPr/>
                        <a:lstStyle/>
                        <a:p>
                          <a:r>
                            <a:rPr lang="en-US" dirty="0"/>
                            <a:t>Cuts off after lag Qs</a:t>
                          </a:r>
                        </a:p>
                      </a:txBody>
                      <a:tcPr/>
                    </a:tc>
                    <a:tc>
                      <a:txBody>
                        <a:bodyPr/>
                        <a:lstStyle/>
                        <a:p>
                          <a:r>
                            <a:rPr lang="en-US" dirty="0"/>
                            <a:t>Tails off at lags k*s</a:t>
                          </a:r>
                        </a:p>
                      </a:txBody>
                      <a:tcPr/>
                    </a:tc>
                    <a:extLst>
                      <a:ext uri="{0D108BD9-81ED-4DB2-BD59-A6C34878D82A}">
                        <a16:rowId xmlns:a16="http://schemas.microsoft.com/office/drawing/2014/main" val="4073403105"/>
                      </a:ext>
                    </a:extLst>
                  </a:tr>
                  <a:tr h="1792212">
                    <a:tc>
                      <a:txBody>
                        <a:bodyPr/>
                        <a:lstStyle/>
                        <a:p>
                          <a:r>
                            <a:rPr lang="en-US" dirty="0"/>
                            <a:t>PACF* </a:t>
                          </a:r>
                        </a:p>
                        <a:p>
                          <a:endParaRPr lang="en-US" dirty="0"/>
                        </a:p>
                        <a:p>
                          <a:r>
                            <a:rPr lang="en-US" dirty="0"/>
                            <a:t>*</a:t>
                          </a:r>
                          <a:r>
                            <a:rPr lang="en-US" baseline="0" dirty="0"/>
                            <a:t> </a:t>
                          </a:r>
                          <a:r>
                            <a:rPr lang="en-US" dirty="0"/>
                            <a:t>The values at </a:t>
                          </a:r>
                          <a:r>
                            <a:rPr lang="en-US" dirty="0" err="1"/>
                            <a:t>nonseasonal</a:t>
                          </a:r>
                          <a:r>
                            <a:rPr lang="en-US" dirty="0"/>
                            <a:t> lags h</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k*s, for k = 1,</a:t>
                          </a:r>
                          <a:r>
                            <a:rPr lang="en-US" baseline="0" dirty="0"/>
                            <a:t> 2, …, are zer5o</a:t>
                          </a:r>
                          <a:endParaRPr lang="en-US" dirty="0"/>
                        </a:p>
                      </a:txBody>
                      <a:tcPr/>
                    </a:tc>
                    <a:tc>
                      <a:txBody>
                        <a:bodyPr/>
                        <a:lstStyle/>
                        <a:p>
                          <a:r>
                            <a:rPr lang="en-US" dirty="0"/>
                            <a:t>Cuts off after lag Ps</a:t>
                          </a:r>
                        </a:p>
                      </a:txBody>
                      <a:tcPr/>
                    </a:tc>
                    <a:tc>
                      <a:txBody>
                        <a:bodyPr/>
                        <a:lstStyle/>
                        <a:p>
                          <a:r>
                            <a:rPr lang="en-US" dirty="0"/>
                            <a:t>Tails off at lags k*s</a:t>
                          </a:r>
                        </a:p>
                        <a:p>
                          <a:r>
                            <a:rPr lang="en-US" dirty="0"/>
                            <a:t>k = 1, 2, ….., </a:t>
                          </a:r>
                        </a:p>
                      </a:txBody>
                      <a:tcPr/>
                    </a:tc>
                    <a:tc>
                      <a:txBody>
                        <a:bodyPr/>
                        <a:lstStyle/>
                        <a:p>
                          <a:r>
                            <a:rPr lang="en-US" dirty="0"/>
                            <a:t>Tails off at lags k*s</a:t>
                          </a:r>
                        </a:p>
                      </a:txBody>
                      <a:tcPr/>
                    </a:tc>
                    <a:extLst>
                      <a:ext uri="{0D108BD9-81ED-4DB2-BD59-A6C34878D82A}">
                        <a16:rowId xmlns:a16="http://schemas.microsoft.com/office/drawing/2014/main" val="2957568407"/>
                      </a:ext>
                    </a:extLst>
                  </a:tr>
                </a:tbl>
              </a:graphicData>
            </a:graphic>
          </p:graphicFrame>
        </mc:Choice>
        <mc:Fallback xmlns="">
          <p:graphicFrame>
            <p:nvGraphicFramePr>
              <p:cNvPr id="4" name="Content Placeholder 3">
                <a:extLst>
                  <a:ext uri="{FF2B5EF4-FFF2-40B4-BE49-F238E27FC236}">
                    <a16:creationId xmlns:a16="http://schemas.microsoft.com/office/drawing/2014/main" id="{B19D7DDD-533A-2943-A6BB-D03DA2DFD2D7}"/>
                  </a:ext>
                </a:extLst>
              </p:cNvPr>
              <p:cNvGraphicFramePr>
                <a:graphicFrameLocks noGrp="1"/>
              </p:cNvGraphicFramePr>
              <p:nvPr>
                <p:ph idx="1"/>
                <p:extLst>
                  <p:ext uri="{D42A27DB-BD31-4B8C-83A1-F6EECF244321}">
                    <p14:modId xmlns:p14="http://schemas.microsoft.com/office/powerpoint/2010/main" val="449792979"/>
                  </p:ext>
                </p:extLst>
              </p:nvPr>
            </p:nvGraphicFramePr>
            <p:xfrm>
              <a:off x="838200" y="1728943"/>
              <a:ext cx="10803676" cy="4091994"/>
            </p:xfrm>
            <a:graphic>
              <a:graphicData uri="http://schemas.openxmlformats.org/drawingml/2006/table">
                <a:tbl>
                  <a:tblPr firstRow="1" bandRow="1">
                    <a:tableStyleId>{5940675A-B579-460E-94D1-54222C63F5DA}</a:tableStyleId>
                  </a:tblPr>
                  <a:tblGrid>
                    <a:gridCol w="2700919">
                      <a:extLst>
                        <a:ext uri="{9D8B030D-6E8A-4147-A177-3AD203B41FA5}">
                          <a16:colId xmlns:a16="http://schemas.microsoft.com/office/drawing/2014/main" val="3975515089"/>
                        </a:ext>
                      </a:extLst>
                    </a:gridCol>
                    <a:gridCol w="2700919">
                      <a:extLst>
                        <a:ext uri="{9D8B030D-6E8A-4147-A177-3AD203B41FA5}">
                          <a16:colId xmlns:a16="http://schemas.microsoft.com/office/drawing/2014/main" val="2650825915"/>
                        </a:ext>
                      </a:extLst>
                    </a:gridCol>
                    <a:gridCol w="2700919">
                      <a:extLst>
                        <a:ext uri="{9D8B030D-6E8A-4147-A177-3AD203B41FA5}">
                          <a16:colId xmlns:a16="http://schemas.microsoft.com/office/drawing/2014/main" val="542727848"/>
                        </a:ext>
                      </a:extLst>
                    </a:gridCol>
                    <a:gridCol w="2700919">
                      <a:extLst>
                        <a:ext uri="{9D8B030D-6E8A-4147-A177-3AD203B41FA5}">
                          <a16:colId xmlns:a16="http://schemas.microsoft.com/office/drawing/2014/main" val="2207708316"/>
                        </a:ext>
                      </a:extLst>
                    </a:gridCol>
                  </a:tblGrid>
                  <a:tr h="843639">
                    <a:tc>
                      <a:txBody>
                        <a:bodyPr/>
                        <a:lstStyle/>
                        <a:p>
                          <a:endParaRPr lang="en-US" dirty="0"/>
                        </a:p>
                      </a:txBody>
                      <a:tcPr/>
                    </a:tc>
                    <a:tc>
                      <a:txBody>
                        <a:bodyPr/>
                        <a:lstStyle/>
                        <a:p>
                          <a:r>
                            <a:rPr lang="en-US" dirty="0"/>
                            <a:t>AR(P)s</a:t>
                          </a:r>
                        </a:p>
                      </a:txBody>
                      <a:tcPr/>
                    </a:tc>
                    <a:tc>
                      <a:txBody>
                        <a:bodyPr/>
                        <a:lstStyle/>
                        <a:p>
                          <a:r>
                            <a:rPr lang="en-US" dirty="0"/>
                            <a:t>MA(Q)s</a:t>
                          </a:r>
                        </a:p>
                      </a:txBody>
                      <a:tcPr/>
                    </a:tc>
                    <a:tc>
                      <a:txBody>
                        <a:bodyPr/>
                        <a:lstStyle/>
                        <a:p>
                          <a:r>
                            <a:rPr lang="en-US" dirty="0"/>
                            <a:t>ARMA(P,Q)s</a:t>
                          </a:r>
                        </a:p>
                      </a:txBody>
                      <a:tcPr/>
                    </a:tc>
                    <a:extLst>
                      <a:ext uri="{0D108BD9-81ED-4DB2-BD59-A6C34878D82A}">
                        <a16:rowId xmlns:a16="http://schemas.microsoft.com/office/drawing/2014/main" val="184565468"/>
                      </a:ext>
                    </a:extLst>
                  </a:tr>
                  <a:tr h="1456143">
                    <a:tc>
                      <a:txBody>
                        <a:bodyPr/>
                        <a:lstStyle/>
                        <a:p>
                          <a:r>
                            <a:rPr lang="en-US" dirty="0"/>
                            <a:t>ACF*</a:t>
                          </a:r>
                        </a:p>
                      </a:txBody>
                      <a:tcPr/>
                    </a:tc>
                    <a:tc>
                      <a:txBody>
                        <a:bodyPr/>
                        <a:lstStyle/>
                        <a:p>
                          <a:r>
                            <a:rPr lang="en-US" dirty="0"/>
                            <a:t>Tails off at lags k*s</a:t>
                          </a:r>
                        </a:p>
                        <a:p>
                          <a:r>
                            <a:rPr lang="en-US" dirty="0"/>
                            <a:t>k = 1, 2, ….., </a:t>
                          </a:r>
                        </a:p>
                      </a:txBody>
                      <a:tcPr/>
                    </a:tc>
                    <a:tc>
                      <a:txBody>
                        <a:bodyPr/>
                        <a:lstStyle/>
                        <a:p>
                          <a:r>
                            <a:rPr lang="en-US" dirty="0"/>
                            <a:t>Cuts off after lag Qs</a:t>
                          </a:r>
                        </a:p>
                      </a:txBody>
                      <a:tcPr/>
                    </a:tc>
                    <a:tc>
                      <a:txBody>
                        <a:bodyPr/>
                        <a:lstStyle/>
                        <a:p>
                          <a:r>
                            <a:rPr lang="en-US" dirty="0"/>
                            <a:t>Tails off at lags k*s</a:t>
                          </a:r>
                        </a:p>
                      </a:txBody>
                      <a:tcPr/>
                    </a:tc>
                    <a:extLst>
                      <a:ext uri="{0D108BD9-81ED-4DB2-BD59-A6C34878D82A}">
                        <a16:rowId xmlns:a16="http://schemas.microsoft.com/office/drawing/2014/main" val="4073403105"/>
                      </a:ext>
                    </a:extLst>
                  </a:tr>
                  <a:tr h="1792212">
                    <a:tc>
                      <a:txBody>
                        <a:bodyPr/>
                        <a:lstStyle/>
                        <a:p>
                          <a:endParaRPr lang="en-US"/>
                        </a:p>
                      </a:txBody>
                      <a:tcPr>
                        <a:blipFill>
                          <a:blip r:embed="rId2"/>
                          <a:stretch>
                            <a:fillRect l="-469" t="-131206" r="-299531"/>
                          </a:stretch>
                        </a:blipFill>
                      </a:tcPr>
                    </a:tc>
                    <a:tc>
                      <a:txBody>
                        <a:bodyPr/>
                        <a:lstStyle/>
                        <a:p>
                          <a:r>
                            <a:rPr lang="en-US" dirty="0"/>
                            <a:t>Cuts off after lag Ps</a:t>
                          </a:r>
                        </a:p>
                      </a:txBody>
                      <a:tcPr/>
                    </a:tc>
                    <a:tc>
                      <a:txBody>
                        <a:bodyPr/>
                        <a:lstStyle/>
                        <a:p>
                          <a:r>
                            <a:rPr lang="en-US" dirty="0"/>
                            <a:t>Tails off at lags k*s</a:t>
                          </a:r>
                        </a:p>
                        <a:p>
                          <a:r>
                            <a:rPr lang="en-US" dirty="0"/>
                            <a:t>k = 1, 2, ….., </a:t>
                          </a:r>
                        </a:p>
                      </a:txBody>
                      <a:tcPr/>
                    </a:tc>
                    <a:tc>
                      <a:txBody>
                        <a:bodyPr/>
                        <a:lstStyle/>
                        <a:p>
                          <a:r>
                            <a:rPr lang="en-US" dirty="0"/>
                            <a:t>Tails off at lags k*s</a:t>
                          </a:r>
                        </a:p>
                      </a:txBody>
                      <a:tcPr/>
                    </a:tc>
                    <a:extLst>
                      <a:ext uri="{0D108BD9-81ED-4DB2-BD59-A6C34878D82A}">
                        <a16:rowId xmlns:a16="http://schemas.microsoft.com/office/drawing/2014/main" val="2957568407"/>
                      </a:ext>
                    </a:extLst>
                  </a:tr>
                </a:tbl>
              </a:graphicData>
            </a:graphic>
          </p:graphicFrame>
        </mc:Fallback>
      </mc:AlternateContent>
    </p:spTree>
    <p:extLst>
      <p:ext uri="{BB962C8B-B14F-4D97-AF65-F5344CB8AC3E}">
        <p14:creationId xmlns:p14="http://schemas.microsoft.com/office/powerpoint/2010/main" val="2706828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319B6D-C25D-6C4B-8A02-9D46861F2F20}"/>
              </a:ext>
            </a:extLst>
          </p:cNvPr>
          <p:cNvPicPr>
            <a:picLocks noChangeAspect="1"/>
          </p:cNvPicPr>
          <p:nvPr/>
        </p:nvPicPr>
        <p:blipFill>
          <a:blip r:embed="rId2"/>
          <a:stretch>
            <a:fillRect/>
          </a:stretch>
        </p:blipFill>
        <p:spPr>
          <a:xfrm>
            <a:off x="1143000" y="704850"/>
            <a:ext cx="9906000" cy="5448300"/>
          </a:xfrm>
          <a:prstGeom prst="rect">
            <a:avLst/>
          </a:prstGeom>
        </p:spPr>
      </p:pic>
    </p:spTree>
    <p:extLst>
      <p:ext uri="{BB962C8B-B14F-4D97-AF65-F5344CB8AC3E}">
        <p14:creationId xmlns:p14="http://schemas.microsoft.com/office/powerpoint/2010/main" val="2014761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89E151-DCDD-554C-AAB3-13D6A08956EF}"/>
              </a:ext>
            </a:extLst>
          </p:cNvPr>
          <p:cNvSpPr>
            <a:spLocks noGrp="1"/>
          </p:cNvSpPr>
          <p:nvPr>
            <p:ph idx="1"/>
          </p:nvPr>
        </p:nvSpPr>
        <p:spPr>
          <a:xfrm>
            <a:off x="838200" y="312234"/>
            <a:ext cx="10515600" cy="5864729"/>
          </a:xfrm>
        </p:spPr>
        <p:txBody>
          <a:bodyPr/>
          <a:lstStyle/>
          <a:p>
            <a:r>
              <a:rPr lang="en-US" dirty="0"/>
              <a:t>Normally the seasonal pattern will interact with the non-seasonal pattern in the data, complicating the identification of the model .  </a:t>
            </a:r>
          </a:p>
          <a:p>
            <a:pPr marL="0" indent="0">
              <a:buNone/>
            </a:pPr>
            <a:endParaRPr lang="en-US" dirty="0"/>
          </a:p>
        </p:txBody>
      </p:sp>
    </p:spTree>
    <p:extLst>
      <p:ext uri="{BB962C8B-B14F-4D97-AF65-F5344CB8AC3E}">
        <p14:creationId xmlns:p14="http://schemas.microsoft.com/office/powerpoint/2010/main" val="2819442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2CB22-F495-9041-AA4E-99279C25A67F}"/>
              </a:ext>
            </a:extLst>
          </p:cNvPr>
          <p:cNvSpPr>
            <a:spLocks noGrp="1"/>
          </p:cNvSpPr>
          <p:nvPr>
            <p:ph type="title"/>
          </p:nvPr>
        </p:nvSpPr>
        <p:spPr>
          <a:xfrm>
            <a:off x="838200" y="365125"/>
            <a:ext cx="10515600" cy="917265"/>
          </a:xfrm>
        </p:spPr>
        <p:txBody>
          <a:bodyPr>
            <a:normAutofit/>
          </a:bodyPr>
          <a:lstStyle/>
          <a:p>
            <a:pPr algn="ctr"/>
            <a:r>
              <a:rPr lang="en-US" sz="3200" dirty="0"/>
              <a:t>Invertibility and Stability of seasonal models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A9C646F-0B2D-BA4C-B039-280A80378214}"/>
                  </a:ext>
                </a:extLst>
              </p:cNvPr>
              <p:cNvSpPr>
                <a:spLocks noGrp="1"/>
              </p:cNvSpPr>
              <p:nvPr>
                <p:ph idx="1"/>
              </p:nvPr>
            </p:nvSpPr>
            <p:spPr>
              <a:xfrm>
                <a:off x="838200" y="1282390"/>
                <a:ext cx="10515600" cy="4894573"/>
              </a:xfrm>
            </p:spPr>
            <p:txBody>
              <a:bodyPr/>
              <a:lstStyle/>
              <a:p>
                <a:r>
                  <a:rPr lang="en-US" dirty="0"/>
                  <a:t>The roots of the polynomial in L has to be outside the unit circle: </a:t>
                </a:r>
              </a:p>
              <a:p>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l-GR" i="1">
                          <a:latin typeface="Cambria Math" panose="02040503050406030204" pitchFamily="18" charset="0"/>
                          <a:ea typeface="Cambria Math" panose="02040503050406030204" pitchFamily="18" charset="0"/>
                        </a:rPr>
                        <m:t>Φ</m:t>
                      </m:r>
                      <m:d>
                        <m:dPr>
                          <m:ctrlPr>
                            <a:rPr lang="el-GR" i="1">
                              <a:latin typeface="Cambria Math" panose="02040503050406030204" pitchFamily="18" charset="0"/>
                              <a:ea typeface="Cambria Math" panose="02040503050406030204" pitchFamily="18" charset="0"/>
                            </a:rPr>
                          </m:ctrlPr>
                        </m:dPr>
                        <m:e>
                          <m:sSup>
                            <m:sSupPr>
                              <m:ctrlPr>
                                <a:rPr lang="en-US" i="1" smtClean="0">
                                  <a:latin typeface="Cambria Math" panose="02040503050406030204" pitchFamily="18" charset="0"/>
                                </a:rPr>
                              </m:ctrlPr>
                            </m:sSupPr>
                            <m:e>
                              <m:r>
                                <a:rPr lang="en-US" i="1">
                                  <a:latin typeface="Cambria Math" panose="02040503050406030204" pitchFamily="18" charset="0"/>
                                </a:rPr>
                                <m:t>𝐿</m:t>
                              </m:r>
                            </m:e>
                            <m:sup>
                              <m:r>
                                <a:rPr lang="en-US" b="0" i="1" smtClean="0">
                                  <a:latin typeface="Cambria Math" panose="02040503050406030204" pitchFamily="18" charset="0"/>
                                </a:rPr>
                                <m:t>𝑠</m:t>
                              </m:r>
                            </m:sup>
                          </m:sSup>
                        </m:e>
                      </m:d>
                      <m:r>
                        <a:rPr lang="en-US" b="0" i="1" smtClean="0">
                          <a:latin typeface="Cambria Math" panose="02040503050406030204" pitchFamily="18" charset="0"/>
                        </a:rPr>
                        <m:t>=0</m:t>
                      </m:r>
                    </m:oMath>
                  </m:oMathPara>
                </a14:m>
                <a:endParaRPr lang="en-US" dirty="0"/>
              </a:p>
              <a:p>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l-GR" i="1" smtClean="0">
                          <a:latin typeface="Cambria Math" panose="02040503050406030204" pitchFamily="18" charset="0"/>
                          <a:ea typeface="Cambria Math" panose="02040503050406030204" pitchFamily="18" charset="0"/>
                        </a:rPr>
                        <m:t>Θ</m:t>
                      </m:r>
                      <m:d>
                        <m:dPr>
                          <m:ctrlPr>
                            <a:rPr lang="el-GR"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b="0" i="1" smtClean="0">
                                  <a:latin typeface="Cambria Math" panose="02040503050406030204" pitchFamily="18" charset="0"/>
                                </a:rPr>
                                <m:t>𝑠</m:t>
                              </m:r>
                            </m:sup>
                          </m:sSup>
                        </m:e>
                      </m:d>
                      <m:r>
                        <a:rPr lang="en-US" i="1">
                          <a:latin typeface="Cambria Math" panose="02040503050406030204" pitchFamily="18" charset="0"/>
                        </a:rPr>
                        <m:t>=0</m:t>
                      </m:r>
                    </m:oMath>
                  </m:oMathPara>
                </a14:m>
                <a:endParaRPr lang="en-US" dirty="0"/>
              </a:p>
              <a:p>
                <a:pPr marL="0" indent="0">
                  <a:buNone/>
                </a:pPr>
                <a:endParaRPr lang="en-US" dirty="0"/>
              </a:p>
              <a:p>
                <a:pPr marL="0" indent="0">
                  <a:buNone/>
                </a:pPr>
                <a:r>
                  <a:rPr lang="en-US" dirty="0"/>
                  <a:t>has to be outside the unit circle: </a:t>
                </a:r>
              </a:p>
              <a:p>
                <a:endParaRPr lang="en-US" dirty="0"/>
              </a:p>
              <a:p>
                <a:pPr marL="0" indent="0">
                  <a:buNone/>
                </a:pPr>
                <a:r>
                  <a:rPr lang="en-US" dirty="0"/>
                  <a:t>Check on STATA: </a:t>
                </a:r>
              </a:p>
              <a:p>
                <a:pPr marL="0" indent="0">
                  <a:buNone/>
                </a:pPr>
                <a:r>
                  <a:rPr lang="en-US" dirty="0" err="1"/>
                  <a:t>estat</a:t>
                </a:r>
                <a:r>
                  <a:rPr lang="en-US" dirty="0"/>
                  <a:t> </a:t>
                </a:r>
                <a:r>
                  <a:rPr lang="en-US" dirty="0" err="1"/>
                  <a:t>aroots</a:t>
                </a:r>
                <a:endParaRPr lang="en-US" dirty="0"/>
              </a:p>
            </p:txBody>
          </p:sp>
        </mc:Choice>
        <mc:Fallback xmlns="">
          <p:sp>
            <p:nvSpPr>
              <p:cNvPr id="3" name="Content Placeholder 2">
                <a:extLst>
                  <a:ext uri="{FF2B5EF4-FFF2-40B4-BE49-F238E27FC236}">
                    <a16:creationId xmlns:a16="http://schemas.microsoft.com/office/drawing/2014/main" id="{7A9C646F-0B2D-BA4C-B039-280A80378214}"/>
                  </a:ext>
                </a:extLst>
              </p:cNvPr>
              <p:cNvSpPr>
                <a:spLocks noGrp="1" noRot="1" noChangeAspect="1" noMove="1" noResize="1" noEditPoints="1" noAdjustHandles="1" noChangeArrowheads="1" noChangeShapeType="1" noTextEdit="1"/>
              </p:cNvSpPr>
              <p:nvPr>
                <p:ph idx="1"/>
              </p:nvPr>
            </p:nvSpPr>
            <p:spPr>
              <a:xfrm>
                <a:off x="838200" y="1282390"/>
                <a:ext cx="10515600" cy="4894573"/>
              </a:xfrm>
              <a:blipFill>
                <a:blip r:embed="rId2"/>
                <a:stretch>
                  <a:fillRect l="-1086" t="-2073" b="-1813"/>
                </a:stretch>
              </a:blipFill>
            </p:spPr>
            <p:txBody>
              <a:bodyPr/>
              <a:lstStyle/>
              <a:p>
                <a:r>
                  <a:rPr lang="en-US">
                    <a:noFill/>
                  </a:rPr>
                  <a:t> </a:t>
                </a:r>
              </a:p>
            </p:txBody>
          </p:sp>
        </mc:Fallback>
      </mc:AlternateContent>
    </p:spTree>
    <p:extLst>
      <p:ext uri="{BB962C8B-B14F-4D97-AF65-F5344CB8AC3E}">
        <p14:creationId xmlns:p14="http://schemas.microsoft.com/office/powerpoint/2010/main" val="4569926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10513</TotalTime>
  <Words>1027</Words>
  <Application>Microsoft Macintosh PowerPoint</Application>
  <PresentationFormat>Widescreen</PresentationFormat>
  <Paragraphs>141</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Cambria Math</vt:lpstr>
      <vt:lpstr>Office Theme</vt:lpstr>
      <vt:lpstr>Chapter 6: Seasonality</vt:lpstr>
      <vt:lpstr>PowerPoint Presentation</vt:lpstr>
      <vt:lpstr>PowerPoint Presentation</vt:lpstr>
      <vt:lpstr>PowerPoint Presentation</vt:lpstr>
      <vt:lpstr>PowerPoint Presentation</vt:lpstr>
      <vt:lpstr>PowerPoint Presentation</vt:lpstr>
      <vt:lpstr>Type of Seasonality: Stochastic and Deterministic</vt:lpstr>
      <vt:lpstr>Deterministic Seasonality</vt:lpstr>
      <vt:lpstr>Modeling Seasonal Data: additive seasonality</vt:lpstr>
      <vt:lpstr>Modeling Seasonal Data: SARIMA models</vt:lpstr>
      <vt:lpstr>MA Seasonality: additive and multiplicative</vt:lpstr>
      <vt:lpstr>SARIMA(P, D, Q) IDENTIFICATION: ACFs and PACFs</vt:lpstr>
      <vt:lpstr>PowerPoint Presentation</vt:lpstr>
      <vt:lpstr>PowerPoint Presentation</vt:lpstr>
      <vt:lpstr>SARIMA(P, D, Q) IDENTIFICATION: ACFs and PACFs</vt:lpstr>
      <vt:lpstr>Autocorrelation: Additive SMA(12)</vt:lpstr>
      <vt:lpstr>Partial Autocorrelation: Additive SMA(12)</vt:lpstr>
      <vt:lpstr>Autocorrelation: Multiplicative ARIMA(0,0,1)(0,0,12)</vt:lpstr>
      <vt:lpstr>Partial Autocorrelation: Multiplicative ARIMA(0,0,1)(0,0,12)</vt:lpstr>
      <vt:lpstr>Behavior of the ACF and PACF for pure SARIMA model</vt:lpstr>
      <vt:lpstr>PowerPoint Presentation</vt:lpstr>
      <vt:lpstr>PowerPoint Presentation</vt:lpstr>
      <vt:lpstr>Invertibility and Stability of seasonal models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Stationarity and Invertibility</dc:title>
  <dc:creator>Microsoft Office User</dc:creator>
  <cp:lastModifiedBy>Cati, Regina</cp:lastModifiedBy>
  <cp:revision>45</cp:revision>
  <cp:lastPrinted>2021-11-11T12:51:38Z</cp:lastPrinted>
  <dcterms:created xsi:type="dcterms:W3CDTF">2021-07-24T14:03:31Z</dcterms:created>
  <dcterms:modified xsi:type="dcterms:W3CDTF">2022-11-11T14:16:03Z</dcterms:modified>
</cp:coreProperties>
</file>
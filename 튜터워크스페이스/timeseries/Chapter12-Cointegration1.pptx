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307" r:id="rId3"/>
    <p:sldId id="329" r:id="rId4"/>
    <p:sldId id="338" r:id="rId5"/>
    <p:sldId id="339" r:id="rId6"/>
    <p:sldId id="340" r:id="rId7"/>
    <p:sldId id="357" r:id="rId8"/>
    <p:sldId id="362" r:id="rId9"/>
    <p:sldId id="358" r:id="rId10"/>
    <p:sldId id="359" r:id="rId11"/>
    <p:sldId id="258" r:id="rId12"/>
    <p:sldId id="360" r:id="rId13"/>
    <p:sldId id="331" r:id="rId14"/>
    <p:sldId id="361" r:id="rId15"/>
    <p:sldId id="355" r:id="rId16"/>
    <p:sldId id="260" r:id="rId17"/>
    <p:sldId id="261" r:id="rId18"/>
    <p:sldId id="332" r:id="rId19"/>
    <p:sldId id="262" r:id="rId20"/>
    <p:sldId id="263" r:id="rId21"/>
    <p:sldId id="333" r:id="rId22"/>
    <p:sldId id="343" r:id="rId23"/>
    <p:sldId id="264" r:id="rId24"/>
    <p:sldId id="342" r:id="rId25"/>
    <p:sldId id="334" r:id="rId26"/>
    <p:sldId id="346" r:id="rId27"/>
    <p:sldId id="348" r:id="rId28"/>
    <p:sldId id="349" r:id="rId29"/>
    <p:sldId id="336" r:id="rId30"/>
    <p:sldId id="337" r:id="rId31"/>
    <p:sldId id="356" r:id="rId32"/>
    <p:sldId id="352" r:id="rId33"/>
    <p:sldId id="350" r:id="rId34"/>
    <p:sldId id="353" r:id="rId35"/>
    <p:sldId id="35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60"/>
    <p:restoredTop sz="96006"/>
  </p:normalViewPr>
  <p:slideViewPr>
    <p:cSldViewPr snapToGrid="0" snapToObjects="1">
      <p:cViewPr varScale="1">
        <p:scale>
          <a:sx n="109" d="100"/>
          <a:sy n="109" d="100"/>
        </p:scale>
        <p:origin x="36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FB7-6CE5-8B4A-B4E1-ADC3BEE846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90604FF-5B4F-B047-A197-DA4FFB5FB3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C9BF50-9B89-E840-B7B1-AAA2749EE55E}"/>
              </a:ext>
            </a:extLst>
          </p:cNvPr>
          <p:cNvSpPr>
            <a:spLocks noGrp="1"/>
          </p:cNvSpPr>
          <p:nvPr>
            <p:ph type="dt" sz="half" idx="10"/>
          </p:nvPr>
        </p:nvSpPr>
        <p:spPr/>
        <p:txBody>
          <a:bodyPr/>
          <a:lstStyle/>
          <a:p>
            <a:fld id="{40E73421-A941-7D45-A8EE-08E71BC0E5B6}" type="datetimeFigureOut">
              <a:rPr lang="en-US" smtClean="0"/>
              <a:t>10/28/22</a:t>
            </a:fld>
            <a:endParaRPr lang="en-US" dirty="0"/>
          </a:p>
        </p:txBody>
      </p:sp>
      <p:sp>
        <p:nvSpPr>
          <p:cNvPr id="5" name="Footer Placeholder 4">
            <a:extLst>
              <a:ext uri="{FF2B5EF4-FFF2-40B4-BE49-F238E27FC236}">
                <a16:creationId xmlns:a16="http://schemas.microsoft.com/office/drawing/2014/main" id="{C8CC7773-CEE5-8D48-B712-8050E952BCF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007A2A3-9482-5B4D-97A8-18747674E5CA}"/>
              </a:ext>
            </a:extLst>
          </p:cNvPr>
          <p:cNvSpPr>
            <a:spLocks noGrp="1"/>
          </p:cNvSpPr>
          <p:nvPr>
            <p:ph type="sldNum" sz="quarter" idx="12"/>
          </p:nvPr>
        </p:nvSpPr>
        <p:spPr/>
        <p:txBody>
          <a:bodyPr/>
          <a:lstStyle/>
          <a:p>
            <a:fld id="{1DAB8607-0922-A845-8746-AABDC8AE6A8C}" type="slidenum">
              <a:rPr lang="en-US" smtClean="0"/>
              <a:t>‹#›</a:t>
            </a:fld>
            <a:endParaRPr lang="en-US" dirty="0"/>
          </a:p>
        </p:txBody>
      </p:sp>
    </p:spTree>
    <p:extLst>
      <p:ext uri="{BB962C8B-B14F-4D97-AF65-F5344CB8AC3E}">
        <p14:creationId xmlns:p14="http://schemas.microsoft.com/office/powerpoint/2010/main" val="765369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8107D-F0CB-F24E-A9C5-FCC27755EF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9BCE98-2C2A-E347-B869-AF539498394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FD8C11-7CBB-F04A-BE41-000191F1AC2D}"/>
              </a:ext>
            </a:extLst>
          </p:cNvPr>
          <p:cNvSpPr>
            <a:spLocks noGrp="1"/>
          </p:cNvSpPr>
          <p:nvPr>
            <p:ph type="dt" sz="half" idx="10"/>
          </p:nvPr>
        </p:nvSpPr>
        <p:spPr/>
        <p:txBody>
          <a:bodyPr/>
          <a:lstStyle/>
          <a:p>
            <a:fld id="{40E73421-A941-7D45-A8EE-08E71BC0E5B6}" type="datetimeFigureOut">
              <a:rPr lang="en-US" smtClean="0"/>
              <a:t>10/28/22</a:t>
            </a:fld>
            <a:endParaRPr lang="en-US" dirty="0"/>
          </a:p>
        </p:txBody>
      </p:sp>
      <p:sp>
        <p:nvSpPr>
          <p:cNvPr id="5" name="Footer Placeholder 4">
            <a:extLst>
              <a:ext uri="{FF2B5EF4-FFF2-40B4-BE49-F238E27FC236}">
                <a16:creationId xmlns:a16="http://schemas.microsoft.com/office/drawing/2014/main" id="{B5B9B9CA-44E7-274E-8087-AE9949A7E07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B8B2EAA-12BF-9740-BA14-B8A9508A0723}"/>
              </a:ext>
            </a:extLst>
          </p:cNvPr>
          <p:cNvSpPr>
            <a:spLocks noGrp="1"/>
          </p:cNvSpPr>
          <p:nvPr>
            <p:ph type="sldNum" sz="quarter" idx="12"/>
          </p:nvPr>
        </p:nvSpPr>
        <p:spPr/>
        <p:txBody>
          <a:bodyPr/>
          <a:lstStyle/>
          <a:p>
            <a:fld id="{1DAB8607-0922-A845-8746-AABDC8AE6A8C}" type="slidenum">
              <a:rPr lang="en-US" smtClean="0"/>
              <a:t>‹#›</a:t>
            </a:fld>
            <a:endParaRPr lang="en-US" dirty="0"/>
          </a:p>
        </p:txBody>
      </p:sp>
    </p:spTree>
    <p:extLst>
      <p:ext uri="{BB962C8B-B14F-4D97-AF65-F5344CB8AC3E}">
        <p14:creationId xmlns:p14="http://schemas.microsoft.com/office/powerpoint/2010/main" val="474111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41E7-FBCB-A344-847C-D66F7FD8C3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D8C465F-F1B4-6343-8C67-CE651A44A4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0E2B470-0607-E847-9EFD-8DFC3BBD3F13}"/>
              </a:ext>
            </a:extLst>
          </p:cNvPr>
          <p:cNvSpPr>
            <a:spLocks noGrp="1"/>
          </p:cNvSpPr>
          <p:nvPr>
            <p:ph type="dt" sz="half" idx="10"/>
          </p:nvPr>
        </p:nvSpPr>
        <p:spPr/>
        <p:txBody>
          <a:bodyPr/>
          <a:lstStyle/>
          <a:p>
            <a:fld id="{40E73421-A941-7D45-A8EE-08E71BC0E5B6}" type="datetimeFigureOut">
              <a:rPr lang="en-US" smtClean="0"/>
              <a:t>10/28/22</a:t>
            </a:fld>
            <a:endParaRPr lang="en-US" dirty="0"/>
          </a:p>
        </p:txBody>
      </p:sp>
      <p:sp>
        <p:nvSpPr>
          <p:cNvPr id="5" name="Footer Placeholder 4">
            <a:extLst>
              <a:ext uri="{FF2B5EF4-FFF2-40B4-BE49-F238E27FC236}">
                <a16:creationId xmlns:a16="http://schemas.microsoft.com/office/drawing/2014/main" id="{2297C0FF-6E27-EE4F-8E2B-FC5C42D05D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0C11900-3384-C54F-87B5-26EA131D4D3D}"/>
              </a:ext>
            </a:extLst>
          </p:cNvPr>
          <p:cNvSpPr>
            <a:spLocks noGrp="1"/>
          </p:cNvSpPr>
          <p:nvPr>
            <p:ph type="sldNum" sz="quarter" idx="12"/>
          </p:nvPr>
        </p:nvSpPr>
        <p:spPr/>
        <p:txBody>
          <a:bodyPr/>
          <a:lstStyle/>
          <a:p>
            <a:fld id="{1DAB8607-0922-A845-8746-AABDC8AE6A8C}" type="slidenum">
              <a:rPr lang="en-US" smtClean="0"/>
              <a:t>‹#›</a:t>
            </a:fld>
            <a:endParaRPr lang="en-US" dirty="0"/>
          </a:p>
        </p:txBody>
      </p:sp>
    </p:spTree>
    <p:extLst>
      <p:ext uri="{BB962C8B-B14F-4D97-AF65-F5344CB8AC3E}">
        <p14:creationId xmlns:p14="http://schemas.microsoft.com/office/powerpoint/2010/main" val="4215569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BC79B-65E1-9641-B28C-694CA4C4C4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0B857B-77DA-274C-A979-8B5A5004B1B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B510036-590C-6D46-83C6-45A92915A5D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A06BCB-6AC2-084A-8397-F2DA11A9184B}"/>
              </a:ext>
            </a:extLst>
          </p:cNvPr>
          <p:cNvSpPr>
            <a:spLocks noGrp="1"/>
          </p:cNvSpPr>
          <p:nvPr>
            <p:ph type="dt" sz="half" idx="10"/>
          </p:nvPr>
        </p:nvSpPr>
        <p:spPr/>
        <p:txBody>
          <a:bodyPr/>
          <a:lstStyle/>
          <a:p>
            <a:fld id="{40E73421-A941-7D45-A8EE-08E71BC0E5B6}" type="datetimeFigureOut">
              <a:rPr lang="en-US" smtClean="0"/>
              <a:t>10/28/22</a:t>
            </a:fld>
            <a:endParaRPr lang="en-US" dirty="0"/>
          </a:p>
        </p:txBody>
      </p:sp>
      <p:sp>
        <p:nvSpPr>
          <p:cNvPr id="6" name="Footer Placeholder 5">
            <a:extLst>
              <a:ext uri="{FF2B5EF4-FFF2-40B4-BE49-F238E27FC236}">
                <a16:creationId xmlns:a16="http://schemas.microsoft.com/office/drawing/2014/main" id="{17AB2A85-3DDA-B141-B049-024D915C994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0E45890-F40B-4F4D-BD61-FC361AFB611F}"/>
              </a:ext>
            </a:extLst>
          </p:cNvPr>
          <p:cNvSpPr>
            <a:spLocks noGrp="1"/>
          </p:cNvSpPr>
          <p:nvPr>
            <p:ph type="sldNum" sz="quarter" idx="12"/>
          </p:nvPr>
        </p:nvSpPr>
        <p:spPr/>
        <p:txBody>
          <a:bodyPr/>
          <a:lstStyle/>
          <a:p>
            <a:fld id="{1DAB8607-0922-A845-8746-AABDC8AE6A8C}" type="slidenum">
              <a:rPr lang="en-US" smtClean="0"/>
              <a:t>‹#›</a:t>
            </a:fld>
            <a:endParaRPr lang="en-US" dirty="0"/>
          </a:p>
        </p:txBody>
      </p:sp>
    </p:spTree>
    <p:extLst>
      <p:ext uri="{BB962C8B-B14F-4D97-AF65-F5344CB8AC3E}">
        <p14:creationId xmlns:p14="http://schemas.microsoft.com/office/powerpoint/2010/main" val="97177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1A8D2-32D0-124A-84E5-59B9D8C1BDD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2D54BDF-3D0F-7746-B1AF-A6FEF592B2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FAC5175-BA31-394F-ACC1-4FC17DD1CF6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60C2A3-2BEC-CB43-97B6-A29FA4AC7F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5851EEB-7557-BF44-9024-D19FA154C52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74A9DF-305E-7440-954E-3D1C050E1D49}"/>
              </a:ext>
            </a:extLst>
          </p:cNvPr>
          <p:cNvSpPr>
            <a:spLocks noGrp="1"/>
          </p:cNvSpPr>
          <p:nvPr>
            <p:ph type="dt" sz="half" idx="10"/>
          </p:nvPr>
        </p:nvSpPr>
        <p:spPr/>
        <p:txBody>
          <a:bodyPr/>
          <a:lstStyle/>
          <a:p>
            <a:fld id="{40E73421-A941-7D45-A8EE-08E71BC0E5B6}" type="datetimeFigureOut">
              <a:rPr lang="en-US" smtClean="0"/>
              <a:t>10/28/22</a:t>
            </a:fld>
            <a:endParaRPr lang="en-US" dirty="0"/>
          </a:p>
        </p:txBody>
      </p:sp>
      <p:sp>
        <p:nvSpPr>
          <p:cNvPr id="8" name="Footer Placeholder 7">
            <a:extLst>
              <a:ext uri="{FF2B5EF4-FFF2-40B4-BE49-F238E27FC236}">
                <a16:creationId xmlns:a16="http://schemas.microsoft.com/office/drawing/2014/main" id="{CC84267A-B880-5D47-8542-05C30DE4215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0B277C6-42F7-6148-9ECD-2DA905F08689}"/>
              </a:ext>
            </a:extLst>
          </p:cNvPr>
          <p:cNvSpPr>
            <a:spLocks noGrp="1"/>
          </p:cNvSpPr>
          <p:nvPr>
            <p:ph type="sldNum" sz="quarter" idx="12"/>
          </p:nvPr>
        </p:nvSpPr>
        <p:spPr/>
        <p:txBody>
          <a:bodyPr/>
          <a:lstStyle/>
          <a:p>
            <a:fld id="{1DAB8607-0922-A845-8746-AABDC8AE6A8C}" type="slidenum">
              <a:rPr lang="en-US" smtClean="0"/>
              <a:t>‹#›</a:t>
            </a:fld>
            <a:endParaRPr lang="en-US" dirty="0"/>
          </a:p>
        </p:txBody>
      </p:sp>
    </p:spTree>
    <p:extLst>
      <p:ext uri="{BB962C8B-B14F-4D97-AF65-F5344CB8AC3E}">
        <p14:creationId xmlns:p14="http://schemas.microsoft.com/office/powerpoint/2010/main" val="3465617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86BFB-241C-1B4A-A288-CB856D6FE7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848B9F-C134-7748-8C60-EF2D18E426B4}"/>
              </a:ext>
            </a:extLst>
          </p:cNvPr>
          <p:cNvSpPr>
            <a:spLocks noGrp="1"/>
          </p:cNvSpPr>
          <p:nvPr>
            <p:ph type="dt" sz="half" idx="10"/>
          </p:nvPr>
        </p:nvSpPr>
        <p:spPr/>
        <p:txBody>
          <a:bodyPr/>
          <a:lstStyle/>
          <a:p>
            <a:fld id="{40E73421-A941-7D45-A8EE-08E71BC0E5B6}" type="datetimeFigureOut">
              <a:rPr lang="en-US" smtClean="0"/>
              <a:t>10/28/22</a:t>
            </a:fld>
            <a:endParaRPr lang="en-US" dirty="0"/>
          </a:p>
        </p:txBody>
      </p:sp>
      <p:sp>
        <p:nvSpPr>
          <p:cNvPr id="4" name="Footer Placeholder 3">
            <a:extLst>
              <a:ext uri="{FF2B5EF4-FFF2-40B4-BE49-F238E27FC236}">
                <a16:creationId xmlns:a16="http://schemas.microsoft.com/office/drawing/2014/main" id="{BE8557FF-DC40-A540-B583-03BF401101E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391A8C6-13CC-D649-A2C6-9BDB58D77FC7}"/>
              </a:ext>
            </a:extLst>
          </p:cNvPr>
          <p:cNvSpPr>
            <a:spLocks noGrp="1"/>
          </p:cNvSpPr>
          <p:nvPr>
            <p:ph type="sldNum" sz="quarter" idx="12"/>
          </p:nvPr>
        </p:nvSpPr>
        <p:spPr/>
        <p:txBody>
          <a:bodyPr/>
          <a:lstStyle/>
          <a:p>
            <a:fld id="{1DAB8607-0922-A845-8746-AABDC8AE6A8C}" type="slidenum">
              <a:rPr lang="en-US" smtClean="0"/>
              <a:t>‹#›</a:t>
            </a:fld>
            <a:endParaRPr lang="en-US" dirty="0"/>
          </a:p>
        </p:txBody>
      </p:sp>
    </p:spTree>
    <p:extLst>
      <p:ext uri="{BB962C8B-B14F-4D97-AF65-F5344CB8AC3E}">
        <p14:creationId xmlns:p14="http://schemas.microsoft.com/office/powerpoint/2010/main" val="3262888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FA27EF-4F84-3B45-85B3-D99C6074A7AE}"/>
              </a:ext>
            </a:extLst>
          </p:cNvPr>
          <p:cNvSpPr>
            <a:spLocks noGrp="1"/>
          </p:cNvSpPr>
          <p:nvPr>
            <p:ph type="dt" sz="half" idx="10"/>
          </p:nvPr>
        </p:nvSpPr>
        <p:spPr/>
        <p:txBody>
          <a:bodyPr/>
          <a:lstStyle/>
          <a:p>
            <a:fld id="{40E73421-A941-7D45-A8EE-08E71BC0E5B6}" type="datetimeFigureOut">
              <a:rPr lang="en-US" smtClean="0"/>
              <a:t>10/28/22</a:t>
            </a:fld>
            <a:endParaRPr lang="en-US" dirty="0"/>
          </a:p>
        </p:txBody>
      </p:sp>
      <p:sp>
        <p:nvSpPr>
          <p:cNvPr id="3" name="Footer Placeholder 2">
            <a:extLst>
              <a:ext uri="{FF2B5EF4-FFF2-40B4-BE49-F238E27FC236}">
                <a16:creationId xmlns:a16="http://schemas.microsoft.com/office/drawing/2014/main" id="{F7DF0247-F13D-5746-B249-BEC5CB22738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DA80BA3-BB02-D941-A91B-DE612A58C02D}"/>
              </a:ext>
            </a:extLst>
          </p:cNvPr>
          <p:cNvSpPr>
            <a:spLocks noGrp="1"/>
          </p:cNvSpPr>
          <p:nvPr>
            <p:ph type="sldNum" sz="quarter" idx="12"/>
          </p:nvPr>
        </p:nvSpPr>
        <p:spPr/>
        <p:txBody>
          <a:bodyPr/>
          <a:lstStyle/>
          <a:p>
            <a:fld id="{1DAB8607-0922-A845-8746-AABDC8AE6A8C}" type="slidenum">
              <a:rPr lang="en-US" smtClean="0"/>
              <a:t>‹#›</a:t>
            </a:fld>
            <a:endParaRPr lang="en-US" dirty="0"/>
          </a:p>
        </p:txBody>
      </p:sp>
    </p:spTree>
    <p:extLst>
      <p:ext uri="{BB962C8B-B14F-4D97-AF65-F5344CB8AC3E}">
        <p14:creationId xmlns:p14="http://schemas.microsoft.com/office/powerpoint/2010/main" val="2998895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3CF0B-34B6-2D43-9146-410F3E0A2A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474937A-DAEE-EE4B-9141-9A2BA0D1BC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A595BAF-4F47-A14D-A393-8A9AD364C1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5BA2A4D-B34A-704D-A700-14970AF9296E}"/>
              </a:ext>
            </a:extLst>
          </p:cNvPr>
          <p:cNvSpPr>
            <a:spLocks noGrp="1"/>
          </p:cNvSpPr>
          <p:nvPr>
            <p:ph type="dt" sz="half" idx="10"/>
          </p:nvPr>
        </p:nvSpPr>
        <p:spPr/>
        <p:txBody>
          <a:bodyPr/>
          <a:lstStyle/>
          <a:p>
            <a:fld id="{40E73421-A941-7D45-A8EE-08E71BC0E5B6}" type="datetimeFigureOut">
              <a:rPr lang="en-US" smtClean="0"/>
              <a:t>10/28/22</a:t>
            </a:fld>
            <a:endParaRPr lang="en-US" dirty="0"/>
          </a:p>
        </p:txBody>
      </p:sp>
      <p:sp>
        <p:nvSpPr>
          <p:cNvPr id="6" name="Footer Placeholder 5">
            <a:extLst>
              <a:ext uri="{FF2B5EF4-FFF2-40B4-BE49-F238E27FC236}">
                <a16:creationId xmlns:a16="http://schemas.microsoft.com/office/drawing/2014/main" id="{6F610593-2348-2C42-A822-0AB8A7EDAF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18008E5-751E-B94A-8669-1217B2A4CF5E}"/>
              </a:ext>
            </a:extLst>
          </p:cNvPr>
          <p:cNvSpPr>
            <a:spLocks noGrp="1"/>
          </p:cNvSpPr>
          <p:nvPr>
            <p:ph type="sldNum" sz="quarter" idx="12"/>
          </p:nvPr>
        </p:nvSpPr>
        <p:spPr/>
        <p:txBody>
          <a:bodyPr/>
          <a:lstStyle/>
          <a:p>
            <a:fld id="{1DAB8607-0922-A845-8746-AABDC8AE6A8C}" type="slidenum">
              <a:rPr lang="en-US" smtClean="0"/>
              <a:t>‹#›</a:t>
            </a:fld>
            <a:endParaRPr lang="en-US" dirty="0"/>
          </a:p>
        </p:txBody>
      </p:sp>
    </p:spTree>
    <p:extLst>
      <p:ext uri="{BB962C8B-B14F-4D97-AF65-F5344CB8AC3E}">
        <p14:creationId xmlns:p14="http://schemas.microsoft.com/office/powerpoint/2010/main" val="2984995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8CB8F-1509-D94A-B212-E479994E54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1B427E-C156-174C-9D89-56D604C243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0FFE7E23-A5A3-3D42-8BE7-3E6D7FF5B6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9D7BC46-465D-784C-A48D-031244FB1463}"/>
              </a:ext>
            </a:extLst>
          </p:cNvPr>
          <p:cNvSpPr>
            <a:spLocks noGrp="1"/>
          </p:cNvSpPr>
          <p:nvPr>
            <p:ph type="dt" sz="half" idx="10"/>
          </p:nvPr>
        </p:nvSpPr>
        <p:spPr/>
        <p:txBody>
          <a:bodyPr/>
          <a:lstStyle/>
          <a:p>
            <a:fld id="{40E73421-A941-7D45-A8EE-08E71BC0E5B6}" type="datetimeFigureOut">
              <a:rPr lang="en-US" smtClean="0"/>
              <a:t>10/28/22</a:t>
            </a:fld>
            <a:endParaRPr lang="en-US" dirty="0"/>
          </a:p>
        </p:txBody>
      </p:sp>
      <p:sp>
        <p:nvSpPr>
          <p:cNvPr id="6" name="Footer Placeholder 5">
            <a:extLst>
              <a:ext uri="{FF2B5EF4-FFF2-40B4-BE49-F238E27FC236}">
                <a16:creationId xmlns:a16="http://schemas.microsoft.com/office/drawing/2014/main" id="{D8CB92FE-9269-224B-B42F-4FE473A9B8C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F10C775-A7E3-9844-BC57-BCFB16C41A18}"/>
              </a:ext>
            </a:extLst>
          </p:cNvPr>
          <p:cNvSpPr>
            <a:spLocks noGrp="1"/>
          </p:cNvSpPr>
          <p:nvPr>
            <p:ph type="sldNum" sz="quarter" idx="12"/>
          </p:nvPr>
        </p:nvSpPr>
        <p:spPr/>
        <p:txBody>
          <a:bodyPr/>
          <a:lstStyle/>
          <a:p>
            <a:fld id="{1DAB8607-0922-A845-8746-AABDC8AE6A8C}" type="slidenum">
              <a:rPr lang="en-US" smtClean="0"/>
              <a:t>‹#›</a:t>
            </a:fld>
            <a:endParaRPr lang="en-US" dirty="0"/>
          </a:p>
        </p:txBody>
      </p:sp>
    </p:spTree>
    <p:extLst>
      <p:ext uri="{BB962C8B-B14F-4D97-AF65-F5344CB8AC3E}">
        <p14:creationId xmlns:p14="http://schemas.microsoft.com/office/powerpoint/2010/main" val="3959894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515E6-0157-D748-8A0A-D95F7DBF747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5B56C0-6F81-C04F-9608-259EC66D9CA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0FE4A3-5890-0644-99DF-40ACF44C28C9}"/>
              </a:ext>
            </a:extLst>
          </p:cNvPr>
          <p:cNvSpPr>
            <a:spLocks noGrp="1"/>
          </p:cNvSpPr>
          <p:nvPr>
            <p:ph type="dt" sz="half" idx="10"/>
          </p:nvPr>
        </p:nvSpPr>
        <p:spPr/>
        <p:txBody>
          <a:bodyPr/>
          <a:lstStyle/>
          <a:p>
            <a:fld id="{40E73421-A941-7D45-A8EE-08E71BC0E5B6}" type="datetimeFigureOut">
              <a:rPr lang="en-US" smtClean="0"/>
              <a:t>10/28/22</a:t>
            </a:fld>
            <a:endParaRPr lang="en-US" dirty="0"/>
          </a:p>
        </p:txBody>
      </p:sp>
      <p:sp>
        <p:nvSpPr>
          <p:cNvPr id="5" name="Footer Placeholder 4">
            <a:extLst>
              <a:ext uri="{FF2B5EF4-FFF2-40B4-BE49-F238E27FC236}">
                <a16:creationId xmlns:a16="http://schemas.microsoft.com/office/drawing/2014/main" id="{A49CBBA2-D4E9-DE49-89BA-CA446FE578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B861947-6004-9A4B-B60C-D28A80BEE396}"/>
              </a:ext>
            </a:extLst>
          </p:cNvPr>
          <p:cNvSpPr>
            <a:spLocks noGrp="1"/>
          </p:cNvSpPr>
          <p:nvPr>
            <p:ph type="sldNum" sz="quarter" idx="12"/>
          </p:nvPr>
        </p:nvSpPr>
        <p:spPr/>
        <p:txBody>
          <a:bodyPr/>
          <a:lstStyle/>
          <a:p>
            <a:fld id="{1DAB8607-0922-A845-8746-AABDC8AE6A8C}" type="slidenum">
              <a:rPr lang="en-US" smtClean="0"/>
              <a:t>‹#›</a:t>
            </a:fld>
            <a:endParaRPr lang="en-US" dirty="0"/>
          </a:p>
        </p:txBody>
      </p:sp>
    </p:spTree>
    <p:extLst>
      <p:ext uri="{BB962C8B-B14F-4D97-AF65-F5344CB8AC3E}">
        <p14:creationId xmlns:p14="http://schemas.microsoft.com/office/powerpoint/2010/main" val="176908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C9382A-AEB9-D84A-99E2-37049C22CF8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331028A-091B-504C-B4FB-F5BF8B71CF3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4E0A65-8DBE-7245-89A6-8C740EB86CD5}"/>
              </a:ext>
            </a:extLst>
          </p:cNvPr>
          <p:cNvSpPr>
            <a:spLocks noGrp="1"/>
          </p:cNvSpPr>
          <p:nvPr>
            <p:ph type="dt" sz="half" idx="10"/>
          </p:nvPr>
        </p:nvSpPr>
        <p:spPr/>
        <p:txBody>
          <a:bodyPr/>
          <a:lstStyle/>
          <a:p>
            <a:fld id="{40E73421-A941-7D45-A8EE-08E71BC0E5B6}" type="datetimeFigureOut">
              <a:rPr lang="en-US" smtClean="0"/>
              <a:t>10/28/22</a:t>
            </a:fld>
            <a:endParaRPr lang="en-US" dirty="0"/>
          </a:p>
        </p:txBody>
      </p:sp>
      <p:sp>
        <p:nvSpPr>
          <p:cNvPr id="5" name="Footer Placeholder 4">
            <a:extLst>
              <a:ext uri="{FF2B5EF4-FFF2-40B4-BE49-F238E27FC236}">
                <a16:creationId xmlns:a16="http://schemas.microsoft.com/office/drawing/2014/main" id="{3C30D2EC-7391-EF47-A8C5-A43B3B76B18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7840CB7-8619-2149-A8BF-8F48C8CD8527}"/>
              </a:ext>
            </a:extLst>
          </p:cNvPr>
          <p:cNvSpPr>
            <a:spLocks noGrp="1"/>
          </p:cNvSpPr>
          <p:nvPr>
            <p:ph type="sldNum" sz="quarter" idx="12"/>
          </p:nvPr>
        </p:nvSpPr>
        <p:spPr/>
        <p:txBody>
          <a:bodyPr/>
          <a:lstStyle/>
          <a:p>
            <a:fld id="{1DAB8607-0922-A845-8746-AABDC8AE6A8C}" type="slidenum">
              <a:rPr lang="en-US" smtClean="0"/>
              <a:t>‹#›</a:t>
            </a:fld>
            <a:endParaRPr lang="en-US" dirty="0"/>
          </a:p>
        </p:txBody>
      </p:sp>
    </p:spTree>
    <p:extLst>
      <p:ext uri="{BB962C8B-B14F-4D97-AF65-F5344CB8AC3E}">
        <p14:creationId xmlns:p14="http://schemas.microsoft.com/office/powerpoint/2010/main" val="4179380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0F7268-B101-1040-91EF-D4749189C0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0DB759-3FD9-2F49-9EFF-84C207D4D4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394345-4105-B141-A220-4B13EC9E2C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E73421-A941-7D45-A8EE-08E71BC0E5B6}" type="datetimeFigureOut">
              <a:rPr lang="en-US" smtClean="0"/>
              <a:t>10/28/22</a:t>
            </a:fld>
            <a:endParaRPr lang="en-US" dirty="0"/>
          </a:p>
        </p:txBody>
      </p:sp>
      <p:sp>
        <p:nvSpPr>
          <p:cNvPr id="5" name="Footer Placeholder 4">
            <a:extLst>
              <a:ext uri="{FF2B5EF4-FFF2-40B4-BE49-F238E27FC236}">
                <a16:creationId xmlns:a16="http://schemas.microsoft.com/office/drawing/2014/main" id="{11DEC9C3-031A-0C46-A1B4-A8438C9B0E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BFEAE50-AED6-5A4E-85E0-11EC59FCE3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AB8607-0922-A845-8746-AABDC8AE6A8C}" type="slidenum">
              <a:rPr lang="en-US" smtClean="0"/>
              <a:t>‹#›</a:t>
            </a:fld>
            <a:endParaRPr lang="en-US" dirty="0"/>
          </a:p>
        </p:txBody>
      </p:sp>
    </p:spTree>
    <p:extLst>
      <p:ext uri="{BB962C8B-B14F-4D97-AF65-F5344CB8AC3E}">
        <p14:creationId xmlns:p14="http://schemas.microsoft.com/office/powerpoint/2010/main" val="393628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1106C-45C3-794C-B953-BCEDC0294FCC}"/>
              </a:ext>
            </a:extLst>
          </p:cNvPr>
          <p:cNvSpPr>
            <a:spLocks noGrp="1"/>
          </p:cNvSpPr>
          <p:nvPr>
            <p:ph type="title"/>
          </p:nvPr>
        </p:nvSpPr>
        <p:spPr>
          <a:xfrm>
            <a:off x="838200" y="365125"/>
            <a:ext cx="10515600" cy="1036163"/>
          </a:xfrm>
        </p:spPr>
        <p:txBody>
          <a:bodyPr>
            <a:normAutofit/>
          </a:bodyPr>
          <a:lstStyle/>
          <a:p>
            <a:pPr algn="ctr"/>
            <a:r>
              <a:rPr lang="en-US" sz="3200" dirty="0"/>
              <a:t>Chapter 12: COINTEGRATION</a:t>
            </a:r>
          </a:p>
        </p:txBody>
      </p:sp>
      <p:sp>
        <p:nvSpPr>
          <p:cNvPr id="3" name="Content Placeholder 2">
            <a:extLst>
              <a:ext uri="{FF2B5EF4-FFF2-40B4-BE49-F238E27FC236}">
                <a16:creationId xmlns:a16="http://schemas.microsoft.com/office/drawing/2014/main" id="{37641433-F732-BB46-923B-1F75B5FB4FA3}"/>
              </a:ext>
            </a:extLst>
          </p:cNvPr>
          <p:cNvSpPr>
            <a:spLocks noGrp="1"/>
          </p:cNvSpPr>
          <p:nvPr>
            <p:ph idx="1"/>
          </p:nvPr>
        </p:nvSpPr>
        <p:spPr>
          <a:xfrm>
            <a:off x="838200" y="1401288"/>
            <a:ext cx="10515600" cy="4775675"/>
          </a:xfrm>
        </p:spPr>
        <p:txBody>
          <a:bodyPr>
            <a:normAutofit fontScale="92500" lnSpcReduction="20000"/>
          </a:bodyPr>
          <a:lstStyle/>
          <a:p>
            <a:endParaRPr lang="en-US" sz="2000" dirty="0"/>
          </a:p>
          <a:p>
            <a:r>
              <a:rPr lang="en-US" sz="2000" dirty="0">
                <a:solidFill>
                  <a:srgbClr val="FF0000"/>
                </a:solidFill>
              </a:rPr>
              <a:t>Main article</a:t>
            </a:r>
            <a:r>
              <a:rPr lang="en-US" sz="2000" dirty="0"/>
              <a:t>: Engle-Granger(1987-Econometrica) – “Co-Integration and Error Correction: Representation, Estimation, and Testing “</a:t>
            </a:r>
          </a:p>
          <a:p>
            <a:endParaRPr lang="en-US" sz="2000" dirty="0"/>
          </a:p>
          <a:p>
            <a:pPr marL="0" indent="0">
              <a:buNone/>
            </a:pPr>
            <a:r>
              <a:rPr lang="en-US" sz="2000" dirty="0">
                <a:solidFill>
                  <a:srgbClr val="FF0000"/>
                </a:solidFill>
              </a:rPr>
              <a:t>VAR</a:t>
            </a:r>
            <a:r>
              <a:rPr lang="en-US" sz="2000" dirty="0"/>
              <a:t>: it is good to describe short-run relationship (Stationary Variables or VAR on first difference), but many economic variables are not stationary. </a:t>
            </a:r>
          </a:p>
          <a:p>
            <a:pPr marL="0" indent="0">
              <a:buNone/>
            </a:pPr>
            <a:endParaRPr lang="en-US" sz="2000" dirty="0"/>
          </a:p>
          <a:p>
            <a:pPr marL="0" indent="0">
              <a:buNone/>
            </a:pPr>
            <a:r>
              <a:rPr lang="en-US" sz="2000" dirty="0"/>
              <a:t>By taking the first difference we lose important information (we are modeling the growth rate, not the level of the time series.  If the variables are cointegrated and we run a regression in differences, then the model is misspecified and the results will be biased. </a:t>
            </a:r>
          </a:p>
          <a:p>
            <a:pPr marL="0" indent="0">
              <a:buNone/>
            </a:pPr>
            <a:endParaRPr lang="en-US" sz="2000" dirty="0"/>
          </a:p>
          <a:p>
            <a:pPr marL="0" indent="0">
              <a:buNone/>
            </a:pPr>
            <a:r>
              <a:rPr lang="en-US" sz="2000" dirty="0">
                <a:solidFill>
                  <a:srgbClr val="FF0000"/>
                </a:solidFill>
              </a:rPr>
              <a:t>COINTEGRATION</a:t>
            </a:r>
            <a:r>
              <a:rPr lang="en-US" sz="2000" dirty="0"/>
              <a:t>: a way of modeling long-run relationship between integrated variables in their level. The series “move together” over time. A linear long-term relationship combination of them will be stationary.</a:t>
            </a:r>
          </a:p>
          <a:p>
            <a:pPr marL="0" indent="0">
              <a:buNone/>
            </a:pPr>
            <a:endParaRPr lang="en-US" sz="2000" dirty="0"/>
          </a:p>
          <a:p>
            <a:pPr marL="0" indent="0">
              <a:buNone/>
            </a:pPr>
            <a:r>
              <a:rPr lang="en-US" sz="2000" dirty="0">
                <a:solidFill>
                  <a:srgbClr val="FF0000"/>
                </a:solidFill>
              </a:rPr>
              <a:t>HOW</a:t>
            </a:r>
            <a:r>
              <a:rPr lang="en-US" sz="2000" dirty="0"/>
              <a:t>? By modeling the difference between those integrated variables</a:t>
            </a:r>
            <a:r>
              <a:rPr lang="en-US" sz="2000" dirty="0">
                <a:solidFill>
                  <a:srgbClr val="FF0000"/>
                </a:solidFill>
              </a:rPr>
              <a:t>: Error Correction Mechanism </a:t>
            </a:r>
            <a:r>
              <a:rPr lang="en-US" sz="2000" dirty="0"/>
              <a:t>(ECM).</a:t>
            </a:r>
          </a:p>
        </p:txBody>
      </p:sp>
    </p:spTree>
    <p:extLst>
      <p:ext uri="{BB962C8B-B14F-4D97-AF65-F5344CB8AC3E}">
        <p14:creationId xmlns:p14="http://schemas.microsoft.com/office/powerpoint/2010/main" val="3592182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B2AD1-2F4E-584A-9F7C-88EAF746A387}"/>
              </a:ext>
            </a:extLst>
          </p:cNvPr>
          <p:cNvSpPr>
            <a:spLocks noGrp="1"/>
          </p:cNvSpPr>
          <p:nvPr>
            <p:ph type="title"/>
          </p:nvPr>
        </p:nvSpPr>
        <p:spPr>
          <a:xfrm>
            <a:off x="838200" y="365126"/>
            <a:ext cx="10515600" cy="953036"/>
          </a:xfrm>
        </p:spPr>
        <p:txBody>
          <a:bodyPr>
            <a:normAutofit/>
          </a:bodyPr>
          <a:lstStyle/>
          <a:p>
            <a:pPr algn="ctr"/>
            <a:r>
              <a:rPr lang="en-US" sz="3200" dirty="0"/>
              <a:t>A simple way to understand cointegration</a:t>
            </a:r>
          </a:p>
        </p:txBody>
      </p:sp>
      <p:sp>
        <p:nvSpPr>
          <p:cNvPr id="3" name="Content Placeholder 2">
            <a:extLst>
              <a:ext uri="{FF2B5EF4-FFF2-40B4-BE49-F238E27FC236}">
                <a16:creationId xmlns:a16="http://schemas.microsoft.com/office/drawing/2014/main" id="{11AC35C1-47ED-FE4A-ABE6-46B06EAF1FB3}"/>
              </a:ext>
            </a:extLst>
          </p:cNvPr>
          <p:cNvSpPr>
            <a:spLocks noGrp="1"/>
          </p:cNvSpPr>
          <p:nvPr>
            <p:ph idx="1"/>
          </p:nvPr>
        </p:nvSpPr>
        <p:spPr>
          <a:xfrm>
            <a:off x="838200" y="1223158"/>
            <a:ext cx="10515600" cy="4953805"/>
          </a:xfrm>
        </p:spPr>
        <p:txBody>
          <a:bodyPr>
            <a:normAutofit fontScale="85000" lnSpcReduction="20000"/>
          </a:bodyPr>
          <a:lstStyle/>
          <a:p>
            <a:r>
              <a:rPr lang="en-US" sz="2000" dirty="0"/>
              <a:t>A drunk and her dog behavior:</a:t>
            </a:r>
          </a:p>
          <a:p>
            <a:pPr marL="0" indent="0">
              <a:buNone/>
            </a:pPr>
            <a:endParaRPr lang="en-US" sz="2000" dirty="0"/>
          </a:p>
          <a:p>
            <a:pPr lvl="1"/>
            <a:r>
              <a:rPr lang="en-US" sz="2000" dirty="0"/>
              <a:t>Here we are assuming that a drunk follows a random walk path (integrated of order 1); </a:t>
            </a:r>
          </a:p>
          <a:p>
            <a:pPr lvl="1"/>
            <a:r>
              <a:rPr lang="en-US" sz="2000" dirty="0"/>
              <a:t>Her dog (unleashed) may follow her (same path, also integrated of order 1).</a:t>
            </a:r>
          </a:p>
          <a:p>
            <a:pPr marL="0" indent="0">
              <a:buNone/>
            </a:pPr>
            <a:endParaRPr lang="en-US" sz="2000" dirty="0"/>
          </a:p>
          <a:p>
            <a:r>
              <a:rPr lang="en-US" sz="2000" dirty="0"/>
              <a:t> The distance between them will be relatively stable (due their relationship): the barking and calling are what we call “error correction mechanism”: whenever they tend to diverge, they will come close again (converge). The drunk and her dog have a “common stochastic trend”.</a:t>
            </a:r>
          </a:p>
          <a:p>
            <a:endParaRPr lang="en-US" sz="2000" dirty="0"/>
          </a:p>
          <a:p>
            <a:r>
              <a:rPr lang="en-US" sz="2000" dirty="0"/>
              <a:t>In the short-run some “forces” move the variables out of equilibrium, but there will be forces that push ten back to their long-run equilibrium. </a:t>
            </a:r>
          </a:p>
          <a:p>
            <a:pPr marL="0" indent="0">
              <a:buNone/>
            </a:pPr>
            <a:endParaRPr lang="en-US" sz="2000" dirty="0"/>
          </a:p>
          <a:p>
            <a:r>
              <a:rPr lang="en-US" sz="2000" dirty="0"/>
              <a:t>Testing for cointegration is a way of checking if what the Theory predicts is consistent with the data. </a:t>
            </a:r>
          </a:p>
          <a:p>
            <a:endParaRPr lang="en-US" sz="2000" dirty="0"/>
          </a:p>
          <a:p>
            <a:r>
              <a:rPr lang="en-US" sz="2000" dirty="0"/>
              <a:t>We have discussed “spurious regression”, when 2 integrated variables that are not related, if we regress one against the other, we will find significant correlation between them, so, this is spurious. </a:t>
            </a:r>
          </a:p>
          <a:p>
            <a:r>
              <a:rPr lang="en-US" sz="2000" dirty="0"/>
              <a:t>However, when two variables are cointegrated of order 1, the difference between them will be stationary and we can use this difference to apply time series techniques that we have learn so far.</a:t>
            </a:r>
          </a:p>
          <a:p>
            <a:pPr lvl="1"/>
            <a:endParaRPr lang="en-US" dirty="0"/>
          </a:p>
          <a:p>
            <a:pPr marL="457200" lvl="1" indent="0">
              <a:buNone/>
            </a:pPr>
            <a:endParaRPr lang="en-US" dirty="0"/>
          </a:p>
        </p:txBody>
      </p:sp>
    </p:spTree>
    <p:extLst>
      <p:ext uri="{BB962C8B-B14F-4D97-AF65-F5344CB8AC3E}">
        <p14:creationId xmlns:p14="http://schemas.microsoft.com/office/powerpoint/2010/main" val="3159889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ADB07-6D5A-F547-9623-4B43D8E9F73B}"/>
              </a:ext>
            </a:extLst>
          </p:cNvPr>
          <p:cNvSpPr>
            <a:spLocks noGrp="1"/>
          </p:cNvSpPr>
          <p:nvPr>
            <p:ph type="title"/>
          </p:nvPr>
        </p:nvSpPr>
        <p:spPr/>
        <p:txBody>
          <a:bodyPr>
            <a:normAutofit fontScale="90000"/>
          </a:bodyPr>
          <a:lstStyle/>
          <a:p>
            <a:pPr algn="ctr"/>
            <a:r>
              <a:rPr lang="en-US" sz="3200" dirty="0"/>
              <a:t>Their path: Y is the drunk; X is her dog: we may not know where they will go as a pair (due the fact that their </a:t>
            </a:r>
            <a:r>
              <a:rPr lang="en-US" sz="3200" b="1" dirty="0"/>
              <a:t>trend is stochastic</a:t>
            </a:r>
            <a:r>
              <a:rPr lang="en-US" sz="3200" dirty="0"/>
              <a:t>), but they will be close to each other: </a:t>
            </a:r>
            <a:r>
              <a:rPr lang="en-US" sz="3200" dirty="0">
                <a:solidFill>
                  <a:srgbClr val="FF0000"/>
                </a:solidFill>
              </a:rPr>
              <a:t>cointegrated.</a:t>
            </a:r>
          </a:p>
        </p:txBody>
      </p:sp>
      <p:pic>
        <p:nvPicPr>
          <p:cNvPr id="5" name="Content Placeholder 4">
            <a:extLst>
              <a:ext uri="{FF2B5EF4-FFF2-40B4-BE49-F238E27FC236}">
                <a16:creationId xmlns:a16="http://schemas.microsoft.com/office/drawing/2014/main" id="{3245A98E-92E2-4D48-9942-15919CC0DE1F}"/>
              </a:ext>
            </a:extLst>
          </p:cNvPr>
          <p:cNvPicPr>
            <a:picLocks noGrp="1" noChangeAspect="1"/>
          </p:cNvPicPr>
          <p:nvPr>
            <p:ph idx="1"/>
          </p:nvPr>
        </p:nvPicPr>
        <p:blipFill>
          <a:blip r:embed="rId2"/>
          <a:stretch>
            <a:fillRect/>
          </a:stretch>
        </p:blipFill>
        <p:spPr>
          <a:xfrm>
            <a:off x="3104053" y="1825625"/>
            <a:ext cx="5983893" cy="4351338"/>
          </a:xfrm>
        </p:spPr>
      </p:pic>
    </p:spTree>
    <p:extLst>
      <p:ext uri="{BB962C8B-B14F-4D97-AF65-F5344CB8AC3E}">
        <p14:creationId xmlns:p14="http://schemas.microsoft.com/office/powerpoint/2010/main" val="789649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515C7-8B67-704A-BC87-0929CDC6CAC4}"/>
              </a:ext>
            </a:extLst>
          </p:cNvPr>
          <p:cNvSpPr>
            <a:spLocks noGrp="1"/>
          </p:cNvSpPr>
          <p:nvPr>
            <p:ph type="title"/>
          </p:nvPr>
        </p:nvSpPr>
        <p:spPr>
          <a:xfrm>
            <a:off x="838200" y="365125"/>
            <a:ext cx="10515600" cy="964911"/>
          </a:xfrm>
        </p:spPr>
        <p:txBody>
          <a:bodyPr>
            <a:normAutofit/>
          </a:bodyPr>
          <a:lstStyle/>
          <a:p>
            <a:pPr algn="ctr"/>
            <a:r>
              <a:rPr lang="en-US" sz="3200" dirty="0"/>
              <a:t>The distance between them is stationary</a:t>
            </a:r>
          </a:p>
        </p:txBody>
      </p:sp>
      <p:pic>
        <p:nvPicPr>
          <p:cNvPr id="6" name="Content Placeholder 5">
            <a:extLst>
              <a:ext uri="{FF2B5EF4-FFF2-40B4-BE49-F238E27FC236}">
                <a16:creationId xmlns:a16="http://schemas.microsoft.com/office/drawing/2014/main" id="{40B91044-723F-3848-8E14-FBA24364CA21}"/>
              </a:ext>
            </a:extLst>
          </p:cNvPr>
          <p:cNvPicPr>
            <a:picLocks noGrp="1" noChangeAspect="1"/>
          </p:cNvPicPr>
          <p:nvPr>
            <p:ph idx="1"/>
          </p:nvPr>
        </p:nvPicPr>
        <p:blipFill>
          <a:blip r:embed="rId2"/>
          <a:stretch>
            <a:fillRect/>
          </a:stretch>
        </p:blipFill>
        <p:spPr>
          <a:xfrm>
            <a:off x="2196936" y="1321716"/>
            <a:ext cx="6970815" cy="5069003"/>
          </a:xfrm>
        </p:spPr>
      </p:pic>
    </p:spTree>
    <p:extLst>
      <p:ext uri="{BB962C8B-B14F-4D97-AF65-F5344CB8AC3E}">
        <p14:creationId xmlns:p14="http://schemas.microsoft.com/office/powerpoint/2010/main" val="1646143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48BF8-D6FC-574A-9F1A-76391C5ED391}"/>
              </a:ext>
            </a:extLst>
          </p:cNvPr>
          <p:cNvSpPr>
            <a:spLocks noGrp="1"/>
          </p:cNvSpPr>
          <p:nvPr>
            <p:ph type="title"/>
          </p:nvPr>
        </p:nvSpPr>
        <p:spPr>
          <a:xfrm>
            <a:off x="838200" y="365125"/>
            <a:ext cx="10515600" cy="1036163"/>
          </a:xfrm>
        </p:spPr>
        <p:txBody>
          <a:bodyPr>
            <a:normAutofit/>
          </a:bodyPr>
          <a:lstStyle/>
          <a:p>
            <a:pPr algn="ctr"/>
            <a:r>
              <a:rPr lang="en-US" sz="3200" dirty="0"/>
              <a:t>Example of Cointegrated series: GDP and Personal Consumption</a:t>
            </a:r>
          </a:p>
        </p:txBody>
      </p:sp>
      <p:pic>
        <p:nvPicPr>
          <p:cNvPr id="5" name="Content Placeholder 4">
            <a:extLst>
              <a:ext uri="{FF2B5EF4-FFF2-40B4-BE49-F238E27FC236}">
                <a16:creationId xmlns:a16="http://schemas.microsoft.com/office/drawing/2014/main" id="{F7E5C433-47FD-BE4D-AE27-448AFC98D75F}"/>
              </a:ext>
            </a:extLst>
          </p:cNvPr>
          <p:cNvPicPr>
            <a:picLocks noGrp="1" noChangeAspect="1"/>
          </p:cNvPicPr>
          <p:nvPr>
            <p:ph idx="1"/>
          </p:nvPr>
        </p:nvPicPr>
        <p:blipFill>
          <a:blip r:embed="rId2"/>
          <a:stretch>
            <a:fillRect/>
          </a:stretch>
        </p:blipFill>
        <p:spPr>
          <a:xfrm>
            <a:off x="2730629" y="1401288"/>
            <a:ext cx="6730742" cy="4894428"/>
          </a:xfrm>
        </p:spPr>
      </p:pic>
    </p:spTree>
    <p:extLst>
      <p:ext uri="{BB962C8B-B14F-4D97-AF65-F5344CB8AC3E}">
        <p14:creationId xmlns:p14="http://schemas.microsoft.com/office/powerpoint/2010/main" val="1202241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439BE-3E85-3743-86D6-B8741EFFC0E2}"/>
              </a:ext>
            </a:extLst>
          </p:cNvPr>
          <p:cNvSpPr>
            <a:spLocks noGrp="1"/>
          </p:cNvSpPr>
          <p:nvPr>
            <p:ph type="title"/>
          </p:nvPr>
        </p:nvSpPr>
        <p:spPr>
          <a:xfrm>
            <a:off x="838200" y="365125"/>
            <a:ext cx="10515600" cy="1012413"/>
          </a:xfrm>
        </p:spPr>
        <p:txBody>
          <a:bodyPr>
            <a:normAutofit/>
          </a:bodyPr>
          <a:lstStyle/>
          <a:p>
            <a:pPr algn="ctr"/>
            <a:r>
              <a:rPr lang="en-US" sz="3200" dirty="0"/>
              <a:t>Example of Cointegrated series: Short-term and long-term interest rates</a:t>
            </a:r>
          </a:p>
        </p:txBody>
      </p:sp>
      <p:pic>
        <p:nvPicPr>
          <p:cNvPr id="8" name="Content Placeholder 4">
            <a:extLst>
              <a:ext uri="{FF2B5EF4-FFF2-40B4-BE49-F238E27FC236}">
                <a16:creationId xmlns:a16="http://schemas.microsoft.com/office/drawing/2014/main" id="{D5447AA7-7D8C-1044-86F8-C06CE84D0297}"/>
              </a:ext>
            </a:extLst>
          </p:cNvPr>
          <p:cNvPicPr>
            <a:picLocks noChangeAspect="1"/>
          </p:cNvPicPr>
          <p:nvPr/>
        </p:nvPicPr>
        <p:blipFill>
          <a:blip r:embed="rId2"/>
          <a:stretch>
            <a:fillRect/>
          </a:stretch>
        </p:blipFill>
        <p:spPr>
          <a:xfrm>
            <a:off x="2458192" y="1274431"/>
            <a:ext cx="7003179" cy="5092537"/>
          </a:xfrm>
          <a:prstGeom prst="rect">
            <a:avLst/>
          </a:prstGeom>
        </p:spPr>
      </p:pic>
    </p:spTree>
    <p:extLst>
      <p:ext uri="{BB962C8B-B14F-4D97-AF65-F5344CB8AC3E}">
        <p14:creationId xmlns:p14="http://schemas.microsoft.com/office/powerpoint/2010/main" val="4156263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B2AD1-2F4E-584A-9F7C-88EAF746A387}"/>
              </a:ext>
            </a:extLst>
          </p:cNvPr>
          <p:cNvSpPr>
            <a:spLocks noGrp="1"/>
          </p:cNvSpPr>
          <p:nvPr>
            <p:ph type="title"/>
          </p:nvPr>
        </p:nvSpPr>
        <p:spPr>
          <a:xfrm>
            <a:off x="838200" y="365126"/>
            <a:ext cx="10515600" cy="953036"/>
          </a:xfrm>
        </p:spPr>
        <p:txBody>
          <a:bodyPr>
            <a:normAutofit/>
          </a:bodyPr>
          <a:lstStyle/>
          <a:p>
            <a:pPr algn="ctr"/>
            <a:r>
              <a:rPr lang="en-US" sz="3200" dirty="0"/>
              <a:t>Spurious Regression and Cointegration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1AC35C1-47ED-FE4A-ABE6-46B06EAF1FB3}"/>
                  </a:ext>
                </a:extLst>
              </p:cNvPr>
              <p:cNvSpPr>
                <a:spLocks noGrp="1"/>
              </p:cNvSpPr>
              <p:nvPr>
                <p:ph idx="1"/>
              </p:nvPr>
            </p:nvSpPr>
            <p:spPr>
              <a:xfrm>
                <a:off x="838200" y="1223158"/>
                <a:ext cx="10515600" cy="4953805"/>
              </a:xfrm>
            </p:spPr>
            <p:txBody>
              <a:bodyPr>
                <a:normAutofit/>
              </a:bodyPr>
              <a:lstStyle/>
              <a:p>
                <a:pPr lvl="1"/>
                <a:r>
                  <a:rPr lang="en-US" dirty="0">
                    <a:solidFill>
                      <a:srgbClr val="FF0000"/>
                    </a:solidFill>
                  </a:rPr>
                  <a:t>Spurious</a:t>
                </a:r>
                <a:r>
                  <a:rPr lang="en-US" dirty="0"/>
                  <a:t> </a:t>
                </a:r>
                <a:r>
                  <a:rPr lang="en-US" dirty="0">
                    <a:solidFill>
                      <a:srgbClr val="FF0000"/>
                    </a:solidFill>
                  </a:rPr>
                  <a:t>regression</a:t>
                </a:r>
                <a:r>
                  <a:rPr lang="en-US" dirty="0"/>
                  <a:t>, the OLS is an inconsistent estimator (does not converge to the true population parameter as the sample size increases). Phillips(1986) showed that the t and F statistics diverge in distribution as the sample size tends to be infinite (the OSL estimator converges to complicated functions of Brownian motions), making any inference invalid. (see graphs next pages)</a:t>
                </a:r>
              </a:p>
              <a:p>
                <a:pPr marL="457200" lvl="1" indent="0">
                  <a:buNone/>
                </a:pPr>
                <a:endParaRPr lang="en-US" dirty="0"/>
              </a:p>
              <a:p>
                <a:pPr marL="457200" lvl="1" indent="0">
                  <a:buNone/>
                </a:pPr>
                <a:endParaRPr lang="en-US" dirty="0"/>
              </a:p>
              <a:p>
                <a:pPr marL="457200" lvl="1" indent="0">
                  <a:buNone/>
                </a:pPr>
                <a:endParaRPr lang="en-US" dirty="0"/>
              </a:p>
              <a:p>
                <a:pPr lvl="1"/>
                <a:r>
                  <a:rPr lang="en-US" dirty="0">
                    <a:solidFill>
                      <a:srgbClr val="FF0000"/>
                    </a:solidFill>
                  </a:rPr>
                  <a:t>Cointegration case1</a:t>
                </a:r>
                <a:r>
                  <a:rPr lang="en-US" dirty="0"/>
                  <a:t> - the errors and regressors are not-correlated:  The OLS estimator is super-consistent (converge at rate T instead of </a:t>
                </a:r>
                <a14:m>
                  <m:oMath xmlns:m="http://schemas.openxmlformats.org/officeDocument/2006/math">
                    <m:rad>
                      <m:radPr>
                        <m:degHide m:val="on"/>
                        <m:ctrlPr>
                          <a:rPr lang="en-US" i="1" smtClean="0">
                            <a:latin typeface="Cambria Math" panose="02040503050406030204" pitchFamily="18" charset="0"/>
                          </a:rPr>
                        </m:ctrlPr>
                      </m:radPr>
                      <m:deg/>
                      <m:e>
                        <m:r>
                          <a:rPr lang="en-US" b="0" i="1" smtClean="0">
                            <a:latin typeface="Cambria Math" panose="02040503050406030204" pitchFamily="18" charset="0"/>
                          </a:rPr>
                          <m:t>𝑇</m:t>
                        </m:r>
                      </m:e>
                    </m:rad>
                  </m:oMath>
                </a14:m>
                <a:r>
                  <a:rPr lang="en-US" dirty="0"/>
                  <a:t>). The t-statistic is asymptotically normally distributed (see graph next page).</a:t>
                </a:r>
              </a:p>
              <a:p>
                <a:pPr marL="457200" lvl="1" indent="0">
                  <a:buNone/>
                </a:pPr>
                <a:endParaRPr lang="en-US" dirty="0"/>
              </a:p>
            </p:txBody>
          </p:sp>
        </mc:Choice>
        <mc:Fallback>
          <p:sp>
            <p:nvSpPr>
              <p:cNvPr id="3" name="Content Placeholder 2">
                <a:extLst>
                  <a:ext uri="{FF2B5EF4-FFF2-40B4-BE49-F238E27FC236}">
                    <a16:creationId xmlns:a16="http://schemas.microsoft.com/office/drawing/2014/main" id="{11AC35C1-47ED-FE4A-ABE6-46B06EAF1FB3}"/>
                  </a:ext>
                </a:extLst>
              </p:cNvPr>
              <p:cNvSpPr>
                <a:spLocks noGrp="1" noRot="1" noChangeAspect="1" noMove="1" noResize="1" noEditPoints="1" noAdjustHandles="1" noChangeArrowheads="1" noChangeShapeType="1" noTextEdit="1"/>
              </p:cNvSpPr>
              <p:nvPr>
                <p:ph idx="1"/>
              </p:nvPr>
            </p:nvSpPr>
            <p:spPr>
              <a:xfrm>
                <a:off x="838200" y="1223158"/>
                <a:ext cx="10515600" cy="4953805"/>
              </a:xfrm>
              <a:blipFill>
                <a:blip r:embed="rId2"/>
                <a:stretch>
                  <a:fillRect t="-1535" r="-844"/>
                </a:stretch>
              </a:blipFill>
            </p:spPr>
            <p:txBody>
              <a:bodyPr/>
              <a:lstStyle/>
              <a:p>
                <a:r>
                  <a:rPr lang="en-US">
                    <a:noFill/>
                  </a:rPr>
                  <a:t> </a:t>
                </a:r>
              </a:p>
            </p:txBody>
          </p:sp>
        </mc:Fallback>
      </mc:AlternateContent>
    </p:spTree>
    <p:extLst>
      <p:ext uri="{BB962C8B-B14F-4D97-AF65-F5344CB8AC3E}">
        <p14:creationId xmlns:p14="http://schemas.microsoft.com/office/powerpoint/2010/main" val="2611075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B2AD1-2F4E-584A-9F7C-88EAF746A387}"/>
              </a:ext>
            </a:extLst>
          </p:cNvPr>
          <p:cNvSpPr>
            <a:spLocks noGrp="1"/>
          </p:cNvSpPr>
          <p:nvPr>
            <p:ph type="title"/>
          </p:nvPr>
        </p:nvSpPr>
        <p:spPr>
          <a:xfrm>
            <a:off x="838200" y="365126"/>
            <a:ext cx="10515600" cy="953036"/>
          </a:xfrm>
        </p:spPr>
        <p:txBody>
          <a:bodyPr>
            <a:normAutofit/>
          </a:bodyPr>
          <a:lstStyle/>
          <a:p>
            <a:pPr algn="ctr"/>
            <a:r>
              <a:rPr lang="en-US" sz="3200" dirty="0"/>
              <a:t>Spurious Regression and Cointegration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1AC35C1-47ED-FE4A-ABE6-46B06EAF1FB3}"/>
                  </a:ext>
                </a:extLst>
              </p:cNvPr>
              <p:cNvSpPr>
                <a:spLocks noGrp="1"/>
              </p:cNvSpPr>
              <p:nvPr>
                <p:ph idx="1"/>
              </p:nvPr>
            </p:nvSpPr>
            <p:spPr>
              <a:xfrm>
                <a:off x="838200" y="1223158"/>
                <a:ext cx="10515600" cy="4953805"/>
              </a:xfrm>
            </p:spPr>
            <p:txBody>
              <a:bodyPr>
                <a:normAutofit/>
              </a:bodyPr>
              <a:lstStyle/>
              <a:p>
                <a:pPr lvl="1"/>
                <a:r>
                  <a:rPr lang="en-US" dirty="0">
                    <a:solidFill>
                      <a:srgbClr val="FF0000"/>
                    </a:solidFill>
                  </a:rPr>
                  <a:t>Cointegration case2 </a:t>
                </a:r>
                <a:r>
                  <a:rPr lang="en-US" dirty="0"/>
                  <a:t>- correlation between the errors and regressors: The limit distribution of the OLS estimator is non-normal (but the estimator is consistent) (see graphs next pages). To get rid of the endogeneity problem: Dynamic OLS (DOLS)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by adding leads and lags (and current values) of the first differences of the regressors:</a:t>
                </a:r>
              </a:p>
              <a:p>
                <a:pPr lvl="1"/>
                <a:endParaRPr lang="en-US" dirty="0"/>
              </a:p>
              <a:p>
                <a:pPr marL="457200" lvl="1"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sub>
                      </m:sSub>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2</m:t>
                              </m:r>
                            </m:sub>
                          </m:sSub>
                        </m:sup>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𝛾</m:t>
                              </m:r>
                            </m:e>
                            <m:sub>
                              <m:r>
                                <a:rPr lang="en-US" b="0" i="1" smtClean="0">
                                  <a:latin typeface="Cambria Math" panose="02040503050406030204" pitchFamily="18" charset="0"/>
                                </a:rPr>
                                <m:t>𝑗</m:t>
                              </m:r>
                            </m:sub>
                          </m:sSub>
                          <m:r>
                            <m:rPr>
                              <m:sty m:val="p"/>
                            </m:rPr>
                            <a:rPr lang="el-GR" b="0" i="1" smtClean="0">
                              <a:latin typeface="Cambria Math" panose="02040503050406030204" pitchFamily="18" charset="0"/>
                              <a:ea typeface="Cambria Math" panose="02040503050406030204" pitchFamily="18" charset="0"/>
                            </a:rPr>
                            <m:t>Δ</m:t>
                          </m:r>
                          <m:sSub>
                            <m:sSubPr>
                              <m:ctrlPr>
                                <a:rPr lang="el-GR"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𝜂</m:t>
                          </m:r>
                        </m:e>
                        <m:sub>
                          <m:r>
                            <a:rPr lang="en-US" b="0" i="1" smtClean="0">
                              <a:latin typeface="Cambria Math" panose="02040503050406030204" pitchFamily="18" charset="0"/>
                            </a:rPr>
                            <m:t>𝑡</m:t>
                          </m:r>
                        </m:sub>
                      </m:sSub>
                    </m:oMath>
                  </m:oMathPara>
                </a14:m>
                <a:endParaRPr lang="en-US" dirty="0"/>
              </a:p>
              <a:p>
                <a:pPr marL="457200" lvl="1" indent="0">
                  <a:buNone/>
                </a:pPr>
                <a:endParaRPr lang="en-US" dirty="0"/>
              </a:p>
              <a:p>
                <a:pPr lvl="1"/>
                <a:r>
                  <a:rPr lang="en-US" dirty="0"/>
                  <a:t>To select lags/leads: AIC and BIC criteria</a:t>
                </a:r>
              </a:p>
              <a:p>
                <a:pPr lvl="1"/>
                <a:r>
                  <a:rPr lang="en-US" dirty="0"/>
                  <a:t>If the error is also serially correlated: HAC</a:t>
                </a:r>
              </a:p>
            </p:txBody>
          </p:sp>
        </mc:Choice>
        <mc:Fallback>
          <p:sp>
            <p:nvSpPr>
              <p:cNvPr id="3" name="Content Placeholder 2">
                <a:extLst>
                  <a:ext uri="{FF2B5EF4-FFF2-40B4-BE49-F238E27FC236}">
                    <a16:creationId xmlns:a16="http://schemas.microsoft.com/office/drawing/2014/main" id="{11AC35C1-47ED-FE4A-ABE6-46B06EAF1FB3}"/>
                  </a:ext>
                </a:extLst>
              </p:cNvPr>
              <p:cNvSpPr>
                <a:spLocks noGrp="1" noRot="1" noChangeAspect="1" noMove="1" noResize="1" noEditPoints="1" noAdjustHandles="1" noChangeArrowheads="1" noChangeShapeType="1" noTextEdit="1"/>
              </p:cNvSpPr>
              <p:nvPr>
                <p:ph idx="1"/>
              </p:nvPr>
            </p:nvSpPr>
            <p:spPr>
              <a:xfrm>
                <a:off x="838200" y="1223158"/>
                <a:ext cx="10515600" cy="4953805"/>
              </a:xfrm>
              <a:blipFill>
                <a:blip r:embed="rId2"/>
                <a:stretch>
                  <a:fillRect t="-1535" r="-965"/>
                </a:stretch>
              </a:blipFill>
            </p:spPr>
            <p:txBody>
              <a:bodyPr/>
              <a:lstStyle/>
              <a:p>
                <a:r>
                  <a:rPr lang="en-US">
                    <a:noFill/>
                  </a:rPr>
                  <a:t> </a:t>
                </a:r>
              </a:p>
            </p:txBody>
          </p:sp>
        </mc:Fallback>
      </mc:AlternateContent>
    </p:spTree>
    <p:extLst>
      <p:ext uri="{BB962C8B-B14F-4D97-AF65-F5344CB8AC3E}">
        <p14:creationId xmlns:p14="http://schemas.microsoft.com/office/powerpoint/2010/main" val="4194018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065FF77-77B6-7A2B-4786-5EBF0EED3426}"/>
              </a:ext>
            </a:extLst>
          </p:cNvPr>
          <p:cNvSpPr txBox="1"/>
          <p:nvPr/>
        </p:nvSpPr>
        <p:spPr>
          <a:xfrm>
            <a:off x="2180493" y="98120"/>
            <a:ext cx="6646984" cy="400110"/>
          </a:xfrm>
          <a:prstGeom prst="rect">
            <a:avLst/>
          </a:prstGeom>
          <a:noFill/>
        </p:spPr>
        <p:txBody>
          <a:bodyPr wrap="square" rtlCol="0">
            <a:spAutoFit/>
          </a:bodyPr>
          <a:lstStyle/>
          <a:p>
            <a:r>
              <a:rPr lang="en-US" dirty="0"/>
              <a:t>	</a:t>
            </a:r>
            <a:r>
              <a:rPr lang="en-US" sz="2000" dirty="0"/>
              <a:t>Spurious Regression and Cointegration case 1</a:t>
            </a:r>
          </a:p>
        </p:txBody>
      </p:sp>
      <p:pic>
        <p:nvPicPr>
          <p:cNvPr id="10" name="Picture 9">
            <a:extLst>
              <a:ext uri="{FF2B5EF4-FFF2-40B4-BE49-F238E27FC236}">
                <a16:creationId xmlns:a16="http://schemas.microsoft.com/office/drawing/2014/main" id="{28CAA074-8C2D-E12F-74B9-4FEA8EB5A4B9}"/>
              </a:ext>
            </a:extLst>
          </p:cNvPr>
          <p:cNvPicPr>
            <a:picLocks noChangeAspect="1"/>
          </p:cNvPicPr>
          <p:nvPr/>
        </p:nvPicPr>
        <p:blipFill>
          <a:blip r:embed="rId2"/>
          <a:stretch>
            <a:fillRect/>
          </a:stretch>
        </p:blipFill>
        <p:spPr>
          <a:xfrm>
            <a:off x="1289537" y="756137"/>
            <a:ext cx="8276493" cy="6019268"/>
          </a:xfrm>
          <a:prstGeom prst="rect">
            <a:avLst/>
          </a:prstGeom>
        </p:spPr>
      </p:pic>
    </p:spTree>
    <p:extLst>
      <p:ext uri="{BB962C8B-B14F-4D97-AF65-F5344CB8AC3E}">
        <p14:creationId xmlns:p14="http://schemas.microsoft.com/office/powerpoint/2010/main" val="3539248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ADB07-6D5A-F547-9623-4B43D8E9F73B}"/>
              </a:ext>
            </a:extLst>
          </p:cNvPr>
          <p:cNvSpPr>
            <a:spLocks noGrp="1"/>
          </p:cNvSpPr>
          <p:nvPr>
            <p:ph type="title"/>
          </p:nvPr>
        </p:nvSpPr>
        <p:spPr>
          <a:xfrm>
            <a:off x="1371600" y="365125"/>
            <a:ext cx="9982200" cy="502383"/>
          </a:xfrm>
        </p:spPr>
        <p:txBody>
          <a:bodyPr>
            <a:normAutofit fontScale="90000"/>
          </a:bodyPr>
          <a:lstStyle/>
          <a:p>
            <a:pPr algn="ctr"/>
            <a:r>
              <a:rPr lang="en-US" sz="3200" dirty="0"/>
              <a:t>Cointegration: case 2</a:t>
            </a:r>
            <a:endParaRPr lang="en-US" sz="3200" dirty="0">
              <a:solidFill>
                <a:srgbClr val="FF0000"/>
              </a:solidFill>
            </a:endParaRPr>
          </a:p>
        </p:txBody>
      </p:sp>
      <p:pic>
        <p:nvPicPr>
          <p:cNvPr id="7" name="Picture 6">
            <a:extLst>
              <a:ext uri="{FF2B5EF4-FFF2-40B4-BE49-F238E27FC236}">
                <a16:creationId xmlns:a16="http://schemas.microsoft.com/office/drawing/2014/main" id="{32C01EB3-109E-5504-B3A2-1FE044AE4EEC}"/>
              </a:ext>
            </a:extLst>
          </p:cNvPr>
          <p:cNvPicPr>
            <a:picLocks noChangeAspect="1"/>
          </p:cNvPicPr>
          <p:nvPr/>
        </p:nvPicPr>
        <p:blipFill>
          <a:blip r:embed="rId2"/>
          <a:stretch>
            <a:fillRect/>
          </a:stretch>
        </p:blipFill>
        <p:spPr>
          <a:xfrm>
            <a:off x="2737338" y="867508"/>
            <a:ext cx="7450016" cy="5418194"/>
          </a:xfrm>
          <a:prstGeom prst="rect">
            <a:avLst/>
          </a:prstGeom>
        </p:spPr>
      </p:pic>
    </p:spTree>
    <p:extLst>
      <p:ext uri="{BB962C8B-B14F-4D97-AF65-F5344CB8AC3E}">
        <p14:creationId xmlns:p14="http://schemas.microsoft.com/office/powerpoint/2010/main" val="1339012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B9870-99CB-A24E-982F-71C95544D740}"/>
              </a:ext>
            </a:extLst>
          </p:cNvPr>
          <p:cNvSpPr>
            <a:spLocks noGrp="1"/>
          </p:cNvSpPr>
          <p:nvPr>
            <p:ph type="title"/>
          </p:nvPr>
        </p:nvSpPr>
        <p:spPr>
          <a:xfrm>
            <a:off x="838200" y="365125"/>
            <a:ext cx="10386060" cy="972185"/>
          </a:xfrm>
        </p:spPr>
        <p:txBody>
          <a:bodyPr>
            <a:normAutofit/>
          </a:bodyPr>
          <a:lstStyle/>
          <a:p>
            <a:pPr algn="ctr"/>
            <a:r>
              <a:rPr lang="en-US" sz="3200" b="1" dirty="0">
                <a:solidFill>
                  <a:srgbClr val="FF0000"/>
                </a:solidFill>
              </a:rPr>
              <a:t>ERROR CORRECTION MECHANISM</a:t>
            </a:r>
          </a:p>
        </p:txBody>
      </p:sp>
      <p:sp>
        <p:nvSpPr>
          <p:cNvPr id="3" name="Content Placeholder 2">
            <a:extLst>
              <a:ext uri="{FF2B5EF4-FFF2-40B4-BE49-F238E27FC236}">
                <a16:creationId xmlns:a16="http://schemas.microsoft.com/office/drawing/2014/main" id="{F84C55D7-2DBB-6849-9439-ABA73EE9D1EF}"/>
              </a:ext>
            </a:extLst>
          </p:cNvPr>
          <p:cNvSpPr>
            <a:spLocks noGrp="1"/>
          </p:cNvSpPr>
          <p:nvPr>
            <p:ph idx="1"/>
          </p:nvPr>
        </p:nvSpPr>
        <p:spPr>
          <a:xfrm>
            <a:off x="838200" y="1520190"/>
            <a:ext cx="10515600" cy="5154929"/>
          </a:xfrm>
        </p:spPr>
        <p:txBody>
          <a:bodyPr>
            <a:normAutofit/>
          </a:bodyPr>
          <a:lstStyle/>
          <a:p>
            <a:r>
              <a:rPr lang="en-US" sz="2000" dirty="0"/>
              <a:t>IF X and Y are  COINTEGRATED: we can regress Y against X (or X against Y), and this relation is not spurious. The linear combination annihilates the stochastic trends. The I(1) series are attracted to each other in the long run (we will see how it works: </a:t>
            </a:r>
            <a:r>
              <a:rPr lang="en-US" sz="2000" dirty="0">
                <a:solidFill>
                  <a:srgbClr val="FF0000"/>
                </a:solidFill>
              </a:rPr>
              <a:t>Error correction mechanism</a:t>
            </a:r>
            <a:r>
              <a:rPr lang="en-US" sz="2000" dirty="0"/>
              <a:t>)</a:t>
            </a:r>
          </a:p>
          <a:p>
            <a:endParaRPr lang="en-US" sz="2000" dirty="0"/>
          </a:p>
          <a:p>
            <a:r>
              <a:rPr lang="en-US" sz="2000" dirty="0"/>
              <a:t>However, we may </a:t>
            </a:r>
            <a:r>
              <a:rPr lang="en-US" sz="2000" dirty="0">
                <a:solidFill>
                  <a:srgbClr val="FF0000"/>
                </a:solidFill>
              </a:rPr>
              <a:t>have temporary divergencies </a:t>
            </a:r>
            <a:r>
              <a:rPr lang="en-US" sz="2000" dirty="0"/>
              <a:t>(short-term disequilibrium): the error measures the extent to which the system is out of equilibrium.</a:t>
            </a:r>
          </a:p>
          <a:p>
            <a:pPr marL="0" indent="0">
              <a:buNone/>
            </a:pPr>
            <a:endParaRPr lang="en-US" sz="2000" dirty="0"/>
          </a:p>
        </p:txBody>
      </p:sp>
    </p:spTree>
    <p:extLst>
      <p:ext uri="{BB962C8B-B14F-4D97-AF65-F5344CB8AC3E}">
        <p14:creationId xmlns:p14="http://schemas.microsoft.com/office/powerpoint/2010/main" val="3012808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B9870-99CB-A24E-982F-71C95544D740}"/>
              </a:ext>
            </a:extLst>
          </p:cNvPr>
          <p:cNvSpPr>
            <a:spLocks noGrp="1"/>
          </p:cNvSpPr>
          <p:nvPr>
            <p:ph type="title"/>
          </p:nvPr>
        </p:nvSpPr>
        <p:spPr>
          <a:xfrm>
            <a:off x="838200" y="365125"/>
            <a:ext cx="10386060" cy="972185"/>
          </a:xfrm>
        </p:spPr>
        <p:txBody>
          <a:bodyPr>
            <a:normAutofit/>
          </a:bodyPr>
          <a:lstStyle/>
          <a:p>
            <a:pPr algn="ctr"/>
            <a:r>
              <a:rPr lang="en-US" sz="3200" b="1" dirty="0">
                <a:solidFill>
                  <a:srgbClr val="FF0000"/>
                </a:solidFill>
              </a:rPr>
              <a:t>ERROR CORRECTION MECHANISM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84C55D7-2DBB-6849-9439-ABA73EE9D1EF}"/>
                  </a:ext>
                </a:extLst>
              </p:cNvPr>
              <p:cNvSpPr>
                <a:spLocks noGrp="1"/>
              </p:cNvSpPr>
              <p:nvPr>
                <p:ph idx="1"/>
              </p:nvPr>
            </p:nvSpPr>
            <p:spPr>
              <a:xfrm>
                <a:off x="838200" y="1520190"/>
                <a:ext cx="10515600" cy="5154929"/>
              </a:xfrm>
            </p:spPr>
            <p:txBody>
              <a:bodyPr>
                <a:normAutofit/>
              </a:bodyPr>
              <a:lstStyle/>
              <a:p>
                <a:pPr marL="0" indent="0">
                  <a:buNone/>
                </a:pPr>
                <a:endParaRPr lang="en-US" sz="2000" dirty="0"/>
              </a:p>
              <a:p>
                <a:r>
                  <a:rPr lang="en-US" sz="2000" b="1" dirty="0"/>
                  <a:t>Granger’s representation theorem</a:t>
                </a:r>
                <a:r>
                  <a:rPr lang="en-US" sz="2000" dirty="0"/>
                  <a:t>:  two variables (X,Y) are cointegrated if only if they have an </a:t>
                </a:r>
                <a:r>
                  <a:rPr lang="en-US" sz="2000" b="1" dirty="0"/>
                  <a:t>Error Correction Mechanism’s representation</a:t>
                </a:r>
                <a:r>
                  <a:rPr lang="en-US" sz="2000" dirty="0"/>
                  <a:t>: </a:t>
                </a:r>
              </a:p>
              <a:p>
                <a:pPr marL="0" indent="0">
                  <a:buNone/>
                </a:pPr>
                <a:endParaRPr lang="en-US" sz="2000" dirty="0"/>
              </a:p>
              <a:p>
                <a:pPr marL="0" indent="0">
                  <a:buNone/>
                </a:pPr>
                <a:r>
                  <a:rPr lang="en-US" sz="2000" dirty="0"/>
                  <a:t>Let </a:t>
                </a:r>
                <a14:m>
                  <m:oMath xmlns:m="http://schemas.openxmlformats.org/officeDocument/2006/math">
                    <m:sSub>
                      <m:sSubPr>
                        <m:ctrlPr>
                          <a:rPr lang="en-US" sz="2000" i="1">
                            <a:latin typeface="Cambria Math" panose="02040503050406030204" pitchFamily="18" charset="0"/>
                          </a:rPr>
                        </m:ctrlPr>
                      </m:sSubPr>
                      <m:e>
                        <m:r>
                          <a:rPr lang="pt-BR" sz="2000" i="1">
                            <a:latin typeface="Cambria Math" panose="02040503050406030204" pitchFamily="18" charset="0"/>
                          </a:rPr>
                          <m:t>𝑌</m:t>
                        </m:r>
                      </m:e>
                      <m:sub>
                        <m:r>
                          <a:rPr lang="en-US" sz="2000" i="1">
                            <a:latin typeface="Cambria Math" panose="02040503050406030204" pitchFamily="18" charset="0"/>
                          </a:rPr>
                          <m:t>𝑡</m:t>
                        </m:r>
                      </m:sub>
                    </m:sSub>
                    <m:r>
                      <a:rPr lang="en-US" sz="2000" i="1">
                        <a:latin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𝛽</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𝜖</m:t>
                        </m:r>
                      </m:e>
                      <m:sub>
                        <m:r>
                          <a:rPr lang="en-US" sz="2000" i="1">
                            <a:latin typeface="Cambria Math" panose="02040503050406030204" pitchFamily="18" charset="0"/>
                            <a:ea typeface="Cambria Math" panose="02040503050406030204" pitchFamily="18" charset="0"/>
                          </a:rPr>
                          <m:t>𝑡</m:t>
                        </m:r>
                      </m:sub>
                    </m:sSub>
                  </m:oMath>
                </a14:m>
                <a:r>
                  <a:rPr lang="en-US" sz="2000" dirty="0"/>
                  <a:t>  be the cointegrating relationship. Then, the ECM is: </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m:rPr>
                              <m:sty m:val="p"/>
                            </m:rPr>
                            <a:rPr lang="el-GR" sz="2000" i="1" smtClean="0">
                              <a:latin typeface="Cambria Math" panose="02040503050406030204" pitchFamily="18" charset="0"/>
                              <a:ea typeface="Cambria Math" panose="02040503050406030204" pitchFamily="18" charset="0"/>
                            </a:rPr>
                            <m:t>Δ</m:t>
                          </m:r>
                          <m:r>
                            <a:rPr lang="pt-BR" sz="2000" b="0" i="1" smtClean="0">
                              <a:latin typeface="Cambria Math" panose="02040503050406030204" pitchFamily="18" charset="0"/>
                            </a:rPr>
                            <m:t>𝑌</m:t>
                          </m:r>
                        </m:e>
                        <m:sub>
                          <m:r>
                            <a:rPr lang="en-US" sz="2000" i="1">
                              <a:latin typeface="Cambria Math" panose="02040503050406030204" pitchFamily="18" charset="0"/>
                            </a:rPr>
                            <m:t>𝑡</m:t>
                          </m:r>
                        </m:sub>
                      </m:sSub>
                      <m:r>
                        <a:rPr lang="en-US" sz="2000" i="1">
                          <a:latin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𝛾</m:t>
                      </m:r>
                      <m:r>
                        <m:rPr>
                          <m:sty m:val="p"/>
                        </m:rPr>
                        <a:rPr lang="el-GR" sz="2000" i="1" smtClean="0">
                          <a:latin typeface="Cambria Math" panose="02040503050406030204" pitchFamily="18" charset="0"/>
                          <a:ea typeface="Cambria Math" panose="02040503050406030204" pitchFamily="18" charset="0"/>
                        </a:rPr>
                        <m:t>Δ</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b="0" i="1" smtClean="0">
                              <a:latin typeface="Cambria Math" panose="02040503050406030204" pitchFamily="18" charset="0"/>
                              <a:ea typeface="Cambria Math" panose="02040503050406030204" pitchFamily="18" charset="0"/>
                            </a:rPr>
                            <m:t>𝑡</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𝛼</m:t>
                      </m:r>
                      <m:d>
                        <m:dPr>
                          <m:ctrlPr>
                            <a:rPr lang="en-US" sz="2000" b="0" i="1" smtClean="0">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𝑌</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𝛽</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−1</m:t>
                              </m:r>
                            </m:sub>
                          </m:sSub>
                        </m:e>
                      </m:d>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𝑒</m:t>
                          </m:r>
                        </m:e>
                        <m:sub>
                          <m:r>
                            <a:rPr lang="en-US" sz="2000" i="1">
                              <a:latin typeface="Cambria Math" panose="02040503050406030204" pitchFamily="18" charset="0"/>
                              <a:ea typeface="Cambria Math" panose="02040503050406030204" pitchFamily="18" charset="0"/>
                            </a:rPr>
                            <m:t>𝑡</m:t>
                          </m:r>
                        </m:sub>
                      </m:sSub>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m:rPr>
                              <m:sty m:val="p"/>
                            </m:rPr>
                            <a:rPr lang="el-GR" sz="2000" i="1">
                              <a:latin typeface="Cambria Math" panose="02040503050406030204" pitchFamily="18" charset="0"/>
                              <a:ea typeface="Cambria Math" panose="02040503050406030204" pitchFamily="18" charset="0"/>
                            </a:rPr>
                            <m:t>Δ</m:t>
                          </m:r>
                          <m:r>
                            <a:rPr lang="pt-BR" sz="2000" i="1">
                              <a:latin typeface="Cambria Math" panose="02040503050406030204" pitchFamily="18" charset="0"/>
                            </a:rPr>
                            <m:t>𝑌</m:t>
                          </m:r>
                        </m:e>
                        <m:sub>
                          <m:r>
                            <a:rPr lang="en-US" sz="2000" i="1">
                              <a:latin typeface="Cambria Math" panose="02040503050406030204" pitchFamily="18" charset="0"/>
                            </a:rPr>
                            <m:t>𝑡</m:t>
                          </m:r>
                        </m:sub>
                      </m:sSub>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𝛾</m:t>
                      </m:r>
                      <m:r>
                        <m:rPr>
                          <m:sty m:val="p"/>
                        </m:rPr>
                        <a:rPr lang="el-GR" sz="2000" i="1">
                          <a:latin typeface="Cambria Math" panose="02040503050406030204" pitchFamily="18" charset="0"/>
                          <a:ea typeface="Cambria Math" panose="02040503050406030204" pitchFamily="18" charset="0"/>
                        </a:rPr>
                        <m:t>Δ</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𝛼</m:t>
                      </m:r>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𝜖</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e>
                      </m:d>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𝑒</m:t>
                          </m:r>
                        </m:e>
                        <m:sub>
                          <m:r>
                            <a:rPr lang="en-US" sz="2000" i="1">
                              <a:latin typeface="Cambria Math" panose="02040503050406030204" pitchFamily="18" charset="0"/>
                              <a:ea typeface="Cambria Math" panose="02040503050406030204" pitchFamily="18" charset="0"/>
                            </a:rPr>
                            <m:t>𝑡</m:t>
                          </m:r>
                        </m:sub>
                      </m:sSub>
                    </m:oMath>
                  </m:oMathPara>
                </a14:m>
                <a:endParaRPr lang="en-US" sz="2000" i="1" dirty="0">
                  <a:latin typeface="Cambria Math" panose="02040503050406030204" pitchFamily="18" charset="0"/>
                  <a:ea typeface="Cambria Math" panose="02040503050406030204" pitchFamily="18" charset="0"/>
                </a:endParaRPr>
              </a:p>
              <a:p>
                <a:pPr marL="0" indent="0">
                  <a:buNone/>
                </a:pPr>
                <a:endParaRPr lang="en-US" sz="2000" i="1"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𝑌</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𝛽</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e>
                    </m:d>
                  </m:oMath>
                </a14:m>
                <a:r>
                  <a:rPr lang="en-US" sz="2000" dirty="0"/>
                  <a:t> is </a:t>
                </a:r>
                <a:r>
                  <a:rPr lang="en-US" sz="2000" b="1" dirty="0"/>
                  <a:t>the error from the cointegrating relationship  </a:t>
                </a:r>
                <a:r>
                  <a:rPr lang="en-US" sz="2000" dirty="0"/>
                  <a:t>lagged by one period.</a:t>
                </a:r>
              </a:p>
              <a:p>
                <a:pPr marL="0" indent="0">
                  <a:buNone/>
                </a:pPr>
                <a:r>
                  <a:rPr lang="en-US" sz="2000" b="1" dirty="0"/>
                  <a:t>OBS</a:t>
                </a:r>
                <a:r>
                  <a:rPr lang="en-US" sz="2000" dirty="0"/>
                  <a:t>: all terms in the ECM are stationary. It can be estimate by OLS. </a:t>
                </a:r>
              </a:p>
            </p:txBody>
          </p:sp>
        </mc:Choice>
        <mc:Fallback>
          <p:sp>
            <p:nvSpPr>
              <p:cNvPr id="3" name="Content Placeholder 2">
                <a:extLst>
                  <a:ext uri="{FF2B5EF4-FFF2-40B4-BE49-F238E27FC236}">
                    <a16:creationId xmlns:a16="http://schemas.microsoft.com/office/drawing/2014/main" id="{F84C55D7-2DBB-6849-9439-ABA73EE9D1EF}"/>
                  </a:ext>
                </a:extLst>
              </p:cNvPr>
              <p:cNvSpPr>
                <a:spLocks noGrp="1" noRot="1" noChangeAspect="1" noMove="1" noResize="1" noEditPoints="1" noAdjustHandles="1" noChangeArrowheads="1" noChangeShapeType="1" noTextEdit="1"/>
              </p:cNvSpPr>
              <p:nvPr>
                <p:ph idx="1"/>
              </p:nvPr>
            </p:nvSpPr>
            <p:spPr>
              <a:xfrm>
                <a:off x="838200" y="1520190"/>
                <a:ext cx="10515600" cy="5154929"/>
              </a:xfrm>
              <a:blipFill>
                <a:blip r:embed="rId2"/>
                <a:stretch>
                  <a:fillRect l="-724"/>
                </a:stretch>
              </a:blipFill>
            </p:spPr>
            <p:txBody>
              <a:bodyPr/>
              <a:lstStyle/>
              <a:p>
                <a:r>
                  <a:rPr lang="en-US">
                    <a:noFill/>
                  </a:rPr>
                  <a:t> </a:t>
                </a:r>
              </a:p>
            </p:txBody>
          </p:sp>
        </mc:Fallback>
      </mc:AlternateContent>
    </p:spTree>
    <p:extLst>
      <p:ext uri="{BB962C8B-B14F-4D97-AF65-F5344CB8AC3E}">
        <p14:creationId xmlns:p14="http://schemas.microsoft.com/office/powerpoint/2010/main" val="1988204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B9870-99CB-A24E-982F-71C95544D740}"/>
              </a:ext>
            </a:extLst>
          </p:cNvPr>
          <p:cNvSpPr>
            <a:spLocks noGrp="1"/>
          </p:cNvSpPr>
          <p:nvPr>
            <p:ph type="title"/>
          </p:nvPr>
        </p:nvSpPr>
        <p:spPr>
          <a:xfrm>
            <a:off x="838200" y="365125"/>
            <a:ext cx="10386060" cy="972185"/>
          </a:xfrm>
        </p:spPr>
        <p:txBody>
          <a:bodyPr>
            <a:normAutofit/>
          </a:bodyPr>
          <a:lstStyle/>
          <a:p>
            <a:pPr algn="ctr"/>
            <a:r>
              <a:rPr lang="en-US" sz="3200" b="1" dirty="0">
                <a:solidFill>
                  <a:srgbClr val="FF0000"/>
                </a:solidFill>
              </a:rPr>
              <a:t>ERROR CORRECTION MECHANISM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84C55D7-2DBB-6849-9439-ABA73EE9D1EF}"/>
                  </a:ext>
                </a:extLst>
              </p:cNvPr>
              <p:cNvSpPr>
                <a:spLocks noGrp="1"/>
              </p:cNvSpPr>
              <p:nvPr>
                <p:ph idx="1"/>
              </p:nvPr>
            </p:nvSpPr>
            <p:spPr>
              <a:xfrm>
                <a:off x="838200" y="1520190"/>
                <a:ext cx="10515600" cy="5154929"/>
              </a:xfrm>
            </p:spPr>
            <p:txBody>
              <a:bodyPr>
                <a:normAutofit/>
              </a:bodyPr>
              <a:lstStyle/>
              <a:p>
                <a:pPr marL="0" indent="0">
                  <a:buNone/>
                </a:pPr>
                <a:r>
                  <a:rPr lang="en-US" sz="2000" dirty="0">
                    <a:solidFill>
                      <a:srgbClr val="FF0000"/>
                    </a:solidFill>
                  </a:rPr>
                  <a:t>Why do we lag the cointegrating relationship</a:t>
                </a:r>
                <a:r>
                  <a:rPr lang="en-US" sz="2000" dirty="0"/>
                  <a:t>? </a:t>
                </a:r>
              </a:p>
              <a:p>
                <a:r>
                  <a:rPr lang="en-US" sz="2000" dirty="0"/>
                  <a:t>Because it takes at least one period for the economy to notice the disequilibrium and start adjusting. </a:t>
                </a:r>
              </a:p>
              <a:p>
                <a:endParaRPr lang="en-US" sz="2000" dirty="0"/>
              </a:p>
              <a:p>
                <a:pPr marL="0" indent="0">
                  <a:buNone/>
                </a:pPr>
                <a:r>
                  <a:rPr lang="en-US" sz="2000" dirty="0"/>
                  <a:t>If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𝑌</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oMath>
                </a14:m>
                <a:r>
                  <a:rPr lang="en-US" sz="2000" dirty="0"/>
                  <a:t>is above the level predicted by </a:t>
                </a:r>
                <a14:m>
                  <m:oMath xmlns:m="http://schemas.openxmlformats.org/officeDocument/2006/math">
                    <m:sSub>
                      <m:sSubPr>
                        <m:ctrlPr>
                          <a:rPr lang="en-US" sz="2000" i="1">
                            <a:latin typeface="Cambria Math" panose="02040503050406030204" pitchFamily="18" charset="0"/>
                          </a:rPr>
                        </m:ctrlPr>
                      </m:sSubPr>
                      <m:e>
                        <m:r>
                          <a:rPr lang="pt-BR" sz="2000" i="1">
                            <a:latin typeface="Cambria Math" panose="02040503050406030204" pitchFamily="18" charset="0"/>
                          </a:rPr>
                          <m:t>𝑌</m:t>
                        </m:r>
                      </m:e>
                      <m:sub>
                        <m:r>
                          <a:rPr lang="en-US" sz="2000" i="1">
                            <a:latin typeface="Cambria Math" panose="02040503050406030204" pitchFamily="18" charset="0"/>
                          </a:rPr>
                          <m:t>𝑡</m:t>
                        </m:r>
                      </m:sub>
                    </m:sSub>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𝛽</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𝜖</m:t>
                        </m:r>
                      </m:e>
                      <m:sub>
                        <m:r>
                          <a:rPr lang="en-US" sz="2000" i="1">
                            <a:latin typeface="Cambria Math" panose="02040503050406030204" pitchFamily="18" charset="0"/>
                            <a:ea typeface="Cambria Math" panose="02040503050406030204" pitchFamily="18" charset="0"/>
                          </a:rPr>
                          <m:t>𝑡</m:t>
                        </m:r>
                      </m:sub>
                    </m:sSub>
                  </m:oMath>
                </a14:m>
                <a:r>
                  <a:rPr lang="en-US" sz="2000" dirty="0"/>
                  <a:t>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𝜖</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&gt;0)</m:t>
                    </m:r>
                  </m:oMath>
                </a14:m>
                <a:r>
                  <a:rPr lang="en-US" sz="2000" dirty="0"/>
                  <a:t>, then the change in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𝑌</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oMath>
                </a14:m>
                <a:r>
                  <a:rPr lang="en-US" sz="2000" dirty="0"/>
                  <a:t>must go down by and amount equal to </a:t>
                </a:r>
                <a14:m>
                  <m:oMath xmlns:m="http://schemas.openxmlformats.org/officeDocument/2006/math">
                    <m:r>
                      <a:rPr lang="en-US" sz="2000" i="1">
                        <a:latin typeface="Cambria Math" panose="02040503050406030204" pitchFamily="18" charset="0"/>
                        <a:ea typeface="Cambria Math" panose="02040503050406030204" pitchFamily="18" charset="0"/>
                      </a:rPr>
                      <m:t>𝛼</m:t>
                    </m:r>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𝜖</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e>
                    </m:d>
                  </m:oMath>
                </a14:m>
                <a:r>
                  <a:rPr lang="en-US" sz="2000" dirty="0"/>
                  <a:t>. If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𝑌</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oMath>
                </a14:m>
                <a:r>
                  <a:rPr lang="en-US" sz="2000" dirty="0"/>
                  <a:t> is below, then change in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𝑌</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oMath>
                </a14:m>
                <a:r>
                  <a:rPr lang="en-US" sz="2000" dirty="0"/>
                  <a:t>will tend to increase. </a:t>
                </a:r>
              </a:p>
              <a:p>
                <a:pPr marL="0" indent="0">
                  <a:buNone/>
                </a:pPr>
                <a:endParaRPr lang="en-US" sz="2000" dirty="0"/>
              </a:p>
              <a:p>
                <a:r>
                  <a:rPr lang="en-US" sz="2000" dirty="0"/>
                  <a:t>The cointegration relationship acts like a </a:t>
                </a:r>
                <a:r>
                  <a:rPr lang="en-US" sz="2000" b="1" dirty="0">
                    <a:solidFill>
                      <a:srgbClr val="FF0000"/>
                    </a:solidFill>
                  </a:rPr>
                  <a:t>“gravitational pull”. </a:t>
                </a:r>
                <a:r>
                  <a:rPr lang="en-US" sz="2000" dirty="0"/>
                  <a:t>In period t the system will partially self-correct the disequilibrium (how partially depends on the </a:t>
                </a:r>
                <a:r>
                  <a:rPr lang="en-US" sz="2000" b="1" dirty="0"/>
                  <a:t>“speed of adjustment”</a:t>
                </a:r>
                <a:r>
                  <a:rPr lang="en-US" sz="2000" dirty="0"/>
                  <a:t>) of period    t – 1 and the gravitational pull will bring the system back to the long-run equilibrium.</a:t>
                </a:r>
              </a:p>
              <a:p>
                <a:endParaRPr lang="en-US" sz="2000" dirty="0"/>
              </a:p>
              <a:p>
                <a:pPr marL="0" indent="0">
                  <a:buNone/>
                </a:pPr>
                <a:r>
                  <a:rPr lang="en-US" sz="2000" dirty="0"/>
                  <a:t>See graph on next page:</a:t>
                </a:r>
              </a:p>
            </p:txBody>
          </p:sp>
        </mc:Choice>
        <mc:Fallback>
          <p:sp>
            <p:nvSpPr>
              <p:cNvPr id="3" name="Content Placeholder 2">
                <a:extLst>
                  <a:ext uri="{FF2B5EF4-FFF2-40B4-BE49-F238E27FC236}">
                    <a16:creationId xmlns:a16="http://schemas.microsoft.com/office/drawing/2014/main" id="{F84C55D7-2DBB-6849-9439-ABA73EE9D1EF}"/>
                  </a:ext>
                </a:extLst>
              </p:cNvPr>
              <p:cNvSpPr>
                <a:spLocks noGrp="1" noRot="1" noChangeAspect="1" noMove="1" noResize="1" noEditPoints="1" noAdjustHandles="1" noChangeArrowheads="1" noChangeShapeType="1" noTextEdit="1"/>
              </p:cNvSpPr>
              <p:nvPr>
                <p:ph idx="1"/>
              </p:nvPr>
            </p:nvSpPr>
            <p:spPr>
              <a:xfrm>
                <a:off x="838200" y="1520190"/>
                <a:ext cx="10515600" cy="5154929"/>
              </a:xfrm>
              <a:blipFill>
                <a:blip r:embed="rId2"/>
                <a:stretch>
                  <a:fillRect l="-724" t="-1229"/>
                </a:stretch>
              </a:blipFill>
            </p:spPr>
            <p:txBody>
              <a:bodyPr/>
              <a:lstStyle/>
              <a:p>
                <a:r>
                  <a:rPr lang="en-US">
                    <a:noFill/>
                  </a:rPr>
                  <a:t> </a:t>
                </a:r>
              </a:p>
            </p:txBody>
          </p:sp>
        </mc:Fallback>
      </mc:AlternateContent>
    </p:spTree>
    <p:extLst>
      <p:ext uri="{BB962C8B-B14F-4D97-AF65-F5344CB8AC3E}">
        <p14:creationId xmlns:p14="http://schemas.microsoft.com/office/powerpoint/2010/main" val="879455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B9B3F57-0FB5-4944-8B6B-240894CF4E49}"/>
                  </a:ext>
                </a:extLst>
              </p:cNvPr>
              <p:cNvSpPr>
                <a:spLocks noGrp="1"/>
              </p:cNvSpPr>
              <p:nvPr>
                <p:ph idx="1"/>
              </p:nvPr>
            </p:nvSpPr>
            <p:spPr>
              <a:xfrm>
                <a:off x="838200" y="1258784"/>
                <a:ext cx="10515600" cy="4918179"/>
              </a:xfrm>
            </p:spPr>
            <p:txBody>
              <a:bodyPr>
                <a:normAutofit/>
              </a:bodyPr>
              <a:lstStyle/>
              <a:p>
                <a:pPr marL="457200" lvl="1" indent="0" algn="ctr">
                  <a:buNone/>
                </a:pPr>
                <a:r>
                  <a:rPr lang="en-US" dirty="0"/>
                  <a:t>EXAMPLE</a:t>
                </a: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Δ</m:t>
                          </m:r>
                          <m:r>
                            <a:rPr lang="en-US" b="0" i="1" smtClean="0">
                              <a:latin typeface="Cambria Math" panose="02040503050406030204" pitchFamily="18" charset="0"/>
                              <a:ea typeface="Cambria Math" panose="02040503050406030204" pitchFamily="18" charset="0"/>
                            </a:rPr>
                            <m:t>𝐶</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𝛾</m:t>
                      </m:r>
                      <m:r>
                        <m:rPr>
                          <m:sty m:val="p"/>
                        </m:rPr>
                        <a:rPr lang="el-GR" i="1">
                          <a:latin typeface="Cambria Math" panose="02040503050406030204" pitchFamily="18" charset="0"/>
                          <a:ea typeface="Cambria Math" panose="02040503050406030204" pitchFamily="18" charset="0"/>
                        </a:rPr>
                        <m:t>Δ</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𝑌</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𝑌</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d>
                      <m:r>
                        <a:rPr lang="en-US" i="1">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𝑒</m:t>
                          </m:r>
                        </m:e>
                        <m:sub>
                          <m:r>
                            <a:rPr lang="en-US" i="1">
                              <a:latin typeface="Cambria Math" panose="02040503050406030204" pitchFamily="18" charset="0"/>
                              <a:ea typeface="Cambria Math" panose="02040503050406030204" pitchFamily="18" charset="0"/>
                            </a:rPr>
                            <m:t>𝑡</m:t>
                          </m:r>
                        </m:sub>
                      </m:sSub>
                    </m:oMath>
                  </m:oMathPara>
                </a14:m>
                <a:endParaRPr lang="en-US" dirty="0"/>
              </a:p>
              <a:p>
                <a:pPr marL="0" indent="0">
                  <a:buNone/>
                </a:pPr>
                <a:endParaRPr lang="en-US" dirty="0"/>
              </a:p>
              <a:p>
                <a:pPr marL="0" indent="0">
                  <a:buNone/>
                </a:pPr>
                <a:r>
                  <a:rPr lang="en-US" dirty="0"/>
                  <a:t>Suppose </a:t>
                </a: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𝑡</m:t>
                        </m:r>
                      </m:sub>
                    </m:sSub>
                  </m:oMath>
                </a14:m>
                <a:r>
                  <a:rPr lang="en-US" dirty="0"/>
                  <a:t> is consumption and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𝑌</m:t>
                        </m:r>
                      </m:e>
                      <m:sub>
                        <m:r>
                          <a:rPr lang="en-US" i="1">
                            <a:latin typeface="Cambria Math" panose="02040503050406030204" pitchFamily="18" charset="0"/>
                            <a:ea typeface="Cambria Math" panose="02040503050406030204" pitchFamily="18" charset="0"/>
                          </a:rPr>
                          <m:t>𝑡</m:t>
                        </m:r>
                      </m:sub>
                    </m:sSub>
                  </m:oMath>
                </a14:m>
                <a:r>
                  <a:rPr lang="en-US" dirty="0"/>
                  <a:t> is income. If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𝑒</m:t>
                        </m:r>
                      </m:e>
                      <m:sub>
                        <m:r>
                          <a:rPr lang="en-US" i="1">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oMath>
                </a14:m>
                <a:r>
                  <a:rPr lang="en-US" dirty="0"/>
                  <a:t>&gt; 0, then we consume too much in relation to the long-run target level. Then we need to: </a:t>
                </a:r>
              </a:p>
              <a:p>
                <a:pPr marL="0" indent="0">
                  <a:buNone/>
                </a:pPr>
                <a:endParaRPr lang="en-US" dirty="0"/>
              </a:p>
              <a:p>
                <a:r>
                  <a:rPr lang="en-US" dirty="0"/>
                  <a:t>Reduce consumption or; </a:t>
                </a:r>
              </a:p>
              <a:p>
                <a:r>
                  <a:rPr lang="en-US" dirty="0"/>
                  <a:t>Increase income by working more.</a:t>
                </a:r>
              </a:p>
            </p:txBody>
          </p:sp>
        </mc:Choice>
        <mc:Fallback>
          <p:sp>
            <p:nvSpPr>
              <p:cNvPr id="3" name="Content Placeholder 2">
                <a:extLst>
                  <a:ext uri="{FF2B5EF4-FFF2-40B4-BE49-F238E27FC236}">
                    <a16:creationId xmlns:a16="http://schemas.microsoft.com/office/drawing/2014/main" id="{7B9B3F57-0FB5-4944-8B6B-240894CF4E49}"/>
                  </a:ext>
                </a:extLst>
              </p:cNvPr>
              <p:cNvSpPr>
                <a:spLocks noGrp="1" noRot="1" noChangeAspect="1" noMove="1" noResize="1" noEditPoints="1" noAdjustHandles="1" noChangeArrowheads="1" noChangeShapeType="1" noTextEdit="1"/>
              </p:cNvSpPr>
              <p:nvPr>
                <p:ph idx="1"/>
              </p:nvPr>
            </p:nvSpPr>
            <p:spPr>
              <a:xfrm>
                <a:off x="838200" y="1258784"/>
                <a:ext cx="10515600" cy="4918179"/>
              </a:xfrm>
              <a:blipFill>
                <a:blip r:embed="rId2"/>
                <a:stretch>
                  <a:fillRect l="-1206" t="-1285"/>
                </a:stretch>
              </a:blipFill>
            </p:spPr>
            <p:txBody>
              <a:bodyPr/>
              <a:lstStyle/>
              <a:p>
                <a:r>
                  <a:rPr lang="en-US">
                    <a:noFill/>
                  </a:rPr>
                  <a:t> </a:t>
                </a:r>
              </a:p>
            </p:txBody>
          </p:sp>
        </mc:Fallback>
      </mc:AlternateContent>
    </p:spTree>
    <p:extLst>
      <p:ext uri="{BB962C8B-B14F-4D97-AF65-F5344CB8AC3E}">
        <p14:creationId xmlns:p14="http://schemas.microsoft.com/office/powerpoint/2010/main" val="3162306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F1076F06-91C1-E940-942B-91AC48698F3F}"/>
              </a:ext>
            </a:extLst>
          </p:cNvPr>
          <p:cNvPicPr>
            <a:picLocks noGrp="1" noChangeAspect="1"/>
          </p:cNvPicPr>
          <p:nvPr>
            <p:ph idx="1"/>
          </p:nvPr>
        </p:nvPicPr>
        <p:blipFill>
          <a:blip r:embed="rId2"/>
          <a:stretch>
            <a:fillRect/>
          </a:stretch>
        </p:blipFill>
        <p:spPr>
          <a:xfrm>
            <a:off x="2375065" y="380010"/>
            <a:ext cx="7297554" cy="6218656"/>
          </a:xfrm>
        </p:spPr>
      </p:pic>
    </p:spTree>
    <p:extLst>
      <p:ext uri="{BB962C8B-B14F-4D97-AF65-F5344CB8AC3E}">
        <p14:creationId xmlns:p14="http://schemas.microsoft.com/office/powerpoint/2010/main" val="1901331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31337-2A7E-4949-BC2C-B18749213F78}"/>
              </a:ext>
            </a:extLst>
          </p:cNvPr>
          <p:cNvSpPr>
            <a:spLocks noGrp="1"/>
          </p:cNvSpPr>
          <p:nvPr>
            <p:ph type="title"/>
          </p:nvPr>
        </p:nvSpPr>
        <p:spPr>
          <a:xfrm>
            <a:off x="838200" y="365125"/>
            <a:ext cx="10515600" cy="893659"/>
          </a:xfrm>
        </p:spPr>
        <p:txBody>
          <a:bodyPr>
            <a:normAutofit/>
          </a:bodyPr>
          <a:lstStyle/>
          <a:p>
            <a:pPr algn="ctr"/>
            <a:r>
              <a:rPr lang="en-US" sz="3200" b="1" dirty="0"/>
              <a:t>The Speed of Adjustment Factor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B9B3F57-0FB5-4944-8B6B-240894CF4E49}"/>
                  </a:ext>
                </a:extLst>
              </p:cNvPr>
              <p:cNvSpPr>
                <a:spLocks noGrp="1"/>
              </p:cNvSpPr>
              <p:nvPr>
                <p:ph idx="1"/>
              </p:nvPr>
            </p:nvSpPr>
            <p:spPr>
              <a:xfrm>
                <a:off x="838200" y="1258784"/>
                <a:ext cx="10515600" cy="4918179"/>
              </a:xfrm>
            </p:spPr>
            <p:txBody>
              <a:bodyPr>
                <a:normAutofit/>
              </a:bodyPr>
              <a:lstStyle/>
              <a:p>
                <a:pPr lvl="1"/>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Δ</m:t>
                          </m:r>
                          <m:r>
                            <a:rPr lang="pt-BR" i="1">
                              <a:latin typeface="Cambria Math" panose="02040503050406030204" pitchFamily="18" charset="0"/>
                            </a:rPr>
                            <m:t>𝑌</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𝛾</m:t>
                      </m:r>
                      <m:r>
                        <m:rPr>
                          <m:sty m:val="p"/>
                        </m:rPr>
                        <a:rPr lang="el-GR" i="1">
                          <a:latin typeface="Cambria Math" panose="02040503050406030204" pitchFamily="18" charset="0"/>
                          <a:ea typeface="Cambria Math" panose="02040503050406030204" pitchFamily="18" charset="0"/>
                        </a:rPr>
                        <m:t>Δ</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𝑋</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pt-BR" i="1">
                                  <a:latin typeface="Cambria Math" panose="02040503050406030204" pitchFamily="18" charset="0"/>
                                  <a:ea typeface="Cambria Math" panose="02040503050406030204" pitchFamily="18" charset="0"/>
                                </a:rPr>
                                <m:t>𝑌</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𝛽</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𝑋</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𝑒</m:t>
                          </m:r>
                        </m:e>
                        <m:sub>
                          <m:r>
                            <a:rPr lang="en-US" i="1">
                              <a:latin typeface="Cambria Math" panose="02040503050406030204" pitchFamily="18" charset="0"/>
                              <a:ea typeface="Cambria Math" panose="02040503050406030204" pitchFamily="18" charset="0"/>
                            </a:rPr>
                            <m:t>𝑡</m:t>
                          </m:r>
                        </m:sub>
                      </m:sSub>
                    </m:oMath>
                  </m:oMathPara>
                </a14:m>
                <a:endParaRPr lang="en-US" dirty="0"/>
              </a:p>
              <a:p>
                <a:pPr marL="0" indent="0">
                  <a:buNone/>
                </a:pPr>
                <a:endParaRPr lang="en-US" dirty="0"/>
              </a:p>
              <a:p>
                <a:pPr marL="0" indent="0">
                  <a:buNone/>
                </a:pPr>
                <a14:m>
                  <m:oMath xmlns:m="http://schemas.openxmlformats.org/officeDocument/2006/math">
                    <m:r>
                      <a:rPr lang="en-US"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oMath>
                </a14:m>
                <a:r>
                  <a:rPr lang="en-US" dirty="0"/>
                  <a:t> is called </a:t>
                </a:r>
                <a:r>
                  <a:rPr lang="en-US" b="1" dirty="0"/>
                  <a:t>“the speed of adjustment factor”</a:t>
                </a:r>
              </a:p>
              <a:p>
                <a:pPr marL="0" indent="0">
                  <a:buNone/>
                </a:pPr>
                <a:r>
                  <a:rPr lang="en-US" dirty="0"/>
                  <a:t>	 It tell us how quickly the two variables adjust to re-establish the equilibrium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𝜖</m:t>
                        </m:r>
                      </m:e>
                      <m:sub>
                        <m:r>
                          <a:rPr lang="en-US" i="1">
                            <a:latin typeface="Cambria Math" panose="02040503050406030204" pitchFamily="18" charset="0"/>
                            <a:ea typeface="Cambria Math" panose="02040503050406030204" pitchFamily="18" charset="0"/>
                          </a:rPr>
                          <m:t>𝑡</m:t>
                        </m:r>
                      </m:sub>
                    </m:sSub>
                  </m:oMath>
                </a14:m>
                <a:r>
                  <a:rPr lang="en-US" dirty="0"/>
                  <a:t>  is the amount of disequilibrium). How fast the system revert back to the long-run target equilibrium level. </a:t>
                </a:r>
              </a:p>
              <a:p>
                <a:pPr marL="0" indent="0">
                  <a:buNone/>
                </a:pPr>
                <a:endParaRPr lang="en-US" dirty="0"/>
              </a:p>
              <a:p>
                <a:pPr marL="0" indent="0">
                  <a:buNone/>
                </a:pPr>
                <a:r>
                  <a:rPr lang="en-US" dirty="0"/>
                  <a:t>Example: suppose </a:t>
                </a:r>
                <a14:m>
                  <m:oMath xmlns:m="http://schemas.openxmlformats.org/officeDocument/2006/math">
                    <m:r>
                      <a:rPr lang="en-US" i="1">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=0.5</m:t>
                    </m:r>
                  </m:oMath>
                </a14:m>
                <a:r>
                  <a:rPr lang="en-US" dirty="0"/>
                  <a:t>. The disequilibrium will be corrected by 50% (that why the model is called </a:t>
                </a:r>
                <a:r>
                  <a:rPr lang="en-US" dirty="0">
                    <a:solidFill>
                      <a:srgbClr val="FF0000"/>
                    </a:solidFill>
                  </a:rPr>
                  <a:t>Error Correction Mechanism</a:t>
                </a:r>
                <a:r>
                  <a:rPr lang="en-US" dirty="0"/>
                  <a:t>)</a:t>
                </a:r>
              </a:p>
            </p:txBody>
          </p:sp>
        </mc:Choice>
        <mc:Fallback>
          <p:sp>
            <p:nvSpPr>
              <p:cNvPr id="3" name="Content Placeholder 2">
                <a:extLst>
                  <a:ext uri="{FF2B5EF4-FFF2-40B4-BE49-F238E27FC236}">
                    <a16:creationId xmlns:a16="http://schemas.microsoft.com/office/drawing/2014/main" id="{7B9B3F57-0FB5-4944-8B6B-240894CF4E49}"/>
                  </a:ext>
                </a:extLst>
              </p:cNvPr>
              <p:cNvSpPr>
                <a:spLocks noGrp="1" noRot="1" noChangeAspect="1" noMove="1" noResize="1" noEditPoints="1" noAdjustHandles="1" noChangeArrowheads="1" noChangeShapeType="1" noTextEdit="1"/>
              </p:cNvSpPr>
              <p:nvPr>
                <p:ph idx="1"/>
              </p:nvPr>
            </p:nvSpPr>
            <p:spPr>
              <a:xfrm>
                <a:off x="838200" y="1258784"/>
                <a:ext cx="10515600" cy="4918179"/>
              </a:xfrm>
              <a:blipFill>
                <a:blip r:embed="rId2"/>
                <a:stretch>
                  <a:fillRect l="-1206" r="-1568"/>
                </a:stretch>
              </a:blipFill>
            </p:spPr>
            <p:txBody>
              <a:bodyPr/>
              <a:lstStyle/>
              <a:p>
                <a:r>
                  <a:rPr lang="en-US">
                    <a:noFill/>
                  </a:rPr>
                  <a:t> </a:t>
                </a:r>
              </a:p>
            </p:txBody>
          </p:sp>
        </mc:Fallback>
      </mc:AlternateContent>
    </p:spTree>
    <p:extLst>
      <p:ext uri="{BB962C8B-B14F-4D97-AF65-F5344CB8AC3E}">
        <p14:creationId xmlns:p14="http://schemas.microsoft.com/office/powerpoint/2010/main" val="35396271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20255-8BBD-8341-BC5A-C2BAFBE1135D}"/>
              </a:ext>
            </a:extLst>
          </p:cNvPr>
          <p:cNvSpPr>
            <a:spLocks noGrp="1"/>
          </p:cNvSpPr>
          <p:nvPr>
            <p:ph type="title"/>
          </p:nvPr>
        </p:nvSpPr>
        <p:spPr/>
        <p:txBody>
          <a:bodyPr>
            <a:normAutofit/>
          </a:bodyPr>
          <a:lstStyle/>
          <a:p>
            <a:pPr algn="ctr"/>
            <a:r>
              <a:rPr lang="en-US" sz="3200" b="1" dirty="0"/>
              <a:t>Deriving the ECM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EACFB3D-410A-8948-97C0-3EF18EF3A3F2}"/>
                  </a:ext>
                </a:extLst>
              </p:cNvPr>
              <p:cNvSpPr>
                <a:spLocks noGrp="1"/>
              </p:cNvSpPr>
              <p:nvPr>
                <p:ph idx="1"/>
              </p:nvPr>
            </p:nvSpPr>
            <p:spPr/>
            <p:txBody>
              <a:bodyPr>
                <a:normAutofit/>
              </a:bodyPr>
              <a:lstStyle/>
              <a:p>
                <a:pPr marL="0" indent="0">
                  <a:buNone/>
                </a:pPr>
                <a:r>
                  <a:rPr lang="en-US" sz="2000" dirty="0">
                    <a:solidFill>
                      <a:srgbClr val="FF0000"/>
                    </a:solidFill>
                  </a:rPr>
                  <a:t>The ECM is derived from VAR model</a:t>
                </a:r>
                <a:r>
                  <a:rPr lang="en-US" sz="2000" dirty="0"/>
                  <a:t>. Considered the ARDL (autoregressive distributed lag) model (one of the equation of our SVAR(1)): </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rPr>
                            <m:t>𝑌</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sSub>
                            <m:sSubPr>
                              <m:ctrlPr>
                                <a:rPr lang="en-US" sz="2000" i="1" smtClean="0">
                                  <a:latin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rPr>
                                <m:t>11</m:t>
                              </m:r>
                            </m:sub>
                          </m:sSub>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𝜆</m:t>
                          </m:r>
                        </m:e>
                        <m:sub>
                          <m:r>
                            <a:rPr lang="pt-BR" sz="2000" i="1">
                              <a:latin typeface="Cambria Math" panose="02040503050406030204" pitchFamily="18" charset="0"/>
                              <a:ea typeface="Cambria Math" panose="02040503050406030204" pitchFamily="18" charset="0"/>
                            </a:rPr>
                            <m:t>1</m:t>
                          </m:r>
                        </m:sub>
                      </m:sSub>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𝑌</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sSub>
                        <m:sSubPr>
                          <m:ctrlPr>
                            <a:rPr lang="en-US" sz="2000" i="1">
                              <a:latin typeface="Cambria Math" panose="02040503050406030204" pitchFamily="18" charset="0"/>
                            </a:rPr>
                          </m:ctrlPr>
                        </m:sSubPr>
                        <m:e>
                          <m:r>
                            <a:rPr lang="pt-BR" sz="2000" i="1">
                              <a:latin typeface="Cambria Math" panose="02040503050406030204" pitchFamily="18" charset="0"/>
                            </a:rPr>
                            <m:t>+</m:t>
                          </m:r>
                          <m:r>
                            <a:rPr lang="pt-BR" sz="2000" i="1" smtClean="0">
                              <a:latin typeface="Cambria Math" panose="02040503050406030204" pitchFamily="18" charset="0"/>
                              <a:ea typeface="Cambria Math" panose="02040503050406030204" pitchFamily="18" charset="0"/>
                            </a:rPr>
                            <m:t>𝜆</m:t>
                          </m:r>
                        </m:e>
                        <m:sub>
                          <m:r>
                            <a:rPr lang="pt-BR" sz="2000" b="0" i="1" smtClean="0">
                              <a:latin typeface="Cambria Math" panose="02040503050406030204" pitchFamily="18" charset="0"/>
                              <a:ea typeface="Cambria Math" panose="02040503050406030204" pitchFamily="18" charset="0"/>
                            </a:rPr>
                            <m:t>2</m:t>
                          </m:r>
                        </m:sub>
                      </m:sSub>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𝜖</m:t>
                          </m:r>
                        </m:e>
                        <m:sub>
                          <m:r>
                            <a:rPr lang="en-US" sz="2000" i="1">
                              <a:latin typeface="Cambria Math" panose="02040503050406030204" pitchFamily="18" charset="0"/>
                              <a:ea typeface="Cambria Math" panose="02040503050406030204" pitchFamily="18" charset="0"/>
                            </a:rPr>
                            <m:t>𝑡</m:t>
                          </m:r>
                        </m:sub>
                      </m:sSub>
                    </m:oMath>
                  </m:oMathPara>
                </a14:m>
                <a:endParaRPr lang="en-US" sz="2000" dirty="0"/>
              </a:p>
              <a:p>
                <a:pPr marL="0" indent="0">
                  <a:buNone/>
                </a:pPr>
                <a:endParaRPr lang="en-US" sz="2000" dirty="0"/>
              </a:p>
              <a:p>
                <a:pPr marL="0" indent="0">
                  <a:buNone/>
                </a:pPr>
                <a:r>
                  <a:rPr lang="en-US" sz="2000" dirty="0"/>
                  <a:t>Subtracting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𝑌</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oMath>
                </a14:m>
                <a:r>
                  <a:rPr lang="en-US" sz="2000" dirty="0"/>
                  <a:t> from both sides of the equation: </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𝑡</m:t>
                          </m:r>
                        </m:sub>
                      </m:sSub>
                      <m:r>
                        <a:rPr lang="en-US" b="0"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𝑌</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rPr>
                                <m:t>11</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sub>
                          </m:sSub>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𝜆</m:t>
                          </m:r>
                        </m:e>
                        <m:sub>
                          <m:r>
                            <a:rPr lang="pt-BR" i="1">
                              <a:latin typeface="Cambria Math" panose="02040503050406030204" pitchFamily="18" charset="0"/>
                              <a:ea typeface="Cambria Math" panose="02040503050406030204" pitchFamily="18" charset="0"/>
                            </a:rPr>
                            <m:t>1</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𝑌</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𝑌</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sSub>
                        <m:sSubPr>
                          <m:ctrlPr>
                            <a:rPr lang="en-US" i="1">
                              <a:latin typeface="Cambria Math" panose="02040503050406030204" pitchFamily="18" charset="0"/>
                            </a:rPr>
                          </m:ctrlPr>
                        </m:sSubPr>
                        <m:e>
                          <m:r>
                            <a:rPr lang="pt-BR" i="1">
                              <a:latin typeface="Cambria Math" panose="02040503050406030204" pitchFamily="18" charset="0"/>
                            </a:rPr>
                            <m:t>+</m:t>
                          </m:r>
                          <m:r>
                            <a:rPr lang="pt-BR" i="1">
                              <a:latin typeface="Cambria Math" panose="02040503050406030204" pitchFamily="18" charset="0"/>
                              <a:ea typeface="Cambria Math" panose="02040503050406030204" pitchFamily="18" charset="0"/>
                            </a:rPr>
                            <m:t>𝜆</m:t>
                          </m:r>
                        </m:e>
                        <m:sub>
                          <m:r>
                            <a:rPr lang="pt-BR" i="1">
                              <a:latin typeface="Cambria Math" panose="02040503050406030204" pitchFamily="18" charset="0"/>
                              <a:ea typeface="Cambria Math" panose="02040503050406030204" pitchFamily="18" charset="0"/>
                            </a:rPr>
                            <m:t>2</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𝑋</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𝜖</m:t>
                          </m:r>
                        </m:e>
                        <m:sub>
                          <m:r>
                            <a:rPr lang="en-US" i="1">
                              <a:latin typeface="Cambria Math" panose="02040503050406030204" pitchFamily="18" charset="0"/>
                              <a:ea typeface="Cambria Math" panose="02040503050406030204" pitchFamily="18" charset="0"/>
                            </a:rPr>
                            <m:t>𝑡</m:t>
                          </m:r>
                        </m:sub>
                      </m:sSub>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el-GR" i="1" smtClean="0">
                              <a:latin typeface="Cambria Math" panose="02040503050406030204" pitchFamily="18" charset="0"/>
                              <a:ea typeface="Cambria Math" panose="02040503050406030204" pitchFamily="18" charset="0"/>
                            </a:rPr>
                            <m:t>Δ</m:t>
                          </m:r>
                          <m:r>
                            <a:rPr lang="en-US" i="1">
                              <a:latin typeface="Cambria Math" panose="02040503050406030204" pitchFamily="18" charset="0"/>
                            </a:rPr>
                            <m:t>𝑌</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rPr>
                            <m:t>11</m:t>
                          </m:r>
                        </m:sub>
                      </m:sSub>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sub>
                      </m:sSub>
                      <m:r>
                        <a:rPr lang="en-US" b="0"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d>
                            <m:dPr>
                              <m:ctrlPr>
                                <a:rPr lang="en-US" i="1" smtClean="0">
                                  <a:latin typeface="Cambria Math" panose="02040503050406030204" pitchFamily="18" charset="0"/>
                                  <a:ea typeface="Cambria Math" panose="02040503050406030204" pitchFamily="18" charset="0"/>
                                </a:rPr>
                              </m:ctrlPr>
                            </m:dPr>
                            <m:e>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−1</m:t>
                              </m:r>
                            </m:e>
                          </m:d>
                          <m:r>
                            <a:rPr lang="en-US" i="1">
                              <a:latin typeface="Cambria Math" panose="02040503050406030204" pitchFamily="18" charset="0"/>
                              <a:ea typeface="Cambria Math" panose="02040503050406030204" pitchFamily="18" charset="0"/>
                            </a:rPr>
                            <m:t>𝑌</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sSub>
                        <m:sSubPr>
                          <m:ctrlPr>
                            <a:rPr lang="en-US" i="1">
                              <a:latin typeface="Cambria Math" panose="02040503050406030204" pitchFamily="18" charset="0"/>
                            </a:rPr>
                          </m:ctrlPr>
                        </m:sSubPr>
                        <m:e>
                          <m:r>
                            <a:rPr lang="pt-BR" i="1">
                              <a:latin typeface="Cambria Math" panose="02040503050406030204" pitchFamily="18" charset="0"/>
                            </a:rPr>
                            <m:t>+</m:t>
                          </m:r>
                          <m:r>
                            <a:rPr lang="pt-BR" i="1">
                              <a:latin typeface="Cambria Math" panose="02040503050406030204" pitchFamily="18" charset="0"/>
                              <a:ea typeface="Cambria Math" panose="02040503050406030204" pitchFamily="18" charset="0"/>
                            </a:rPr>
                            <m:t>𝜆</m:t>
                          </m:r>
                        </m:e>
                        <m:sub>
                          <m:r>
                            <a:rPr lang="pt-BR" i="1">
                              <a:latin typeface="Cambria Math" panose="02040503050406030204" pitchFamily="18" charset="0"/>
                              <a:ea typeface="Cambria Math" panose="02040503050406030204" pitchFamily="18" charset="0"/>
                            </a:rPr>
                            <m:t>2</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𝑋</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𝜖</m:t>
                          </m:r>
                        </m:e>
                        <m:sub>
                          <m:r>
                            <a:rPr lang="en-US" i="1">
                              <a:latin typeface="Cambria Math" panose="02040503050406030204" pitchFamily="18" charset="0"/>
                              <a:ea typeface="Cambria Math" panose="02040503050406030204" pitchFamily="18" charset="0"/>
                            </a:rPr>
                            <m:t>𝑡</m:t>
                          </m:r>
                        </m:sub>
                      </m:sSub>
                    </m:oMath>
                  </m:oMathPara>
                </a14:m>
                <a:endParaRPr lang="en-US" dirty="0"/>
              </a:p>
            </p:txBody>
          </p:sp>
        </mc:Choice>
        <mc:Fallback>
          <p:sp>
            <p:nvSpPr>
              <p:cNvPr id="3" name="Content Placeholder 2">
                <a:extLst>
                  <a:ext uri="{FF2B5EF4-FFF2-40B4-BE49-F238E27FC236}">
                    <a16:creationId xmlns:a16="http://schemas.microsoft.com/office/drawing/2014/main" id="{7EACFB3D-410A-8948-97C0-3EF18EF3A3F2}"/>
                  </a:ext>
                </a:extLst>
              </p:cNvPr>
              <p:cNvSpPr>
                <a:spLocks noGrp="1" noRot="1" noChangeAspect="1" noMove="1" noResize="1" noEditPoints="1" noAdjustHandles="1" noChangeArrowheads="1" noChangeShapeType="1" noTextEdit="1"/>
              </p:cNvSpPr>
              <p:nvPr>
                <p:ph idx="1"/>
              </p:nvPr>
            </p:nvSpPr>
            <p:spPr>
              <a:blipFill>
                <a:blip r:embed="rId2"/>
                <a:stretch>
                  <a:fillRect l="-724" t="-1453"/>
                </a:stretch>
              </a:blipFill>
            </p:spPr>
            <p:txBody>
              <a:bodyPr/>
              <a:lstStyle/>
              <a:p>
                <a:r>
                  <a:rPr lang="en-US">
                    <a:noFill/>
                  </a:rPr>
                  <a:t> </a:t>
                </a:r>
              </a:p>
            </p:txBody>
          </p:sp>
        </mc:Fallback>
      </mc:AlternateContent>
    </p:spTree>
    <p:extLst>
      <p:ext uri="{BB962C8B-B14F-4D97-AF65-F5344CB8AC3E}">
        <p14:creationId xmlns:p14="http://schemas.microsoft.com/office/powerpoint/2010/main" val="4099638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20255-8BBD-8341-BC5A-C2BAFBE1135D}"/>
              </a:ext>
            </a:extLst>
          </p:cNvPr>
          <p:cNvSpPr>
            <a:spLocks noGrp="1"/>
          </p:cNvSpPr>
          <p:nvPr>
            <p:ph type="title"/>
          </p:nvPr>
        </p:nvSpPr>
        <p:spPr>
          <a:xfrm>
            <a:off x="838200" y="365126"/>
            <a:ext cx="10515600" cy="810532"/>
          </a:xfrm>
        </p:spPr>
        <p:txBody>
          <a:bodyPr>
            <a:normAutofit/>
          </a:bodyPr>
          <a:lstStyle/>
          <a:p>
            <a:pPr algn="ctr"/>
            <a:r>
              <a:rPr lang="en-US" sz="3200" b="1" dirty="0"/>
              <a:t>Deriving the ECM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ACFB3D-410A-8948-97C0-3EF18EF3A3F2}"/>
                  </a:ext>
                </a:extLst>
              </p:cNvPr>
              <p:cNvSpPr>
                <a:spLocks noGrp="1"/>
              </p:cNvSpPr>
              <p:nvPr>
                <p:ph idx="1"/>
              </p:nvPr>
            </p:nvSpPr>
            <p:spPr>
              <a:xfrm>
                <a:off x="838200" y="1175658"/>
                <a:ext cx="10515600" cy="5001305"/>
              </a:xfrm>
            </p:spPr>
            <p:txBody>
              <a:bodyPr>
                <a:normAutofit fontScale="92500" lnSpcReduction="10000"/>
              </a:bodyPr>
              <a:lstStyle/>
              <a:p>
                <a:pPr marL="0" indent="0">
                  <a:buNone/>
                </a:pPr>
                <a:r>
                  <a:rPr lang="en-US" sz="2000" dirty="0"/>
                  <a:t>Now, add and subtract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rPr>
                          <m:t>11</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 </m:t>
                    </m:r>
                  </m:oMath>
                </a14:m>
                <a:r>
                  <a:rPr lang="en-US" sz="2000" dirty="0"/>
                  <a:t>on the right-hand side of the equation:</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m:rPr>
                              <m:sty m:val="p"/>
                            </m:rPr>
                            <a:rPr lang="el-GR" sz="2000" i="1" smtClean="0">
                              <a:latin typeface="Cambria Math" panose="02040503050406030204" pitchFamily="18" charset="0"/>
                              <a:ea typeface="Cambria Math" panose="02040503050406030204" pitchFamily="18" charset="0"/>
                            </a:rPr>
                            <m:t>Δ</m:t>
                          </m:r>
                          <m:r>
                            <a:rPr lang="en-US" sz="2000" i="1">
                              <a:latin typeface="Cambria Math" panose="02040503050406030204" pitchFamily="18" charset="0"/>
                            </a:rPr>
                            <m:t>𝑌</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rPr>
                            <m:t>11</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rPr>
                            <m:t>11</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rPr>
                            <m:t>11</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sSub>
                        <m:sSubPr>
                          <m:ctrlPr>
                            <a:rPr lang="en-US" sz="2000" i="1">
                              <a:latin typeface="Cambria Math" panose="02040503050406030204" pitchFamily="18" charset="0"/>
                              <a:ea typeface="Cambria Math" panose="02040503050406030204" pitchFamily="18" charset="0"/>
                            </a:rPr>
                          </m:ctrlPr>
                        </m:sSubPr>
                        <m:e>
                          <m:d>
                            <m:dPr>
                              <m:ctrlPr>
                                <a:rPr lang="en-US" sz="2000" i="1" smtClean="0">
                                  <a:latin typeface="Cambria Math" panose="02040503050406030204" pitchFamily="18" charset="0"/>
                                  <a:ea typeface="Cambria Math" panose="02040503050406030204" pitchFamily="18" charset="0"/>
                                </a:rPr>
                              </m:ctrlPr>
                            </m:dPr>
                            <m:e>
                              <m:sSub>
                                <m:sSubPr>
                                  <m:ctrlPr>
                                    <a:rPr lang="en-US" sz="2000" i="1" smtClean="0">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𝜆</m:t>
                                  </m:r>
                                </m:e>
                                <m:sub>
                                  <m:r>
                                    <a:rPr lang="en-US" sz="2000" b="0" i="1" smtClean="0">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−1</m:t>
                              </m:r>
                            </m:e>
                          </m:d>
                          <m:r>
                            <a:rPr lang="en-US" sz="2000" i="1">
                              <a:latin typeface="Cambria Math" panose="02040503050406030204" pitchFamily="18" charset="0"/>
                              <a:ea typeface="Cambria Math" panose="02040503050406030204" pitchFamily="18" charset="0"/>
                            </a:rPr>
                            <m:t>𝑌</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sSub>
                        <m:sSubPr>
                          <m:ctrlPr>
                            <a:rPr lang="en-US" sz="2000" i="1">
                              <a:latin typeface="Cambria Math" panose="02040503050406030204" pitchFamily="18" charset="0"/>
                            </a:rPr>
                          </m:ctrlPr>
                        </m:sSubPr>
                        <m:e>
                          <m:r>
                            <a:rPr lang="pt-BR" sz="2000" i="1">
                              <a:latin typeface="Cambria Math" panose="02040503050406030204" pitchFamily="18" charset="0"/>
                            </a:rPr>
                            <m:t>+</m:t>
                          </m:r>
                          <m:r>
                            <a:rPr lang="pt-BR" sz="2000" i="1">
                              <a:latin typeface="Cambria Math" panose="02040503050406030204" pitchFamily="18" charset="0"/>
                              <a:ea typeface="Cambria Math" panose="02040503050406030204" pitchFamily="18" charset="0"/>
                            </a:rPr>
                            <m:t>𝜆</m:t>
                          </m:r>
                        </m:e>
                        <m:sub>
                          <m:r>
                            <a:rPr lang="pt-BR" sz="2000" i="1">
                              <a:latin typeface="Cambria Math" panose="02040503050406030204" pitchFamily="18" charset="0"/>
                              <a:ea typeface="Cambria Math" panose="02040503050406030204" pitchFamily="18" charset="0"/>
                            </a:rPr>
                            <m:t>2</m:t>
                          </m:r>
                        </m:sub>
                      </m:sSub>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𝜖</m:t>
                          </m:r>
                        </m:e>
                        <m:sub>
                          <m:r>
                            <a:rPr lang="en-US" sz="2000" i="1">
                              <a:latin typeface="Cambria Math" panose="02040503050406030204" pitchFamily="18" charset="0"/>
                              <a:ea typeface="Cambria Math" panose="02040503050406030204" pitchFamily="18" charset="0"/>
                            </a:rPr>
                            <m:t>𝑡</m:t>
                          </m:r>
                        </m:sub>
                      </m:sSub>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m:rPr>
                              <m:sty m:val="p"/>
                            </m:rPr>
                            <a:rPr lang="el-GR" sz="2000" i="1">
                              <a:latin typeface="Cambria Math" panose="02040503050406030204" pitchFamily="18" charset="0"/>
                              <a:ea typeface="Cambria Math" panose="02040503050406030204" pitchFamily="18" charset="0"/>
                            </a:rPr>
                            <m:t>Δ</m:t>
                          </m:r>
                          <m:r>
                            <a:rPr lang="en-US" sz="2000" i="1">
                              <a:latin typeface="Cambria Math" panose="02040503050406030204" pitchFamily="18" charset="0"/>
                            </a:rPr>
                            <m:t>𝑌</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rPr>
                            <m:t>11</m:t>
                          </m:r>
                        </m:sub>
                      </m:sSub>
                      <m:r>
                        <m:rPr>
                          <m:sty m:val="p"/>
                        </m:rPr>
                        <a:rPr lang="el-GR" sz="2000" i="1" smtClean="0">
                          <a:latin typeface="Cambria Math" panose="02040503050406030204" pitchFamily="18" charset="0"/>
                          <a:ea typeface="Cambria Math" panose="02040503050406030204" pitchFamily="18" charset="0"/>
                        </a:rPr>
                        <m:t>Δ</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b="0" i="1" smtClean="0">
                          <a:latin typeface="Cambria Math" panose="02040503050406030204" pitchFamily="18" charset="0"/>
                        </a:rPr>
                        <m:t>−</m:t>
                      </m:r>
                      <m:sSub>
                        <m:sSubPr>
                          <m:ctrlPr>
                            <a:rPr lang="en-US" sz="2000" i="1" smtClean="0">
                              <a:latin typeface="Cambria Math" panose="02040503050406030204" pitchFamily="18" charset="0"/>
                              <a:ea typeface="Cambria Math" panose="02040503050406030204" pitchFamily="18" charset="0"/>
                            </a:rPr>
                          </m:ctrlPr>
                        </m:sSubPr>
                        <m:e>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1−</m:t>
                                  </m:r>
                                  <m:r>
                                    <a:rPr lang="en-US" sz="2000" i="1">
                                      <a:latin typeface="Cambria Math" panose="02040503050406030204" pitchFamily="18" charset="0"/>
                                      <a:ea typeface="Cambria Math" panose="02040503050406030204" pitchFamily="18" charset="0"/>
                                    </a:rPr>
                                    <m:t>𝜆</m:t>
                                  </m:r>
                                </m:e>
                                <m:sub>
                                  <m:r>
                                    <a:rPr lang="en-US" sz="2000" i="1">
                                      <a:latin typeface="Cambria Math" panose="02040503050406030204" pitchFamily="18" charset="0"/>
                                      <a:ea typeface="Cambria Math" panose="02040503050406030204" pitchFamily="18" charset="0"/>
                                    </a:rPr>
                                    <m:t>1</m:t>
                                  </m:r>
                                </m:sub>
                              </m:sSub>
                            </m:e>
                          </m:d>
                          <m:r>
                            <a:rPr lang="en-US" sz="2000" i="1">
                              <a:latin typeface="Cambria Math" panose="02040503050406030204" pitchFamily="18" charset="0"/>
                              <a:ea typeface="Cambria Math" panose="02040503050406030204" pitchFamily="18" charset="0"/>
                            </a:rPr>
                            <m:t>𝑌</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d>
                        <m:dPr>
                          <m:ctrlPr>
                            <a:rPr lang="pt-BR" sz="2000" i="1" smtClean="0">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𝜆</m:t>
                              </m:r>
                            </m:e>
                            <m:sub>
                              <m:r>
                                <a:rPr lang="pt-BR" sz="2000" i="1">
                                  <a:latin typeface="Cambria Math" panose="02040503050406030204" pitchFamily="18" charset="0"/>
                                  <a:ea typeface="Cambria Math" panose="02040503050406030204" pitchFamily="18" charset="0"/>
                                </a:rPr>
                                <m:t>2</m:t>
                              </m:r>
                            </m:sub>
                          </m:sSub>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rPr>
                                <m:t>11</m:t>
                              </m:r>
                            </m:sub>
                          </m:sSub>
                        </m:e>
                      </m:d>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𝜖</m:t>
                          </m:r>
                        </m:e>
                        <m:sub>
                          <m:r>
                            <a:rPr lang="en-US" sz="2000" i="1">
                              <a:latin typeface="Cambria Math" panose="02040503050406030204" pitchFamily="18" charset="0"/>
                              <a:ea typeface="Cambria Math" panose="02040503050406030204" pitchFamily="18" charset="0"/>
                            </a:rPr>
                            <m:t>𝑡</m:t>
                          </m:r>
                        </m:sub>
                      </m:sSub>
                    </m:oMath>
                  </m:oMathPara>
                </a14:m>
                <a:endParaRPr lang="en-US" sz="2000" dirty="0"/>
              </a:p>
              <a:p>
                <a:pPr marL="0" indent="0">
                  <a:buNone/>
                </a:pPr>
                <a:endParaRPr lang="en-US" sz="2000" dirty="0"/>
              </a:p>
              <a:p>
                <a:pPr marL="0" indent="0">
                  <a:buNone/>
                </a:pPr>
                <a:r>
                  <a:rPr lang="en-US" sz="2000" dirty="0"/>
                  <a:t>Call </a:t>
                </a:r>
                <a14:m>
                  <m:oMath xmlns:m="http://schemas.openxmlformats.org/officeDocument/2006/math">
                    <m:r>
                      <a:rPr lang="en-US" sz="2000" i="1" smtClean="0">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m:t>
                    </m:r>
                  </m:oMath>
                </a14:m>
                <a:r>
                  <a:rPr lang="en-US" sz="2000" dirty="0">
                    <a:ea typeface="Cambria Math" panose="02040503050406030204" pitchFamily="18" charset="0"/>
                  </a:rPr>
                  <a:t> </a:t>
                </a:r>
                <a14:m>
                  <m:oMath xmlns:m="http://schemas.openxmlformats.org/officeDocument/2006/math">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1−</m:t>
                            </m:r>
                            <m:r>
                              <a:rPr lang="en-US" sz="2000" i="1">
                                <a:latin typeface="Cambria Math" panose="02040503050406030204" pitchFamily="18" charset="0"/>
                                <a:ea typeface="Cambria Math" panose="02040503050406030204" pitchFamily="18" charset="0"/>
                              </a:rPr>
                              <m:t>𝜆</m:t>
                            </m:r>
                          </m:e>
                          <m:sub>
                            <m:r>
                              <a:rPr lang="en-US" sz="2000" i="1">
                                <a:latin typeface="Cambria Math" panose="02040503050406030204" pitchFamily="18" charset="0"/>
                                <a:ea typeface="Cambria Math" panose="02040503050406030204" pitchFamily="18" charset="0"/>
                              </a:rPr>
                              <m:t>1</m:t>
                            </m:r>
                          </m:sub>
                        </m:sSub>
                      </m:e>
                    </m:d>
                  </m:oMath>
                </a14:m>
                <a:r>
                  <a:rPr lang="en-US" sz="2000" dirty="0"/>
                  <a:t>  and </a:t>
                </a:r>
                <a14:m>
                  <m:oMath xmlns:m="http://schemas.openxmlformats.org/officeDocument/2006/math">
                    <m:r>
                      <a:rPr lang="en-US" sz="2000" i="1" smtClean="0">
                        <a:latin typeface="Cambria Math" panose="02040503050406030204" pitchFamily="18" charset="0"/>
                        <a:ea typeface="Cambria Math" panose="02040503050406030204" pitchFamily="18" charset="0"/>
                      </a:rPr>
                      <m:t>𝜃</m:t>
                    </m:r>
                    <m:r>
                      <a:rPr lang="en-US" sz="2000" b="0" i="1" smtClean="0">
                        <a:latin typeface="Cambria Math" panose="02040503050406030204" pitchFamily="18" charset="0"/>
                        <a:ea typeface="Cambria Math" panose="02040503050406030204" pitchFamily="18" charset="0"/>
                      </a:rPr>
                      <m:t>=</m:t>
                    </m:r>
                  </m:oMath>
                </a14:m>
                <a:r>
                  <a:rPr lang="pt-BR" sz="2000" dirty="0">
                    <a:ea typeface="Cambria Math" panose="02040503050406030204" pitchFamily="18" charset="0"/>
                  </a:rPr>
                  <a:t> </a:t>
                </a:r>
                <a14:m>
                  <m:oMath xmlns:m="http://schemas.openxmlformats.org/officeDocument/2006/math">
                    <m:d>
                      <m:dPr>
                        <m:ctrlPr>
                          <a:rPr lang="pt-BR"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𝜆</m:t>
                            </m:r>
                          </m:e>
                          <m:sub>
                            <m:r>
                              <a:rPr lang="pt-BR" sz="2000" i="1">
                                <a:latin typeface="Cambria Math" panose="02040503050406030204" pitchFamily="18" charset="0"/>
                                <a:ea typeface="Cambria Math" panose="02040503050406030204" pitchFamily="18" charset="0"/>
                              </a:rPr>
                              <m:t>2</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rPr>
                              <m:t>11</m:t>
                            </m:r>
                          </m:sub>
                        </m:sSub>
                      </m:e>
                    </m:d>
                  </m:oMath>
                </a14:m>
                <a:r>
                  <a:rPr lang="en-US" sz="2000" dirty="0"/>
                  <a:t>, then: </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m:rPr>
                              <m:sty m:val="p"/>
                            </m:rPr>
                            <a:rPr lang="el-GR" sz="2000" i="1">
                              <a:latin typeface="Cambria Math" panose="02040503050406030204" pitchFamily="18" charset="0"/>
                              <a:ea typeface="Cambria Math" panose="02040503050406030204" pitchFamily="18" charset="0"/>
                            </a:rPr>
                            <m:t>Δ</m:t>
                          </m:r>
                          <m:r>
                            <a:rPr lang="en-US" sz="2000" i="1">
                              <a:latin typeface="Cambria Math" panose="02040503050406030204" pitchFamily="18" charset="0"/>
                            </a:rPr>
                            <m:t>𝑌</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rPr>
                            <m:t>11</m:t>
                          </m:r>
                        </m:sub>
                      </m:sSub>
                      <m:r>
                        <m:rPr>
                          <m:sty m:val="p"/>
                        </m:rPr>
                        <a:rPr lang="el-GR" sz="2000" i="1">
                          <a:latin typeface="Cambria Math" panose="02040503050406030204" pitchFamily="18" charset="0"/>
                          <a:ea typeface="Cambria Math" panose="02040503050406030204" pitchFamily="18" charset="0"/>
                        </a:rPr>
                        <m:t>Δ</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𝛼</m:t>
                          </m:r>
                          <m:r>
                            <a:rPr lang="en-US" sz="2000" i="1">
                              <a:latin typeface="Cambria Math" panose="02040503050406030204" pitchFamily="18" charset="0"/>
                              <a:ea typeface="Cambria Math" panose="02040503050406030204" pitchFamily="18" charset="0"/>
                            </a:rPr>
                            <m:t>𝑌</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𝜃</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𝜖</m:t>
                          </m:r>
                        </m:e>
                        <m:sub>
                          <m:r>
                            <a:rPr lang="en-US" sz="2000" i="1">
                              <a:latin typeface="Cambria Math" panose="02040503050406030204" pitchFamily="18" charset="0"/>
                              <a:ea typeface="Cambria Math" panose="02040503050406030204" pitchFamily="18" charset="0"/>
                            </a:rPr>
                            <m:t>𝑡</m:t>
                          </m:r>
                        </m:sub>
                      </m:sSub>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m:rPr>
                              <m:sty m:val="p"/>
                            </m:rPr>
                            <a:rPr lang="el-GR" sz="2000" i="1">
                              <a:latin typeface="Cambria Math" panose="02040503050406030204" pitchFamily="18" charset="0"/>
                              <a:ea typeface="Cambria Math" panose="02040503050406030204" pitchFamily="18" charset="0"/>
                            </a:rPr>
                            <m:t>Δ</m:t>
                          </m:r>
                          <m:r>
                            <a:rPr lang="en-US" sz="2000" i="1">
                              <a:latin typeface="Cambria Math" panose="02040503050406030204" pitchFamily="18" charset="0"/>
                            </a:rPr>
                            <m:t>𝑌</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rPr>
                            <m:t>11</m:t>
                          </m:r>
                        </m:sub>
                      </m:sSub>
                      <m:r>
                        <m:rPr>
                          <m:sty m:val="p"/>
                        </m:rPr>
                        <a:rPr lang="el-GR" sz="2000" i="1">
                          <a:latin typeface="Cambria Math" panose="02040503050406030204" pitchFamily="18" charset="0"/>
                          <a:ea typeface="Cambria Math" panose="02040503050406030204" pitchFamily="18" charset="0"/>
                        </a:rPr>
                        <m:t>Δ</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𝛼</m:t>
                      </m:r>
                      <m:d>
                        <m:dPr>
                          <m:ctrlPr>
                            <a:rPr lang="en-US" sz="2000" i="1" smtClean="0">
                              <a:latin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𝑌</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f>
                            <m:fPr>
                              <m:ctrlPr>
                                <a:rPr lang="en-US" sz="2000" i="1" smtClean="0">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𝜃</m:t>
                              </m:r>
                            </m:num>
                            <m:den>
                              <m:r>
                                <a:rPr lang="en-US" sz="2000" i="1">
                                  <a:latin typeface="Cambria Math" panose="02040503050406030204" pitchFamily="18" charset="0"/>
                                  <a:ea typeface="Cambria Math" panose="02040503050406030204" pitchFamily="18" charset="0"/>
                                </a:rPr>
                                <m:t>𝛼</m:t>
                              </m:r>
                            </m:den>
                          </m:f>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e>
                      </m:d>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𝜖</m:t>
                          </m:r>
                        </m:e>
                        <m:sub>
                          <m:r>
                            <a:rPr lang="en-US" sz="2000" i="1">
                              <a:latin typeface="Cambria Math" panose="02040503050406030204" pitchFamily="18" charset="0"/>
                              <a:ea typeface="Cambria Math" panose="02040503050406030204" pitchFamily="18" charset="0"/>
                            </a:rPr>
                            <m:t>𝑡</m:t>
                          </m:r>
                        </m:sub>
                      </m:sSub>
                    </m:oMath>
                  </m:oMathPara>
                </a14:m>
                <a:endParaRPr lang="en-US" sz="2000" dirty="0"/>
              </a:p>
              <a:p>
                <a:pPr marL="0" indent="0">
                  <a:buNone/>
                </a:pPr>
                <a:r>
                  <a:rPr lang="en-US" sz="2000" dirty="0"/>
                  <a:t>Call </a:t>
                </a:r>
                <a14:m>
                  <m:oMath xmlns:m="http://schemas.openxmlformats.org/officeDocument/2006/math">
                    <m:r>
                      <a:rPr lang="en-US" sz="2000" i="1">
                        <a:latin typeface="Cambria Math" panose="02040503050406030204" pitchFamily="18" charset="0"/>
                        <a:ea typeface="Cambria Math" panose="02040503050406030204" pitchFamily="18" charset="0"/>
                      </a:rPr>
                      <m:t>𝛽</m:t>
                    </m:r>
                    <m:r>
                      <a:rPr lang="en-US" sz="2000" b="0" i="1" smtClean="0">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𝜃</m:t>
                        </m:r>
                      </m:num>
                      <m:den>
                        <m:r>
                          <a:rPr lang="en-US" sz="2000" i="1">
                            <a:latin typeface="Cambria Math" panose="02040503050406030204" pitchFamily="18" charset="0"/>
                            <a:ea typeface="Cambria Math" panose="02040503050406030204" pitchFamily="18" charset="0"/>
                          </a:rPr>
                          <m:t>𝛼</m:t>
                        </m:r>
                      </m:den>
                    </m:f>
                  </m:oMath>
                </a14:m>
                <a:r>
                  <a:rPr lang="en-US" sz="2000" dirty="0"/>
                  <a:t>  , then, we derive the ECM: </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m:rPr>
                              <m:sty m:val="p"/>
                            </m:rPr>
                            <a:rPr lang="el-GR" sz="2000" i="1">
                              <a:latin typeface="Cambria Math" panose="02040503050406030204" pitchFamily="18" charset="0"/>
                              <a:ea typeface="Cambria Math" panose="02040503050406030204" pitchFamily="18" charset="0"/>
                            </a:rPr>
                            <m:t>Δ</m:t>
                          </m:r>
                          <m:r>
                            <a:rPr lang="en-US" sz="2000" i="1">
                              <a:latin typeface="Cambria Math" panose="02040503050406030204" pitchFamily="18" charset="0"/>
                            </a:rPr>
                            <m:t>𝑌</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rPr>
                            <m:t>11</m:t>
                          </m:r>
                        </m:sub>
                      </m:sSub>
                      <m:r>
                        <m:rPr>
                          <m:sty m:val="p"/>
                        </m:rPr>
                        <a:rPr lang="el-GR" sz="2000" i="1">
                          <a:latin typeface="Cambria Math" panose="02040503050406030204" pitchFamily="18" charset="0"/>
                          <a:ea typeface="Cambria Math" panose="02040503050406030204" pitchFamily="18" charset="0"/>
                        </a:rPr>
                        <m:t>Δ</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𝛼</m:t>
                      </m:r>
                      <m:d>
                        <m:dPr>
                          <m:ctrlPr>
                            <a:rPr lang="en-US" sz="2000" i="1">
                              <a:latin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𝑌</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𝛽</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e>
                      </m:d>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𝜖</m:t>
                          </m:r>
                        </m:e>
                        <m:sub>
                          <m:r>
                            <a:rPr lang="en-US" sz="2000" i="1">
                              <a:latin typeface="Cambria Math" panose="02040503050406030204" pitchFamily="18" charset="0"/>
                              <a:ea typeface="Cambria Math" panose="02040503050406030204" pitchFamily="18" charset="0"/>
                            </a:rPr>
                            <m:t>𝑡</m:t>
                          </m:r>
                        </m:sub>
                      </m:sSub>
                    </m:oMath>
                  </m:oMathPara>
                </a14:m>
                <a:endParaRPr lang="en-US" sz="2000" dirty="0"/>
              </a:p>
              <a:p>
                <a:pPr marL="0" indent="0">
                  <a:buNone/>
                </a:pPr>
                <a:endParaRPr lang="en-US" sz="2000" dirty="0"/>
              </a:p>
            </p:txBody>
          </p:sp>
        </mc:Choice>
        <mc:Fallback xmlns="">
          <p:sp>
            <p:nvSpPr>
              <p:cNvPr id="3" name="Content Placeholder 2">
                <a:extLst>
                  <a:ext uri="{FF2B5EF4-FFF2-40B4-BE49-F238E27FC236}">
                    <a16:creationId xmlns:a16="http://schemas.microsoft.com/office/drawing/2014/main" id="{7EACFB3D-410A-8948-97C0-3EF18EF3A3F2}"/>
                  </a:ext>
                </a:extLst>
              </p:cNvPr>
              <p:cNvSpPr>
                <a:spLocks noGrp="1" noRot="1" noChangeAspect="1" noMove="1" noResize="1" noEditPoints="1" noAdjustHandles="1" noChangeArrowheads="1" noChangeShapeType="1" noTextEdit="1"/>
              </p:cNvSpPr>
              <p:nvPr>
                <p:ph idx="1"/>
              </p:nvPr>
            </p:nvSpPr>
            <p:spPr>
              <a:xfrm>
                <a:off x="838200" y="1175658"/>
                <a:ext cx="10515600" cy="5001305"/>
              </a:xfrm>
              <a:blipFill>
                <a:blip r:embed="rId2"/>
                <a:stretch>
                  <a:fillRect l="-483" t="-1523"/>
                </a:stretch>
              </a:blipFill>
            </p:spPr>
            <p:txBody>
              <a:bodyPr/>
              <a:lstStyle/>
              <a:p>
                <a:r>
                  <a:rPr lang="en-US">
                    <a:noFill/>
                  </a:rPr>
                  <a:t> </a:t>
                </a:r>
              </a:p>
            </p:txBody>
          </p:sp>
        </mc:Fallback>
      </mc:AlternateContent>
    </p:spTree>
    <p:extLst>
      <p:ext uri="{BB962C8B-B14F-4D97-AF65-F5344CB8AC3E}">
        <p14:creationId xmlns:p14="http://schemas.microsoft.com/office/powerpoint/2010/main" val="33134470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3089E-7609-2E4F-A75C-2F68E484D31C}"/>
              </a:ext>
            </a:extLst>
          </p:cNvPr>
          <p:cNvSpPr>
            <a:spLocks noGrp="1"/>
          </p:cNvSpPr>
          <p:nvPr>
            <p:ph type="title"/>
          </p:nvPr>
        </p:nvSpPr>
        <p:spPr/>
        <p:txBody>
          <a:bodyPr>
            <a:normAutofit/>
          </a:bodyPr>
          <a:lstStyle/>
          <a:p>
            <a:pPr algn="ctr"/>
            <a:r>
              <a:rPr lang="en-US" sz="3200" b="1" dirty="0"/>
              <a:t>Engle and Granger’s  (E-G) Residual Tests of Cointegration</a:t>
            </a:r>
          </a:p>
        </p:txBody>
      </p:sp>
      <p:sp>
        <p:nvSpPr>
          <p:cNvPr id="3" name="Content Placeholder 2">
            <a:extLst>
              <a:ext uri="{FF2B5EF4-FFF2-40B4-BE49-F238E27FC236}">
                <a16:creationId xmlns:a16="http://schemas.microsoft.com/office/drawing/2014/main" id="{0A88FD3A-6F33-9B49-962E-884EAA3C86DB}"/>
              </a:ext>
            </a:extLst>
          </p:cNvPr>
          <p:cNvSpPr>
            <a:spLocks noGrp="1"/>
          </p:cNvSpPr>
          <p:nvPr>
            <p:ph idx="1"/>
          </p:nvPr>
        </p:nvSpPr>
        <p:spPr/>
        <p:txBody>
          <a:bodyPr/>
          <a:lstStyle/>
          <a:p>
            <a:pPr marL="0" indent="0">
              <a:buNone/>
            </a:pPr>
            <a:r>
              <a:rPr lang="en-US" dirty="0">
                <a:solidFill>
                  <a:srgbClr val="FF0000"/>
                </a:solidFill>
                <a:latin typeface="Cambria Math" panose="02040503050406030204" pitchFamily="18" charset="0"/>
                <a:ea typeface="Cambria Math" panose="02040503050406030204" pitchFamily="18" charset="0"/>
              </a:rPr>
              <a:t>Our question</a:t>
            </a:r>
            <a:r>
              <a:rPr lang="en-US" dirty="0">
                <a:latin typeface="Cambria Math" panose="02040503050406030204" pitchFamily="18" charset="0"/>
                <a:ea typeface="Cambria Math" panose="02040503050406030204" pitchFamily="18" charset="0"/>
              </a:rPr>
              <a:t>: How do we test if two variable are cointegrated? </a:t>
            </a:r>
          </a:p>
          <a:p>
            <a:pPr marL="0" indent="0">
              <a:buNone/>
            </a:pPr>
            <a:endParaRPr lang="en-US" dirty="0"/>
          </a:p>
          <a:p>
            <a:pPr marL="0" indent="0">
              <a:buNone/>
            </a:pPr>
            <a:r>
              <a:rPr lang="en-US" dirty="0">
                <a:solidFill>
                  <a:srgbClr val="FF0000"/>
                </a:solidFill>
              </a:rPr>
              <a:t>Definition</a:t>
            </a:r>
            <a:r>
              <a:rPr lang="en-US" dirty="0"/>
              <a:t>: to be cointegrated, the variables have to be integrated of the same order (d)  and a linear combination of them have to be integrated of a lower order (d-1). If X and Y are I(1), then their linear combination have to be stationary (or I(0)). </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14379934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0EFD9-DED5-D84C-B849-98F03F92CCCA}"/>
              </a:ext>
            </a:extLst>
          </p:cNvPr>
          <p:cNvSpPr>
            <a:spLocks noGrp="1"/>
          </p:cNvSpPr>
          <p:nvPr>
            <p:ph type="title"/>
          </p:nvPr>
        </p:nvSpPr>
        <p:spPr/>
        <p:txBody>
          <a:bodyPr>
            <a:normAutofit/>
          </a:bodyPr>
          <a:lstStyle/>
          <a:p>
            <a:pPr algn="ctr"/>
            <a:r>
              <a:rPr lang="en-US" sz="3200" dirty="0"/>
              <a:t>Engle and Granger’s Residual Tests of Cointegration</a:t>
            </a:r>
          </a:p>
        </p:txBody>
      </p:sp>
      <p:sp>
        <p:nvSpPr>
          <p:cNvPr id="3" name="Content Placeholder 2">
            <a:extLst>
              <a:ext uri="{FF2B5EF4-FFF2-40B4-BE49-F238E27FC236}">
                <a16:creationId xmlns:a16="http://schemas.microsoft.com/office/drawing/2014/main" id="{A07B9A9A-AE34-5F4D-82EF-4A4D12298787}"/>
              </a:ext>
            </a:extLst>
          </p:cNvPr>
          <p:cNvSpPr>
            <a:spLocks noGrp="1"/>
          </p:cNvSpPr>
          <p:nvPr>
            <p:ph idx="1"/>
          </p:nvPr>
        </p:nvSpPr>
        <p:spPr/>
        <p:txBody>
          <a:bodyPr>
            <a:normAutofit/>
          </a:bodyPr>
          <a:lstStyle/>
          <a:p>
            <a:pPr marL="0" indent="0">
              <a:buNone/>
            </a:pPr>
            <a:r>
              <a:rPr lang="en-US" sz="2000" b="1" dirty="0"/>
              <a:t>Two step procedure</a:t>
            </a:r>
            <a:r>
              <a:rPr lang="en-US" sz="2000" dirty="0"/>
              <a:t>: </a:t>
            </a:r>
          </a:p>
          <a:p>
            <a:pPr marL="514350" indent="-514350">
              <a:buFont typeface="+mj-lt"/>
              <a:buAutoNum type="arabicPeriod"/>
            </a:pPr>
            <a:r>
              <a:rPr lang="en-US" sz="2000" dirty="0"/>
              <a:t>Test for unit root on each series (check if it is  I(1)) (ADF, PP tests, UN with breaks, for example); if you cannot reject the null hypothesis, then got to step 2. </a:t>
            </a:r>
          </a:p>
          <a:p>
            <a:pPr marL="514350" indent="-514350">
              <a:buFont typeface="+mj-lt"/>
              <a:buAutoNum type="arabicPeriod"/>
            </a:pPr>
            <a:r>
              <a:rPr lang="en-US" sz="2000" dirty="0"/>
              <a:t>Regress Y on X and estimate the residuals;</a:t>
            </a:r>
          </a:p>
          <a:p>
            <a:pPr marL="514350" indent="-514350">
              <a:buFont typeface="+mj-lt"/>
              <a:buAutoNum type="arabicPeriod"/>
            </a:pPr>
            <a:r>
              <a:rPr lang="en-US" sz="2000" dirty="0"/>
              <a:t>Test whether the estimated residuals are I(0); do no include the constant on the unit root test. </a:t>
            </a:r>
          </a:p>
          <a:p>
            <a:pPr marL="0" indent="0">
              <a:buNone/>
            </a:pPr>
            <a:r>
              <a:rPr lang="en-US" sz="2000" dirty="0"/>
              <a:t>	Critical values for the unit test on the residuals differ from the ADF critical values. The STATA command </a:t>
            </a:r>
            <a:r>
              <a:rPr lang="en-US" sz="2000" dirty="0">
                <a:solidFill>
                  <a:srgbClr val="FF0000"/>
                </a:solidFill>
              </a:rPr>
              <a:t>egrange</a:t>
            </a:r>
            <a:r>
              <a:rPr lang="en-US" sz="2000" dirty="0"/>
              <a:t>r will run the unit root test on the residual and compute the correct critical values. </a:t>
            </a:r>
          </a:p>
          <a:p>
            <a:pPr marL="0" indent="0">
              <a:buNone/>
            </a:pPr>
            <a:r>
              <a:rPr lang="en-US" sz="2000" dirty="0"/>
              <a:t>You will need to install this command:</a:t>
            </a:r>
          </a:p>
          <a:p>
            <a:pPr marL="0" indent="0">
              <a:buNone/>
            </a:pPr>
            <a:r>
              <a:rPr lang="en-US" sz="2000" dirty="0"/>
              <a:t>Type on STATA command windows: </a:t>
            </a:r>
          </a:p>
          <a:p>
            <a:pPr marL="0" indent="0">
              <a:buNone/>
            </a:pPr>
            <a:r>
              <a:rPr lang="en-US" sz="2000" dirty="0"/>
              <a:t>ssc install egranger</a:t>
            </a:r>
          </a:p>
          <a:p>
            <a:pPr marL="0" indent="0">
              <a:buNone/>
            </a:pPr>
            <a:endParaRPr lang="en-US" dirty="0"/>
          </a:p>
        </p:txBody>
      </p:sp>
    </p:spTree>
    <p:extLst>
      <p:ext uri="{BB962C8B-B14F-4D97-AF65-F5344CB8AC3E}">
        <p14:creationId xmlns:p14="http://schemas.microsoft.com/office/powerpoint/2010/main" val="27688749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631BA-1DFA-FA40-8C6E-8EDB85D0D7D3}"/>
              </a:ext>
            </a:extLst>
          </p:cNvPr>
          <p:cNvSpPr>
            <a:spLocks noGrp="1"/>
          </p:cNvSpPr>
          <p:nvPr>
            <p:ph type="title"/>
          </p:nvPr>
        </p:nvSpPr>
        <p:spPr>
          <a:xfrm>
            <a:off x="838200" y="365126"/>
            <a:ext cx="10515600" cy="644278"/>
          </a:xfrm>
        </p:spPr>
        <p:txBody>
          <a:bodyPr>
            <a:normAutofit/>
          </a:bodyPr>
          <a:lstStyle/>
          <a:p>
            <a:pPr algn="ctr"/>
            <a:r>
              <a:rPr lang="en-US" sz="3200" dirty="0"/>
              <a:t>Engle-Granger approach example</a:t>
            </a:r>
          </a:p>
        </p:txBody>
      </p:sp>
      <p:sp>
        <p:nvSpPr>
          <p:cNvPr id="3" name="Content Placeholder 2">
            <a:extLst>
              <a:ext uri="{FF2B5EF4-FFF2-40B4-BE49-F238E27FC236}">
                <a16:creationId xmlns:a16="http://schemas.microsoft.com/office/drawing/2014/main" id="{E7479E9C-F2BA-2A4F-A027-136D75CEAB7B}"/>
              </a:ext>
            </a:extLst>
          </p:cNvPr>
          <p:cNvSpPr>
            <a:spLocks noGrp="1"/>
          </p:cNvSpPr>
          <p:nvPr>
            <p:ph idx="1"/>
          </p:nvPr>
        </p:nvSpPr>
        <p:spPr>
          <a:xfrm>
            <a:off x="838200" y="902526"/>
            <a:ext cx="10515600" cy="5274438"/>
          </a:xfrm>
        </p:spPr>
        <p:txBody>
          <a:bodyPr>
            <a:normAutofit fontScale="40000" lnSpcReduction="20000"/>
          </a:bodyPr>
          <a:lstStyle/>
          <a:p>
            <a:pPr marL="0" indent="0">
              <a:buNone/>
            </a:pPr>
            <a:endParaRPr lang="en-US" dirty="0"/>
          </a:p>
          <a:p>
            <a:pPr marL="0" indent="0">
              <a:buNone/>
            </a:pPr>
            <a:r>
              <a:rPr lang="en-US" dirty="0"/>
              <a:t>clear all</a:t>
            </a:r>
          </a:p>
          <a:p>
            <a:pPr marL="0" indent="0">
              <a:buNone/>
            </a:pPr>
            <a:r>
              <a:rPr lang="en-US" dirty="0"/>
              <a:t>set obs 50</a:t>
            </a:r>
          </a:p>
          <a:p>
            <a:pPr marL="0" indent="0">
              <a:buNone/>
            </a:pPr>
            <a:r>
              <a:rPr lang="en-US" dirty="0"/>
              <a:t>set seed 4321</a:t>
            </a:r>
          </a:p>
          <a:p>
            <a:pPr marL="0" indent="0">
              <a:buNone/>
            </a:pPr>
            <a:r>
              <a:rPr lang="en-US" dirty="0"/>
              <a:t>gen time = _n</a:t>
            </a:r>
          </a:p>
          <a:p>
            <a:pPr marL="0" indent="0">
              <a:buNone/>
            </a:pPr>
            <a:r>
              <a:rPr lang="en-US" dirty="0"/>
              <a:t>tsset time</a:t>
            </a:r>
          </a:p>
          <a:p>
            <a:pPr marL="0" indent="0">
              <a:buNone/>
            </a:pPr>
            <a:r>
              <a:rPr lang="en-US" dirty="0"/>
              <a:t>	gen ex = rnormal(0,2)</a:t>
            </a:r>
          </a:p>
          <a:p>
            <a:pPr marL="0" indent="0">
              <a:buNone/>
            </a:pPr>
            <a:r>
              <a:rPr lang="en-US" dirty="0"/>
              <a:t>	gen ey = rnormal(0,2)</a:t>
            </a:r>
          </a:p>
          <a:p>
            <a:pPr marL="0" indent="0">
              <a:buNone/>
            </a:pPr>
            <a:r>
              <a:rPr lang="en-US" dirty="0"/>
              <a:t>	gen X = ex in 1</a:t>
            </a:r>
          </a:p>
          <a:p>
            <a:pPr marL="0" indent="0">
              <a:buNone/>
            </a:pPr>
            <a:r>
              <a:rPr lang="en-US" dirty="0"/>
              <a:t>	replace X = 1.0 + L.X + ex in 2/L</a:t>
            </a:r>
          </a:p>
          <a:p>
            <a:pPr marL="0" indent="0">
              <a:buNone/>
            </a:pPr>
            <a:r>
              <a:rPr lang="en-US" dirty="0"/>
              <a:t>	gen Y = 10 + X + ey</a:t>
            </a:r>
          </a:p>
          <a:p>
            <a:pPr marL="0" indent="0">
              <a:buNone/>
            </a:pPr>
            <a:r>
              <a:rPr lang="en-US" dirty="0"/>
              <a:t>* Are X and Y I(1)?</a:t>
            </a:r>
          </a:p>
          <a:p>
            <a:pPr marL="0" indent="0">
              <a:buNone/>
            </a:pPr>
            <a:r>
              <a:rPr lang="en-US" dirty="0"/>
              <a:t>	dfuller X, drift</a:t>
            </a:r>
          </a:p>
          <a:p>
            <a:pPr marL="0" indent="0">
              <a:buNone/>
            </a:pPr>
            <a:r>
              <a:rPr lang="en-US" dirty="0"/>
              <a:t>	dfuller Y, drift</a:t>
            </a:r>
          </a:p>
          <a:p>
            <a:pPr marL="0" indent="0">
              <a:buNone/>
            </a:pPr>
            <a:r>
              <a:rPr lang="en-US" dirty="0"/>
              <a:t>	dfuller D.X</a:t>
            </a:r>
          </a:p>
          <a:p>
            <a:pPr marL="0" indent="0">
              <a:buNone/>
            </a:pPr>
            <a:r>
              <a:rPr lang="en-US" dirty="0"/>
              <a:t>	dfuller D.Y</a:t>
            </a:r>
          </a:p>
          <a:p>
            <a:pPr marL="0" indent="0">
              <a:buNone/>
            </a:pPr>
            <a:r>
              <a:rPr lang="en-US" dirty="0"/>
              <a:t>* Estimate the long-run relationship, and extract the residuals</a:t>
            </a:r>
          </a:p>
          <a:p>
            <a:pPr marL="0" indent="0">
              <a:buNone/>
            </a:pPr>
            <a:r>
              <a:rPr lang="en-US" dirty="0"/>
              <a:t>	reg Y X</a:t>
            </a:r>
          </a:p>
          <a:p>
            <a:pPr marL="0" indent="0">
              <a:buNone/>
            </a:pPr>
            <a:r>
              <a:rPr lang="en-US" dirty="0"/>
              <a:t>	predict ehat, residuals</a:t>
            </a:r>
          </a:p>
          <a:p>
            <a:pPr marL="0" indent="0">
              <a:buNone/>
            </a:pPr>
            <a:r>
              <a:rPr lang="en-US" dirty="0"/>
              <a:t>	dfuller ehat, nocons</a:t>
            </a:r>
          </a:p>
          <a:p>
            <a:pPr marL="0" indent="0">
              <a:buNone/>
            </a:pPr>
            <a:r>
              <a:rPr lang="en-US" dirty="0"/>
              <a:t>	</a:t>
            </a:r>
          </a:p>
        </p:txBody>
      </p:sp>
    </p:spTree>
    <p:extLst>
      <p:ext uri="{BB962C8B-B14F-4D97-AF65-F5344CB8AC3E}">
        <p14:creationId xmlns:p14="http://schemas.microsoft.com/office/powerpoint/2010/main" val="753254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34514E-037F-0C49-944D-26C375C21C23}"/>
              </a:ext>
            </a:extLst>
          </p:cNvPr>
          <p:cNvSpPr>
            <a:spLocks noGrp="1"/>
          </p:cNvSpPr>
          <p:nvPr>
            <p:ph idx="1"/>
          </p:nvPr>
        </p:nvSpPr>
        <p:spPr>
          <a:xfrm>
            <a:off x="838200" y="344384"/>
            <a:ext cx="10515600" cy="5832579"/>
          </a:xfrm>
        </p:spPr>
        <p:txBody>
          <a:bodyPr>
            <a:normAutofit fontScale="92500" lnSpcReduction="20000"/>
          </a:bodyPr>
          <a:lstStyle/>
          <a:p>
            <a:pPr marL="0" indent="0">
              <a:buNone/>
            </a:pPr>
            <a:endParaRPr lang="en-US" dirty="0"/>
          </a:p>
          <a:p>
            <a:r>
              <a:rPr lang="en-US" sz="2200" dirty="0"/>
              <a:t>The Unit Root commands on STATA would give us the right test statistics, but the wrong critical values. </a:t>
            </a:r>
          </a:p>
          <a:p>
            <a:pPr marL="0" indent="0">
              <a:buNone/>
            </a:pPr>
            <a:endParaRPr lang="en-US" sz="2200" dirty="0"/>
          </a:p>
          <a:p>
            <a:pPr marL="0" indent="0">
              <a:buNone/>
            </a:pPr>
            <a:r>
              <a:rPr lang="en-US" sz="2200" dirty="0"/>
              <a:t>* We need to use MacKinnon critical values.</a:t>
            </a:r>
          </a:p>
          <a:p>
            <a:pPr marL="0" indent="0">
              <a:buNone/>
            </a:pPr>
            <a:endParaRPr lang="en-US" sz="2200" dirty="0"/>
          </a:p>
          <a:p>
            <a:r>
              <a:rPr lang="en-US" sz="2200" dirty="0"/>
              <a:t>MacKinnon (2010) critical values</a:t>
            </a:r>
          </a:p>
          <a:p>
            <a:endParaRPr lang="en-US" sz="2200" dirty="0"/>
          </a:p>
          <a:p>
            <a:pPr marL="0" indent="0">
              <a:buNone/>
            </a:pPr>
            <a:r>
              <a:rPr lang="en-US" sz="2200" dirty="0"/>
              <a:t>* Using the tables, two variables, n=49, p=0.05, and a constant:</a:t>
            </a:r>
          </a:p>
          <a:p>
            <a:pPr marL="0" indent="0">
              <a:buNone/>
            </a:pPr>
            <a:r>
              <a:rPr lang="en-US" sz="2200" dirty="0"/>
              <a:t>	di -3.33613 + (-6.1101)/49 + (-6.823)/(49^2)</a:t>
            </a:r>
          </a:p>
          <a:p>
            <a:pPr marL="0" indent="0">
              <a:buNone/>
            </a:pPr>
            <a:r>
              <a:rPr lang="en-US" sz="2200" dirty="0"/>
              <a:t>	*or</a:t>
            </a:r>
          </a:p>
          <a:p>
            <a:pPr marL="0" indent="0">
              <a:buNone/>
            </a:pPr>
            <a:r>
              <a:rPr lang="en-US" sz="2200" dirty="0"/>
              <a:t>	egranger Y X, regress </a:t>
            </a:r>
          </a:p>
          <a:p>
            <a:pPr marL="0" indent="0">
              <a:buNone/>
            </a:pPr>
            <a:endParaRPr lang="en-US" sz="2200" dirty="0"/>
          </a:p>
          <a:p>
            <a:pPr marL="0" indent="0">
              <a:buNone/>
            </a:pPr>
            <a:r>
              <a:rPr lang="en-US" sz="2200" dirty="0"/>
              <a:t>* Estimate the ECM</a:t>
            </a:r>
          </a:p>
          <a:p>
            <a:pPr marL="0" indent="0">
              <a:buNone/>
            </a:pPr>
            <a:endParaRPr lang="en-US" sz="2200" dirty="0"/>
          </a:p>
          <a:p>
            <a:pPr marL="0" indent="0">
              <a:buNone/>
            </a:pPr>
            <a:r>
              <a:rPr lang="en-US" sz="2200" dirty="0"/>
              <a:t>	reg D.Y D.X L.ehat</a:t>
            </a:r>
          </a:p>
          <a:p>
            <a:endParaRPr lang="en-US" dirty="0"/>
          </a:p>
        </p:txBody>
      </p:sp>
    </p:spTree>
    <p:extLst>
      <p:ext uri="{BB962C8B-B14F-4D97-AF65-F5344CB8AC3E}">
        <p14:creationId xmlns:p14="http://schemas.microsoft.com/office/powerpoint/2010/main" val="37759039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0EF83-6A7A-8B48-A6C8-DA885B56C278}"/>
              </a:ext>
            </a:extLst>
          </p:cNvPr>
          <p:cNvSpPr>
            <a:spLocks noGrp="1"/>
          </p:cNvSpPr>
          <p:nvPr>
            <p:ph type="title"/>
          </p:nvPr>
        </p:nvSpPr>
        <p:spPr>
          <a:xfrm>
            <a:off x="838200" y="365125"/>
            <a:ext cx="10515600" cy="1071789"/>
          </a:xfrm>
        </p:spPr>
        <p:txBody>
          <a:bodyPr>
            <a:normAutofit/>
          </a:bodyPr>
          <a:lstStyle/>
          <a:p>
            <a:pPr algn="ctr"/>
            <a:r>
              <a:rPr lang="en-US" sz="3200" b="1" dirty="0"/>
              <a:t>Critics to the two-step E-G approach</a:t>
            </a:r>
          </a:p>
        </p:txBody>
      </p:sp>
      <p:sp>
        <p:nvSpPr>
          <p:cNvPr id="3" name="Content Placeholder 2">
            <a:extLst>
              <a:ext uri="{FF2B5EF4-FFF2-40B4-BE49-F238E27FC236}">
                <a16:creationId xmlns:a16="http://schemas.microsoft.com/office/drawing/2014/main" id="{2C25A5F7-59CE-6E4B-89C0-B8F6C43C4D7F}"/>
              </a:ext>
            </a:extLst>
          </p:cNvPr>
          <p:cNvSpPr>
            <a:spLocks noGrp="1"/>
          </p:cNvSpPr>
          <p:nvPr>
            <p:ph idx="1"/>
          </p:nvPr>
        </p:nvSpPr>
        <p:spPr>
          <a:xfrm>
            <a:off x="838200" y="1258784"/>
            <a:ext cx="10515600" cy="4918179"/>
          </a:xfrm>
        </p:spPr>
        <p:txBody>
          <a:bodyPr>
            <a:normAutofit/>
          </a:bodyPr>
          <a:lstStyle/>
          <a:p>
            <a:pPr marL="0" indent="0">
              <a:buNone/>
            </a:pPr>
            <a:endParaRPr lang="en-US" sz="2000" dirty="0"/>
          </a:p>
          <a:p>
            <a:pPr marL="457200" indent="-457200">
              <a:buFont typeface="+mj-lt"/>
              <a:buAutoNum type="arabicPeriod"/>
            </a:pPr>
            <a:r>
              <a:rPr lang="en-US" sz="2000" b="1" dirty="0"/>
              <a:t>Who cause who</a:t>
            </a:r>
            <a:r>
              <a:rPr lang="en-US" sz="2000" dirty="0"/>
              <a:t>:  Which variable should we include on the left-hand side of the regression equation? Y or X? It can lead to contradictory results.</a:t>
            </a:r>
          </a:p>
          <a:p>
            <a:pPr marL="457200" indent="-457200">
              <a:buFont typeface="+mj-lt"/>
              <a:buAutoNum type="arabicPeriod"/>
            </a:pPr>
            <a:r>
              <a:rPr lang="en-US" sz="2000" dirty="0"/>
              <a:t>E-G approach works well when we have only one cointegrating vector. It is not appropriated to test for cointegration between more than two variables.  </a:t>
            </a:r>
          </a:p>
          <a:p>
            <a:pPr marL="0" indent="0">
              <a:buNone/>
            </a:pPr>
            <a:endParaRPr lang="en-US" sz="2000" dirty="0"/>
          </a:p>
          <a:p>
            <a:pPr marL="0" indent="0">
              <a:buNone/>
            </a:pPr>
            <a:r>
              <a:rPr lang="en-US" sz="2000" dirty="0">
                <a:solidFill>
                  <a:srgbClr val="FF0000"/>
                </a:solidFill>
              </a:rPr>
              <a:t>Johansen’s procedure </a:t>
            </a:r>
            <a:r>
              <a:rPr lang="en-US" sz="2000" dirty="0"/>
              <a:t>allows to test for cointegration among more than 2 variables. It is base on VAR(p)  model in level. It put together the short-term predictive power of VARs with the long-term predictive power of ECMs:</a:t>
            </a:r>
          </a:p>
          <a:p>
            <a:pPr marL="0" indent="0" algn="ctr">
              <a:buNone/>
            </a:pPr>
            <a:r>
              <a:rPr lang="en-US" sz="2000" dirty="0"/>
              <a:t>The multi-equation </a:t>
            </a:r>
            <a:r>
              <a:rPr lang="en-US" sz="2000" dirty="0">
                <a:solidFill>
                  <a:srgbClr val="FF0000"/>
                </a:solidFill>
              </a:rPr>
              <a:t>VECM (Vector Error Correction Mechanism) </a:t>
            </a:r>
            <a:r>
              <a:rPr lang="en-US" sz="2000" dirty="0"/>
              <a:t>approach.</a:t>
            </a:r>
          </a:p>
          <a:p>
            <a:pPr marL="0" indent="0">
              <a:buNone/>
            </a:pPr>
            <a:endParaRPr lang="en-US" sz="2000" dirty="0"/>
          </a:p>
        </p:txBody>
      </p:sp>
    </p:spTree>
    <p:extLst>
      <p:ext uri="{BB962C8B-B14F-4D97-AF65-F5344CB8AC3E}">
        <p14:creationId xmlns:p14="http://schemas.microsoft.com/office/powerpoint/2010/main" val="30835388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EE67C-BFFF-A149-8AD6-15DE12FAA0FE}"/>
              </a:ext>
            </a:extLst>
          </p:cNvPr>
          <p:cNvSpPr>
            <a:spLocks noGrp="1"/>
          </p:cNvSpPr>
          <p:nvPr>
            <p:ph type="title"/>
          </p:nvPr>
        </p:nvSpPr>
        <p:spPr/>
        <p:txBody>
          <a:bodyPr/>
          <a:lstStyle/>
          <a:p>
            <a:r>
              <a:rPr lang="en-US" dirty="0"/>
              <a:t>3-cointegrated series (X, Y, and Z); V is not</a:t>
            </a:r>
          </a:p>
        </p:txBody>
      </p:sp>
      <p:pic>
        <p:nvPicPr>
          <p:cNvPr id="5" name="Content Placeholder 4">
            <a:extLst>
              <a:ext uri="{FF2B5EF4-FFF2-40B4-BE49-F238E27FC236}">
                <a16:creationId xmlns:a16="http://schemas.microsoft.com/office/drawing/2014/main" id="{46D49D4E-84DD-834F-B823-491BCA50D7A6}"/>
              </a:ext>
            </a:extLst>
          </p:cNvPr>
          <p:cNvPicPr>
            <a:picLocks noGrp="1" noChangeAspect="1"/>
          </p:cNvPicPr>
          <p:nvPr>
            <p:ph idx="1"/>
          </p:nvPr>
        </p:nvPicPr>
        <p:blipFill>
          <a:blip r:embed="rId2"/>
          <a:stretch>
            <a:fillRect/>
          </a:stretch>
        </p:blipFill>
        <p:spPr>
          <a:xfrm>
            <a:off x="3104053" y="1825625"/>
            <a:ext cx="5983893" cy="4351338"/>
          </a:xfrm>
        </p:spPr>
      </p:pic>
    </p:spTree>
    <p:extLst>
      <p:ext uri="{BB962C8B-B14F-4D97-AF65-F5344CB8AC3E}">
        <p14:creationId xmlns:p14="http://schemas.microsoft.com/office/powerpoint/2010/main" val="3055167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88515-1D74-AE4D-B1BC-48EFA9E19D4C}"/>
              </a:ext>
            </a:extLst>
          </p:cNvPr>
          <p:cNvSpPr>
            <a:spLocks noGrp="1"/>
          </p:cNvSpPr>
          <p:nvPr>
            <p:ph type="title"/>
          </p:nvPr>
        </p:nvSpPr>
        <p:spPr>
          <a:xfrm>
            <a:off x="838200" y="365125"/>
            <a:ext cx="10515600" cy="976787"/>
          </a:xfrm>
        </p:spPr>
        <p:txBody>
          <a:bodyPr>
            <a:normAutofit/>
          </a:bodyPr>
          <a:lstStyle/>
          <a:p>
            <a:pPr algn="ctr"/>
            <a:r>
              <a:rPr lang="en-US" sz="3200" dirty="0"/>
              <a:t>Johansen Tests (1988)</a:t>
            </a:r>
          </a:p>
        </p:txBody>
      </p:sp>
      <p:sp>
        <p:nvSpPr>
          <p:cNvPr id="3" name="Content Placeholder 2">
            <a:extLst>
              <a:ext uri="{FF2B5EF4-FFF2-40B4-BE49-F238E27FC236}">
                <a16:creationId xmlns:a16="http://schemas.microsoft.com/office/drawing/2014/main" id="{02EDDF95-9EB5-2D48-8F0F-9E7FA7F94760}"/>
              </a:ext>
            </a:extLst>
          </p:cNvPr>
          <p:cNvSpPr>
            <a:spLocks noGrp="1"/>
          </p:cNvSpPr>
          <p:nvPr>
            <p:ph idx="1"/>
          </p:nvPr>
        </p:nvSpPr>
        <p:spPr>
          <a:xfrm>
            <a:off x="838200" y="1472540"/>
            <a:ext cx="10515600" cy="4704423"/>
          </a:xfrm>
        </p:spPr>
        <p:txBody>
          <a:bodyPr/>
          <a:lstStyle/>
          <a:p>
            <a:r>
              <a:rPr lang="en-US" dirty="0"/>
              <a:t>It extend the E-G to a multivariate VAR model. </a:t>
            </a:r>
          </a:p>
          <a:p>
            <a:pPr marL="0" indent="0">
              <a:buNone/>
            </a:pPr>
            <a:endParaRPr lang="en-US" dirty="0"/>
          </a:p>
          <a:p>
            <a:r>
              <a:rPr lang="en-US" dirty="0"/>
              <a:t>The VAR is transformed to a VECM when there are cointegrating relations</a:t>
            </a:r>
          </a:p>
          <a:p>
            <a:pPr marL="0" indent="0">
              <a:buNone/>
            </a:pPr>
            <a:endParaRPr lang="en-US" dirty="0"/>
          </a:p>
          <a:p>
            <a:r>
              <a:rPr lang="en-US" dirty="0"/>
              <a:t>Two main tests:</a:t>
            </a:r>
          </a:p>
          <a:p>
            <a:pPr marL="914400" lvl="1" indent="-457200">
              <a:buFont typeface="+mj-lt"/>
              <a:buAutoNum type="arabicPeriod"/>
            </a:pPr>
            <a:r>
              <a:rPr lang="en-US" dirty="0"/>
              <a:t>Trace test;</a:t>
            </a:r>
          </a:p>
          <a:p>
            <a:pPr marL="914400" lvl="1" indent="-457200">
              <a:buFont typeface="+mj-lt"/>
              <a:buAutoNum type="arabicPeriod"/>
            </a:pPr>
            <a:r>
              <a:rPr lang="en-US" dirty="0"/>
              <a:t>Maximum Eigenvalues test.</a:t>
            </a:r>
          </a:p>
        </p:txBody>
      </p:sp>
    </p:spTree>
    <p:extLst>
      <p:ext uri="{BB962C8B-B14F-4D97-AF65-F5344CB8AC3E}">
        <p14:creationId xmlns:p14="http://schemas.microsoft.com/office/powerpoint/2010/main" val="18954609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D1B05-4BE8-CB43-A3C0-3FB6576C5873}"/>
              </a:ext>
            </a:extLst>
          </p:cNvPr>
          <p:cNvSpPr>
            <a:spLocks noGrp="1"/>
          </p:cNvSpPr>
          <p:nvPr>
            <p:ph type="title"/>
          </p:nvPr>
        </p:nvSpPr>
        <p:spPr>
          <a:xfrm>
            <a:off x="838200" y="365126"/>
            <a:ext cx="10515600" cy="668028"/>
          </a:xfrm>
        </p:spPr>
        <p:txBody>
          <a:bodyPr>
            <a:normAutofit/>
          </a:bodyPr>
          <a:lstStyle/>
          <a:p>
            <a:pPr algn="ctr"/>
            <a:r>
              <a:rPr lang="en-US" sz="3200" dirty="0"/>
              <a:t>Deriving the VECM from a Simple SVAR(2)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35E0F6C-E825-8145-ABFF-FE52C30B66E5}"/>
                  </a:ext>
                </a:extLst>
              </p:cNvPr>
              <p:cNvSpPr>
                <a:spLocks noGrp="1"/>
              </p:cNvSpPr>
              <p:nvPr>
                <p:ph idx="1"/>
              </p:nvPr>
            </p:nvSpPr>
            <p:spPr>
              <a:xfrm>
                <a:off x="838200" y="1033154"/>
                <a:ext cx="10515600" cy="5628903"/>
              </a:xfrm>
            </p:spPr>
            <p:txBody>
              <a:bodyPr>
                <a:normAutofit lnSpcReduction="10000"/>
              </a:bodyPr>
              <a:lstStyle/>
              <a:p>
                <a:pPr marL="0" indent="0">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𝑌</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rPr>
                                <m:t>1</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 </m:t>
                          </m:r>
                          <m:r>
                            <a:rPr lang="en-US" sz="200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1</m:t>
                          </m:r>
                          <m:r>
                            <a:rPr lang="pt-BR" sz="2000" i="1">
                              <a:latin typeface="Cambria Math" panose="02040503050406030204" pitchFamily="18" charset="0"/>
                              <a:ea typeface="Cambria Math" panose="02040503050406030204" pitchFamily="18" charset="0"/>
                            </a:rPr>
                            <m:t>1</m:t>
                          </m:r>
                        </m:sub>
                      </m:sSub>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𝑌</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sSub>
                        <m:sSubPr>
                          <m:ctrlPr>
                            <a:rPr lang="en-US" sz="2000" i="1">
                              <a:latin typeface="Cambria Math" panose="02040503050406030204" pitchFamily="18" charset="0"/>
                            </a:rPr>
                          </m:ctrlPr>
                        </m:sSubPr>
                        <m:e>
                          <m:r>
                            <a:rPr lang="pt-BR" sz="2000" i="1">
                              <a:latin typeface="Cambria Math" panose="02040503050406030204" pitchFamily="18" charset="0"/>
                            </a:rPr>
                            <m:t>+</m:t>
                          </m:r>
                          <m:r>
                            <a:rPr lang="pt-BR" sz="200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1</m:t>
                          </m:r>
                          <m:r>
                            <a:rPr lang="pt-BR" sz="2000" i="1">
                              <a:latin typeface="Cambria Math" panose="02040503050406030204" pitchFamily="18" charset="0"/>
                              <a:ea typeface="Cambria Math" panose="02040503050406030204" pitchFamily="18" charset="0"/>
                            </a:rPr>
                            <m:t>2</m:t>
                          </m:r>
                        </m:sub>
                      </m:sSub>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sSub>
                            <m:sSubPr>
                              <m:ctrlPr>
                                <a:rPr lang="en-US" sz="2000" i="1">
                                  <a:latin typeface="Cambria Math" panose="02040503050406030204" pitchFamily="18" charset="0"/>
                                </a:rPr>
                              </m:ctrlPr>
                            </m:sSubPr>
                            <m:e>
                              <m:r>
                                <a:rPr lang="pt-BR" sz="2000" i="1">
                                  <a:latin typeface="Cambria Math" panose="02040503050406030204" pitchFamily="18" charset="0"/>
                                </a:rPr>
                                <m:t>+</m:t>
                              </m:r>
                              <m:r>
                                <a:rPr lang="pt-BR"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3</m:t>
                              </m:r>
                            </m:sub>
                          </m:sSub>
                          <m:r>
                            <a:rPr lang="en-US" sz="2000" i="1">
                              <a:latin typeface="Cambria Math" panose="02040503050406030204" pitchFamily="18" charset="0"/>
                              <a:ea typeface="Cambria Math" panose="02040503050406030204" pitchFamily="18" charset="0"/>
                            </a:rPr>
                            <m:t>𝑌</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−2</m:t>
                          </m:r>
                        </m:sub>
                      </m:sSub>
                      <m:sSub>
                        <m:sSubPr>
                          <m:ctrlPr>
                            <a:rPr lang="en-US" sz="2000" i="1">
                              <a:latin typeface="Cambria Math" panose="02040503050406030204" pitchFamily="18" charset="0"/>
                            </a:rPr>
                          </m:ctrlPr>
                        </m:sSubPr>
                        <m:e>
                          <m:r>
                            <a:rPr lang="pt-BR" sz="2000" i="1">
                              <a:latin typeface="Cambria Math" panose="02040503050406030204" pitchFamily="18" charset="0"/>
                            </a:rPr>
                            <m:t>+</m:t>
                          </m:r>
                          <m:r>
                            <a:rPr lang="pt-BR"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4</m:t>
                          </m:r>
                        </m:sub>
                      </m:sSub>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−2</m:t>
                          </m:r>
                        </m:sub>
                      </m:sSub>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𝑒</m:t>
                          </m:r>
                        </m:e>
                        <m:sub>
                          <m:r>
                            <a:rPr lang="en-US" sz="2000" b="0" i="1" smtClean="0">
                              <a:latin typeface="Cambria Math" panose="02040503050406030204" pitchFamily="18" charset="0"/>
                              <a:ea typeface="Cambria Math" panose="02040503050406030204" pitchFamily="18" charset="0"/>
                            </a:rPr>
                            <m:t>𝑦</m:t>
                          </m:r>
                        </m:sub>
                      </m:sSub>
                    </m:oMath>
                  </m:oMathPara>
                </a14:m>
                <a:endParaRPr lang="en-US" sz="2000" dirty="0"/>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rPr>
                            <m:t>𝑋</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2</m:t>
                              </m:r>
                            </m:sub>
                          </m:sSub>
                          <m:sSub>
                            <m:sSubPr>
                              <m:ctrlPr>
                                <a:rPr lang="en-US" sz="2000" i="1">
                                  <a:latin typeface="Cambria Math" panose="02040503050406030204" pitchFamily="18" charset="0"/>
                                </a:rPr>
                              </m:ctrlPr>
                            </m:sSubPr>
                            <m:e>
                              <m:r>
                                <a:rPr lang="en-US" sz="2000" b="0" i="1" smtClean="0">
                                  <a:latin typeface="Cambria Math" panose="02040503050406030204" pitchFamily="18" charset="0"/>
                                </a:rPr>
                                <m:t>𝑌</m:t>
                              </m:r>
                            </m:e>
                            <m:sub>
                              <m:r>
                                <a:rPr lang="en-US" sz="2000" i="1">
                                  <a:latin typeface="Cambria Math" panose="02040503050406030204" pitchFamily="18" charset="0"/>
                                </a:rPr>
                                <m:t>𝑡</m:t>
                              </m:r>
                            </m:sub>
                          </m:sSub>
                          <m:r>
                            <a:rPr lang="en-US" sz="2000" i="1">
                              <a:latin typeface="Cambria Math" panose="02040503050406030204" pitchFamily="18" charset="0"/>
                            </a:rPr>
                            <m:t>+ </m:t>
                          </m:r>
                          <m:r>
                            <a:rPr lang="en-US" sz="2000" i="1">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2</m:t>
                          </m:r>
                          <m:r>
                            <a:rPr lang="pt-BR" sz="2000" i="1">
                              <a:latin typeface="Cambria Math" panose="02040503050406030204" pitchFamily="18" charset="0"/>
                              <a:ea typeface="Cambria Math" panose="02040503050406030204" pitchFamily="18" charset="0"/>
                            </a:rPr>
                            <m:t>1</m:t>
                          </m:r>
                        </m:sub>
                      </m:sSub>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𝑌</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sSub>
                        <m:sSubPr>
                          <m:ctrlPr>
                            <a:rPr lang="en-US" sz="2000" i="1">
                              <a:latin typeface="Cambria Math" panose="02040503050406030204" pitchFamily="18" charset="0"/>
                            </a:rPr>
                          </m:ctrlPr>
                        </m:sSubPr>
                        <m:e>
                          <m:r>
                            <a:rPr lang="pt-BR" sz="2000" i="1">
                              <a:latin typeface="Cambria Math" panose="02040503050406030204" pitchFamily="18" charset="0"/>
                            </a:rPr>
                            <m:t>+</m:t>
                          </m:r>
                          <m:r>
                            <a:rPr lang="pt-BR" sz="2000" i="1">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2</m:t>
                          </m:r>
                          <m:r>
                            <a:rPr lang="pt-BR" sz="2000" i="1">
                              <a:latin typeface="Cambria Math" panose="02040503050406030204" pitchFamily="18" charset="0"/>
                              <a:ea typeface="Cambria Math" panose="02040503050406030204" pitchFamily="18" charset="0"/>
                            </a:rPr>
                            <m:t>2</m:t>
                          </m:r>
                        </m:sub>
                      </m:sSub>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sSub>
                            <m:sSubPr>
                              <m:ctrlPr>
                                <a:rPr lang="en-US" sz="2000" i="1">
                                  <a:latin typeface="Cambria Math" panose="02040503050406030204" pitchFamily="18" charset="0"/>
                                </a:rPr>
                              </m:ctrlPr>
                            </m:sSubPr>
                            <m:e>
                              <m:r>
                                <a:rPr lang="pt-BR" sz="2000" i="1">
                                  <a:latin typeface="Cambria Math" panose="02040503050406030204" pitchFamily="18" charset="0"/>
                                </a:rPr>
                                <m:t>+</m:t>
                              </m:r>
                              <m:r>
                                <a:rPr lang="pt-BR" sz="2000" i="1">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2</m:t>
                              </m:r>
                              <m:r>
                                <a:rPr lang="en-US" sz="2000" i="1">
                                  <a:latin typeface="Cambria Math" panose="02040503050406030204" pitchFamily="18" charset="0"/>
                                  <a:ea typeface="Cambria Math" panose="02040503050406030204" pitchFamily="18" charset="0"/>
                                </a:rPr>
                                <m:t>3</m:t>
                              </m:r>
                            </m:sub>
                          </m:sSub>
                          <m:r>
                            <a:rPr lang="en-US" sz="2000" i="1">
                              <a:latin typeface="Cambria Math" panose="02040503050406030204" pitchFamily="18" charset="0"/>
                              <a:ea typeface="Cambria Math" panose="02040503050406030204" pitchFamily="18" charset="0"/>
                            </a:rPr>
                            <m:t>𝑌</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−2</m:t>
                          </m:r>
                        </m:sub>
                      </m:sSub>
                      <m:sSub>
                        <m:sSubPr>
                          <m:ctrlPr>
                            <a:rPr lang="en-US" sz="2000" i="1">
                              <a:latin typeface="Cambria Math" panose="02040503050406030204" pitchFamily="18" charset="0"/>
                            </a:rPr>
                          </m:ctrlPr>
                        </m:sSubPr>
                        <m:e>
                          <m:r>
                            <a:rPr lang="pt-BR" sz="2000" i="1">
                              <a:latin typeface="Cambria Math" panose="02040503050406030204" pitchFamily="18" charset="0"/>
                            </a:rPr>
                            <m:t>+</m:t>
                          </m:r>
                          <m:r>
                            <a:rPr lang="pt-BR" sz="2000" i="1">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2</m:t>
                          </m:r>
                          <m:r>
                            <a:rPr lang="en-US" sz="2000" i="1">
                              <a:latin typeface="Cambria Math" panose="02040503050406030204" pitchFamily="18" charset="0"/>
                              <a:ea typeface="Cambria Math" panose="02040503050406030204" pitchFamily="18" charset="0"/>
                            </a:rPr>
                            <m:t>4</m:t>
                          </m:r>
                        </m:sub>
                      </m:sSub>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𝑋</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−2</m:t>
                          </m:r>
                        </m:sub>
                      </m:sSub>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𝑒</m:t>
                          </m:r>
                        </m:e>
                        <m:sub>
                          <m:r>
                            <a:rPr lang="en-US" sz="2000" b="0" i="1" smtClean="0">
                              <a:latin typeface="Cambria Math" panose="02040503050406030204" pitchFamily="18" charset="0"/>
                              <a:ea typeface="Cambria Math" panose="02040503050406030204" pitchFamily="18" charset="0"/>
                            </a:rPr>
                            <m:t>𝑥</m:t>
                          </m:r>
                        </m:sub>
                      </m:sSub>
                    </m:oMath>
                  </m:oMathPara>
                </a14:m>
                <a:endParaRPr lang="en-US" sz="2000" dirty="0"/>
              </a:p>
              <a:p>
                <a:pPr marL="0" indent="0">
                  <a:buNone/>
                </a:pPr>
                <a:endParaRPr lang="en-US" sz="2000" dirty="0"/>
              </a:p>
              <a:p>
                <a:pPr marL="0" indent="0" algn="ctr">
                  <a:buNone/>
                </a:pPr>
                <a14:m>
                  <m:oMath xmlns:m="http://schemas.openxmlformats.org/officeDocument/2006/math">
                    <m:d>
                      <m:dPr>
                        <m:begChr m:val="["/>
                        <m:endChr m:val="]"/>
                        <m:ctrlPr>
                          <a:rPr lang="pt-BR" sz="2000" i="1">
                            <a:latin typeface="Cambria Math" panose="02040503050406030204" pitchFamily="18" charset="0"/>
                          </a:rPr>
                        </m:ctrlPr>
                      </m:dPr>
                      <m:e>
                        <m:m>
                          <m:mPr>
                            <m:mcs>
                              <m:mc>
                                <m:mcPr>
                                  <m:count m:val="1"/>
                                  <m:mcJc m:val="center"/>
                                </m:mcPr>
                              </m:mc>
                            </m:mcs>
                            <m:ctrlPr>
                              <a:rPr lang="pt-BR" sz="2000" i="1">
                                <a:latin typeface="Cambria Math" panose="02040503050406030204" pitchFamily="18" charset="0"/>
                              </a:rPr>
                            </m:ctrlPr>
                          </m:mPr>
                          <m:mr>
                            <m:e>
                              <m:sSub>
                                <m:sSubPr>
                                  <m:ctrlPr>
                                    <a:rPr lang="en-US" sz="2000" i="1">
                                      <a:latin typeface="Cambria Math" panose="02040503050406030204" pitchFamily="18" charset="0"/>
                                    </a:rPr>
                                  </m:ctrlPr>
                                </m:sSubPr>
                                <m:e>
                                  <m:r>
                                    <a:rPr lang="en-US" sz="2000" b="0" i="1" smtClean="0">
                                      <a:latin typeface="Cambria Math" panose="02040503050406030204" pitchFamily="18" charset="0"/>
                                    </a:rPr>
                                    <m:t>𝑌</m:t>
                                  </m:r>
                                </m:e>
                                <m:sub>
                                  <m:r>
                                    <a:rPr lang="en-US" sz="2000" i="1">
                                      <a:latin typeface="Cambria Math" panose="02040503050406030204" pitchFamily="18" charset="0"/>
                                    </a:rPr>
                                    <m:t>𝑡</m:t>
                                  </m:r>
                                </m:sub>
                              </m:sSub>
                            </m:e>
                          </m:mr>
                          <m:mr>
                            <m:e>
                              <m:sSub>
                                <m:sSubPr>
                                  <m:ctrlPr>
                                    <a:rPr lang="en-US" sz="2000" i="1">
                                      <a:latin typeface="Cambria Math" panose="02040503050406030204" pitchFamily="18" charset="0"/>
                                    </a:rPr>
                                  </m:ctrlPr>
                                </m:sSubPr>
                                <m:e>
                                  <m:r>
                                    <a:rPr lang="en-US" sz="2000" b="0" i="1" smtClean="0">
                                      <a:latin typeface="Cambria Math" panose="02040503050406030204" pitchFamily="18" charset="0"/>
                                    </a:rPr>
                                    <m:t>𝑋</m:t>
                                  </m:r>
                                </m:e>
                                <m:sub>
                                  <m:r>
                                    <a:rPr lang="en-US" sz="2000" i="1">
                                      <a:latin typeface="Cambria Math" panose="02040503050406030204" pitchFamily="18" charset="0"/>
                                    </a:rPr>
                                    <m:t>𝑡</m:t>
                                  </m:r>
                                </m:sub>
                              </m:sSub>
                            </m:e>
                          </m:mr>
                        </m:m>
                      </m:e>
                    </m:d>
                    <m:r>
                      <a:rPr lang="pt-BR" sz="2000" i="1">
                        <a:latin typeface="Cambria Math" panose="02040503050406030204" pitchFamily="18" charset="0"/>
                      </a:rPr>
                      <m:t>=</m:t>
                    </m:r>
                    <m:d>
                      <m:dPr>
                        <m:begChr m:val="["/>
                        <m:endChr m:val="]"/>
                        <m:ctrlPr>
                          <a:rPr lang="pt-BR" sz="2000" i="1" smtClean="0">
                            <a:latin typeface="Cambria Math" panose="02040503050406030204" pitchFamily="18" charset="0"/>
                          </a:rPr>
                        </m:ctrlPr>
                      </m:dPr>
                      <m:e>
                        <m:m>
                          <m:mPr>
                            <m:mcs>
                              <m:mc>
                                <m:mcPr>
                                  <m:count m:val="2"/>
                                  <m:mcJc m:val="center"/>
                                </m:mcPr>
                              </m:mc>
                            </m:mcs>
                            <m:ctrlPr>
                              <a:rPr lang="pt-BR" sz="2000" i="1" smtClean="0">
                                <a:latin typeface="Cambria Math" panose="02040503050406030204" pitchFamily="18" charset="0"/>
                              </a:rPr>
                            </m:ctrlPr>
                          </m:mPr>
                          <m:mr>
                            <m:e>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rPr>
                                    <m:t>1</m:t>
                                  </m:r>
                                </m:sub>
                              </m:sSub>
                            </m:e>
                            <m:e>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ea typeface="Cambria Math" panose="02040503050406030204" pitchFamily="18" charset="0"/>
                                    </a:rPr>
                                    <m:t>2</m:t>
                                  </m:r>
                                </m:sub>
                              </m:sSub>
                            </m:e>
                          </m:mr>
                        </m:m>
                      </m:e>
                    </m:d>
                    <m:d>
                      <m:dPr>
                        <m:begChr m:val="["/>
                        <m:endChr m:val="]"/>
                        <m:ctrlPr>
                          <a:rPr lang="pt-BR" sz="2000" i="1">
                            <a:latin typeface="Cambria Math" panose="02040503050406030204" pitchFamily="18" charset="0"/>
                          </a:rPr>
                        </m:ctrlPr>
                      </m:dPr>
                      <m:e>
                        <m:m>
                          <m:mPr>
                            <m:mcs>
                              <m:mc>
                                <m:mcPr>
                                  <m:count m:val="1"/>
                                  <m:mcJc m:val="center"/>
                                </m:mcPr>
                              </m:mc>
                            </m:mcs>
                            <m:ctrlPr>
                              <a:rPr lang="pt-BR" sz="2000" i="1">
                                <a:latin typeface="Cambria Math" panose="02040503050406030204" pitchFamily="18" charset="0"/>
                              </a:rPr>
                            </m:ctrlPr>
                          </m:mPr>
                          <m:mr>
                            <m:e>
                              <m:sSub>
                                <m:sSubPr>
                                  <m:ctrlPr>
                                    <a:rPr lang="en-US" sz="2000" i="1">
                                      <a:latin typeface="Cambria Math" panose="02040503050406030204" pitchFamily="18" charset="0"/>
                                    </a:rPr>
                                  </m:ctrlPr>
                                </m:sSubPr>
                                <m:e>
                                  <m:r>
                                    <a:rPr lang="en-US" sz="2000" b="0" i="1" smtClean="0">
                                      <a:latin typeface="Cambria Math" panose="02040503050406030204" pitchFamily="18" charset="0"/>
                                    </a:rPr>
                                    <m:t>𝑋</m:t>
                                  </m:r>
                                </m:e>
                                <m:sub>
                                  <m:r>
                                    <a:rPr lang="en-US" sz="2000" i="1">
                                      <a:latin typeface="Cambria Math" panose="02040503050406030204" pitchFamily="18" charset="0"/>
                                    </a:rPr>
                                    <m:t>𝑡</m:t>
                                  </m:r>
                                </m:sub>
                              </m:sSub>
                            </m:e>
                          </m:mr>
                          <m:mr>
                            <m:e>
                              <m:sSub>
                                <m:sSubPr>
                                  <m:ctrlPr>
                                    <a:rPr lang="en-US" sz="2000" i="1">
                                      <a:latin typeface="Cambria Math" panose="02040503050406030204" pitchFamily="18" charset="0"/>
                                    </a:rPr>
                                  </m:ctrlPr>
                                </m:sSubPr>
                                <m:e>
                                  <m:r>
                                    <a:rPr lang="en-US" sz="2000" b="0" i="1" smtClean="0">
                                      <a:latin typeface="Cambria Math" panose="02040503050406030204" pitchFamily="18" charset="0"/>
                                    </a:rPr>
                                    <m:t>𝑌</m:t>
                                  </m:r>
                                </m:e>
                                <m:sub>
                                  <m:r>
                                    <a:rPr lang="en-US" sz="2000" i="1">
                                      <a:latin typeface="Cambria Math" panose="02040503050406030204" pitchFamily="18" charset="0"/>
                                    </a:rPr>
                                    <m:t>𝑡</m:t>
                                  </m:r>
                                </m:sub>
                              </m:sSub>
                            </m:e>
                          </m:mr>
                        </m:m>
                      </m:e>
                    </m:d>
                    <m:r>
                      <a:rPr lang="en-US" sz="2000" b="0" i="1" smtClean="0">
                        <a:latin typeface="Cambria Math" panose="02040503050406030204" pitchFamily="18" charset="0"/>
                      </a:rPr>
                      <m:t>+</m:t>
                    </m:r>
                    <m:d>
                      <m:dPr>
                        <m:begChr m:val="["/>
                        <m:endChr m:val="]"/>
                        <m:ctrlPr>
                          <a:rPr lang="pt-BR" sz="2000" i="1">
                            <a:latin typeface="Cambria Math" panose="02040503050406030204" pitchFamily="18" charset="0"/>
                            <a:ea typeface="Cambria Math" panose="02040503050406030204" pitchFamily="18" charset="0"/>
                          </a:rPr>
                        </m:ctrlPr>
                      </m:dPr>
                      <m:e>
                        <m:m>
                          <m:mPr>
                            <m:mcs>
                              <m:mc>
                                <m:mcPr>
                                  <m:count m:val="2"/>
                                  <m:mcJc m:val="center"/>
                                </m:mcPr>
                              </m:mc>
                            </m:mcs>
                            <m:ctrlPr>
                              <a:rPr lang="pt-BR" sz="2000" i="1">
                                <a:latin typeface="Cambria Math" panose="02040503050406030204" pitchFamily="18" charset="0"/>
                                <a:ea typeface="Cambria Math" panose="02040503050406030204" pitchFamily="18" charset="0"/>
                              </a:rPr>
                            </m:ctrlPr>
                          </m:mPr>
                          <m:mr>
                            <m:e>
                              <m:sSub>
                                <m:sSubPr>
                                  <m:ctrlPr>
                                    <a:rPr lang="pt-BR" sz="2000" i="1">
                                      <a:latin typeface="Cambria Math" panose="02040503050406030204" pitchFamily="18" charset="0"/>
                                      <a:ea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𝛽</m:t>
                                  </m:r>
                                </m:e>
                                <m:sub>
                                  <m:r>
                                    <a:rPr lang="pt-BR" sz="2000" i="1">
                                      <a:latin typeface="Cambria Math" panose="02040503050406030204" pitchFamily="18" charset="0"/>
                                      <a:ea typeface="Cambria Math" panose="02040503050406030204" pitchFamily="18" charset="0"/>
                                    </a:rPr>
                                    <m:t>11</m:t>
                                  </m:r>
                                </m:sub>
                              </m:sSub>
                            </m:e>
                            <m:e>
                              <m:sSub>
                                <m:sSubPr>
                                  <m:ctrlPr>
                                    <a:rPr lang="pt-BR" sz="2000" i="1">
                                      <a:latin typeface="Cambria Math" panose="02040503050406030204" pitchFamily="18" charset="0"/>
                                      <a:ea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𝛽</m:t>
                                  </m:r>
                                </m:e>
                                <m:sub>
                                  <m:r>
                                    <a:rPr lang="pt-BR" sz="2000" i="1">
                                      <a:latin typeface="Cambria Math" panose="02040503050406030204" pitchFamily="18" charset="0"/>
                                      <a:ea typeface="Cambria Math" panose="02040503050406030204" pitchFamily="18" charset="0"/>
                                    </a:rPr>
                                    <m:t>12</m:t>
                                  </m:r>
                                </m:sub>
                              </m:sSub>
                            </m:e>
                          </m:mr>
                          <m:mr>
                            <m:e>
                              <m:sSub>
                                <m:sSubPr>
                                  <m:ctrlPr>
                                    <a:rPr lang="pt-BR" sz="2000" i="1">
                                      <a:latin typeface="Cambria Math" panose="02040503050406030204" pitchFamily="18" charset="0"/>
                                      <a:ea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𝛽</m:t>
                                  </m:r>
                                </m:e>
                                <m:sub>
                                  <m:r>
                                    <a:rPr lang="pt-BR" sz="2000" i="1">
                                      <a:latin typeface="Cambria Math" panose="02040503050406030204" pitchFamily="18" charset="0"/>
                                      <a:ea typeface="Cambria Math" panose="02040503050406030204" pitchFamily="18" charset="0"/>
                                    </a:rPr>
                                    <m:t>21</m:t>
                                  </m:r>
                                </m:sub>
                              </m:sSub>
                            </m:e>
                            <m:e>
                              <m:sSub>
                                <m:sSubPr>
                                  <m:ctrlPr>
                                    <a:rPr lang="pt-BR" sz="2000" i="1">
                                      <a:latin typeface="Cambria Math" panose="02040503050406030204" pitchFamily="18" charset="0"/>
                                      <a:ea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𝛽</m:t>
                                  </m:r>
                                </m:e>
                                <m:sub>
                                  <m:r>
                                    <a:rPr lang="pt-BR" sz="2000" i="1">
                                      <a:latin typeface="Cambria Math" panose="02040503050406030204" pitchFamily="18" charset="0"/>
                                      <a:ea typeface="Cambria Math" panose="02040503050406030204" pitchFamily="18" charset="0"/>
                                    </a:rPr>
                                    <m:t>22</m:t>
                                  </m:r>
                                </m:sub>
                              </m:sSub>
                            </m:e>
                          </m:mr>
                        </m:m>
                      </m:e>
                    </m:d>
                  </m:oMath>
                </a14:m>
                <a:r>
                  <a:rPr lang="en-US" sz="2000" dirty="0"/>
                  <a:t>*</a:t>
                </a:r>
                <a:r>
                  <a:rPr lang="pt-BR" sz="2000" dirty="0"/>
                  <a:t> </a:t>
                </a:r>
                <a14:m>
                  <m:oMath xmlns:m="http://schemas.openxmlformats.org/officeDocument/2006/math">
                    <m:d>
                      <m:dPr>
                        <m:begChr m:val="["/>
                        <m:endChr m:val="]"/>
                        <m:ctrlPr>
                          <a:rPr lang="pt-BR" sz="2000" i="1">
                            <a:latin typeface="Cambria Math" panose="02040503050406030204" pitchFamily="18" charset="0"/>
                          </a:rPr>
                        </m:ctrlPr>
                      </m:dPr>
                      <m:e>
                        <m:m>
                          <m:mPr>
                            <m:mcs>
                              <m:mc>
                                <m:mcPr>
                                  <m:count m:val="1"/>
                                  <m:mcJc m:val="center"/>
                                </m:mcPr>
                              </m:mc>
                            </m:mcs>
                            <m:ctrlPr>
                              <a:rPr lang="pt-BR" sz="2000" i="1">
                                <a:latin typeface="Cambria Math" panose="02040503050406030204" pitchFamily="18" charset="0"/>
                              </a:rPr>
                            </m:ctrlPr>
                          </m:mPr>
                          <m:mr>
                            <m:e>
                              <m:sSub>
                                <m:sSubPr>
                                  <m:ctrlPr>
                                    <a:rPr lang="en-US" sz="2000" i="1">
                                      <a:latin typeface="Cambria Math" panose="02040503050406030204" pitchFamily="18" charset="0"/>
                                    </a:rPr>
                                  </m:ctrlPr>
                                </m:sSubPr>
                                <m:e>
                                  <m:r>
                                    <a:rPr lang="en-US" sz="2000" b="0" i="1" smtClean="0">
                                      <a:latin typeface="Cambria Math" panose="02040503050406030204" pitchFamily="18" charset="0"/>
                                    </a:rPr>
                                    <m:t>𝑌</m:t>
                                  </m:r>
                                </m:e>
                                <m:sub>
                                  <m:r>
                                    <a:rPr lang="en-US" sz="2000" i="1">
                                      <a:latin typeface="Cambria Math" panose="02040503050406030204" pitchFamily="18" charset="0"/>
                                    </a:rPr>
                                    <m:t>𝑡</m:t>
                                  </m:r>
                                  <m:r>
                                    <a:rPr lang="pt-BR" sz="2000" i="1">
                                      <a:latin typeface="Cambria Math" panose="02040503050406030204" pitchFamily="18" charset="0"/>
                                    </a:rPr>
                                    <m:t>−1</m:t>
                                  </m:r>
                                </m:sub>
                              </m:sSub>
                            </m:e>
                          </m:mr>
                          <m:mr>
                            <m:e>
                              <m:sSub>
                                <m:sSubPr>
                                  <m:ctrlPr>
                                    <a:rPr lang="en-US" sz="2000" i="1">
                                      <a:latin typeface="Cambria Math" panose="02040503050406030204" pitchFamily="18" charset="0"/>
                                    </a:rPr>
                                  </m:ctrlPr>
                                </m:sSubPr>
                                <m:e>
                                  <m:r>
                                    <a:rPr lang="en-US" sz="2000" b="0" i="1" smtClean="0">
                                      <a:latin typeface="Cambria Math" panose="02040503050406030204" pitchFamily="18" charset="0"/>
                                    </a:rPr>
                                    <m:t>𝑋</m:t>
                                  </m:r>
                                </m:e>
                                <m:sub>
                                  <m:r>
                                    <a:rPr lang="en-US" sz="2000" i="1">
                                      <a:latin typeface="Cambria Math" panose="02040503050406030204" pitchFamily="18" charset="0"/>
                                    </a:rPr>
                                    <m:t>𝑡</m:t>
                                  </m:r>
                                  <m:r>
                                    <a:rPr lang="pt-BR" sz="2000" i="1">
                                      <a:latin typeface="Cambria Math" panose="02040503050406030204" pitchFamily="18" charset="0"/>
                                    </a:rPr>
                                    <m:t>−1</m:t>
                                  </m:r>
                                </m:sub>
                              </m:sSub>
                            </m:e>
                          </m:mr>
                        </m:m>
                      </m:e>
                    </m:d>
                    <m:r>
                      <a:rPr lang="en-US" sz="2000" b="0" i="1" smtClean="0">
                        <a:latin typeface="Cambria Math" panose="02040503050406030204" pitchFamily="18" charset="0"/>
                      </a:rPr>
                      <m:t>+</m:t>
                    </m:r>
                    <m:d>
                      <m:dPr>
                        <m:begChr m:val="["/>
                        <m:endChr m:val="]"/>
                        <m:ctrlPr>
                          <a:rPr lang="pt-BR" sz="2000" i="1">
                            <a:latin typeface="Cambria Math" panose="02040503050406030204" pitchFamily="18" charset="0"/>
                            <a:ea typeface="Cambria Math" panose="02040503050406030204" pitchFamily="18" charset="0"/>
                          </a:rPr>
                        </m:ctrlPr>
                      </m:dPr>
                      <m:e>
                        <m:m>
                          <m:mPr>
                            <m:mcs>
                              <m:mc>
                                <m:mcPr>
                                  <m:count m:val="2"/>
                                  <m:mcJc m:val="center"/>
                                </m:mcPr>
                              </m:mc>
                            </m:mcs>
                            <m:ctrlPr>
                              <a:rPr lang="pt-BR" sz="2000" i="1">
                                <a:latin typeface="Cambria Math" panose="02040503050406030204" pitchFamily="18" charset="0"/>
                                <a:ea typeface="Cambria Math" panose="02040503050406030204" pitchFamily="18" charset="0"/>
                              </a:rPr>
                            </m:ctrlPr>
                          </m:mPr>
                          <m:mr>
                            <m:e>
                              <m:sSub>
                                <m:sSubPr>
                                  <m:ctrlPr>
                                    <a:rPr lang="pt-BR" sz="2000" i="1">
                                      <a:latin typeface="Cambria Math" panose="02040503050406030204" pitchFamily="18" charset="0"/>
                                      <a:ea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𝛽</m:t>
                                  </m:r>
                                </m:e>
                                <m:sub>
                                  <m:r>
                                    <a:rPr lang="pt-BR" sz="2000" i="1">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3</m:t>
                                  </m:r>
                                </m:sub>
                              </m:sSub>
                            </m:e>
                            <m:e>
                              <m:sSub>
                                <m:sSubPr>
                                  <m:ctrlPr>
                                    <a:rPr lang="pt-BR" sz="2000" i="1">
                                      <a:latin typeface="Cambria Math" panose="02040503050406030204" pitchFamily="18" charset="0"/>
                                      <a:ea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𝛽</m:t>
                                  </m:r>
                                </m:e>
                                <m:sub>
                                  <m:r>
                                    <a:rPr lang="pt-BR" sz="2000" i="1">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4</m:t>
                                  </m:r>
                                </m:sub>
                              </m:sSub>
                            </m:e>
                          </m:mr>
                          <m:mr>
                            <m:e>
                              <m:sSub>
                                <m:sSubPr>
                                  <m:ctrlPr>
                                    <a:rPr lang="pt-BR" sz="2000" i="1">
                                      <a:latin typeface="Cambria Math" panose="02040503050406030204" pitchFamily="18" charset="0"/>
                                      <a:ea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𝛽</m:t>
                                  </m:r>
                                </m:e>
                                <m:sub>
                                  <m:r>
                                    <a:rPr lang="pt-BR" sz="2000" i="1">
                                      <a:latin typeface="Cambria Math" panose="02040503050406030204" pitchFamily="18" charset="0"/>
                                      <a:ea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3</m:t>
                                  </m:r>
                                </m:sub>
                              </m:sSub>
                            </m:e>
                            <m:e>
                              <m:sSub>
                                <m:sSubPr>
                                  <m:ctrlPr>
                                    <a:rPr lang="pt-BR" sz="2000" i="1">
                                      <a:latin typeface="Cambria Math" panose="02040503050406030204" pitchFamily="18" charset="0"/>
                                      <a:ea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𝛽</m:t>
                                  </m:r>
                                </m:e>
                                <m:sub>
                                  <m:r>
                                    <a:rPr lang="pt-BR" sz="2000" i="1">
                                      <a:latin typeface="Cambria Math" panose="02040503050406030204" pitchFamily="18" charset="0"/>
                                      <a:ea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4</m:t>
                                  </m:r>
                                </m:sub>
                              </m:sSub>
                            </m:e>
                          </m:mr>
                        </m:m>
                      </m:e>
                    </m:d>
                    <m:r>
                      <m:rPr>
                        <m:nor/>
                      </m:rPr>
                      <a:rPr lang="en-US" sz="2000"/>
                      <m:t>∗</m:t>
                    </m:r>
                    <m:r>
                      <m:rPr>
                        <m:nor/>
                      </m:rPr>
                      <a:rPr lang="pt-BR" sz="2000"/>
                      <m:t> </m:t>
                    </m:r>
                    <m:d>
                      <m:dPr>
                        <m:begChr m:val="["/>
                        <m:endChr m:val="]"/>
                        <m:ctrlPr>
                          <a:rPr lang="pt-BR" sz="2000" i="1">
                            <a:latin typeface="Cambria Math" panose="02040503050406030204" pitchFamily="18" charset="0"/>
                          </a:rPr>
                        </m:ctrlPr>
                      </m:dPr>
                      <m:e>
                        <m:m>
                          <m:mPr>
                            <m:mcs>
                              <m:mc>
                                <m:mcPr>
                                  <m:count m:val="1"/>
                                  <m:mcJc m:val="center"/>
                                </m:mcPr>
                              </m:mc>
                            </m:mcs>
                            <m:ctrlPr>
                              <a:rPr lang="pt-BR" sz="2000" i="1">
                                <a:latin typeface="Cambria Math" panose="02040503050406030204" pitchFamily="18" charset="0"/>
                              </a:rPr>
                            </m:ctrlPr>
                          </m:mPr>
                          <m:mr>
                            <m:e>
                              <m:sSub>
                                <m:sSubPr>
                                  <m:ctrlPr>
                                    <a:rPr lang="en-US" sz="2000" i="1">
                                      <a:latin typeface="Cambria Math" panose="02040503050406030204" pitchFamily="18" charset="0"/>
                                    </a:rPr>
                                  </m:ctrlPr>
                                </m:sSubPr>
                                <m:e>
                                  <m:r>
                                    <a:rPr lang="en-US" sz="2000" b="0" i="1" smtClean="0">
                                      <a:latin typeface="Cambria Math" panose="02040503050406030204" pitchFamily="18" charset="0"/>
                                    </a:rPr>
                                    <m:t>𝑌</m:t>
                                  </m:r>
                                </m:e>
                                <m:sub>
                                  <m:r>
                                    <a:rPr lang="en-US" sz="2000" i="1">
                                      <a:latin typeface="Cambria Math" panose="02040503050406030204" pitchFamily="18" charset="0"/>
                                    </a:rPr>
                                    <m:t>𝑡</m:t>
                                  </m:r>
                                  <m:r>
                                    <a:rPr lang="pt-BR" sz="2000" i="1">
                                      <a:latin typeface="Cambria Math" panose="02040503050406030204" pitchFamily="18" charset="0"/>
                                    </a:rPr>
                                    <m:t>−</m:t>
                                  </m:r>
                                  <m:r>
                                    <a:rPr lang="en-US" sz="2000" b="0" i="1" smtClean="0">
                                      <a:latin typeface="Cambria Math" panose="02040503050406030204" pitchFamily="18" charset="0"/>
                                    </a:rPr>
                                    <m:t>2</m:t>
                                  </m:r>
                                </m:sub>
                              </m:sSub>
                            </m:e>
                          </m:mr>
                          <m:mr>
                            <m:e>
                              <m:sSub>
                                <m:sSubPr>
                                  <m:ctrlPr>
                                    <a:rPr lang="en-US" sz="2000" i="1">
                                      <a:latin typeface="Cambria Math" panose="02040503050406030204" pitchFamily="18" charset="0"/>
                                    </a:rPr>
                                  </m:ctrlPr>
                                </m:sSubPr>
                                <m:e>
                                  <m:r>
                                    <a:rPr lang="en-US" sz="2000" b="0" i="1" smtClean="0">
                                      <a:latin typeface="Cambria Math" panose="02040503050406030204" pitchFamily="18" charset="0"/>
                                    </a:rPr>
                                    <m:t>𝑋</m:t>
                                  </m:r>
                                </m:e>
                                <m:sub>
                                  <m:r>
                                    <a:rPr lang="en-US" sz="2000" i="1">
                                      <a:latin typeface="Cambria Math" panose="02040503050406030204" pitchFamily="18" charset="0"/>
                                    </a:rPr>
                                    <m:t>𝑡</m:t>
                                  </m:r>
                                  <m:r>
                                    <a:rPr lang="pt-BR" sz="2000" i="1">
                                      <a:latin typeface="Cambria Math" panose="02040503050406030204" pitchFamily="18" charset="0"/>
                                    </a:rPr>
                                    <m:t>−</m:t>
                                  </m:r>
                                  <m:r>
                                    <a:rPr lang="en-US" sz="2000" b="0" i="1" smtClean="0">
                                      <a:latin typeface="Cambria Math" panose="02040503050406030204" pitchFamily="18" charset="0"/>
                                    </a:rPr>
                                    <m:t>2</m:t>
                                  </m:r>
                                </m:sub>
                              </m:sSub>
                            </m:e>
                          </m:mr>
                        </m:m>
                      </m:e>
                    </m:d>
                    <m:r>
                      <a:rPr lang="pt-BR" sz="2000" i="1">
                        <a:latin typeface="Cambria Math" panose="02040503050406030204" pitchFamily="18" charset="0"/>
                      </a:rPr>
                      <m:t>+</m:t>
                    </m:r>
                    <m:d>
                      <m:dPr>
                        <m:begChr m:val="["/>
                        <m:endChr m:val="]"/>
                        <m:ctrlPr>
                          <a:rPr lang="pt-BR" sz="2000" i="1">
                            <a:latin typeface="Cambria Math" panose="02040503050406030204" pitchFamily="18" charset="0"/>
                            <a:ea typeface="Cambria Math" panose="02040503050406030204" pitchFamily="18" charset="0"/>
                          </a:rPr>
                        </m:ctrlPr>
                      </m:dPr>
                      <m:e>
                        <m:m>
                          <m:mPr>
                            <m:mcs>
                              <m:mc>
                                <m:mcPr>
                                  <m:count m:val="1"/>
                                  <m:mcJc m:val="center"/>
                                </m:mcPr>
                              </m:mc>
                            </m:mcs>
                            <m:ctrlPr>
                              <a:rPr lang="pt-BR" sz="2000" i="1">
                                <a:latin typeface="Cambria Math" panose="02040503050406030204" pitchFamily="18" charset="0"/>
                                <a:ea typeface="Cambria Math" panose="02040503050406030204" pitchFamily="18" charset="0"/>
                              </a:rPr>
                            </m:ctrlPr>
                          </m:mPr>
                          <m:mr>
                            <m:e>
                              <m:sSub>
                                <m:sSubPr>
                                  <m:ctrlPr>
                                    <a:rPr lang="pt-BR" sz="2000" i="1">
                                      <a:latin typeface="Cambria Math" panose="02040503050406030204" pitchFamily="18" charset="0"/>
                                      <a:ea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𝜖</m:t>
                                  </m:r>
                                </m:e>
                                <m:sub>
                                  <m:r>
                                    <a:rPr lang="en-US" sz="2000" b="0" i="1" smtClean="0">
                                      <a:latin typeface="Cambria Math" panose="02040503050406030204" pitchFamily="18" charset="0"/>
                                      <a:ea typeface="Cambria Math" panose="02040503050406030204" pitchFamily="18" charset="0"/>
                                    </a:rPr>
                                    <m:t>𝑦</m:t>
                                  </m:r>
                                </m:sub>
                              </m:sSub>
                            </m:e>
                          </m:mr>
                          <m:mr>
                            <m:e>
                              <m:sSub>
                                <m:sSubPr>
                                  <m:ctrlPr>
                                    <a:rPr lang="pt-BR" sz="2000" i="1">
                                      <a:latin typeface="Cambria Math" panose="02040503050406030204" pitchFamily="18" charset="0"/>
                                      <a:ea typeface="Cambria Math" panose="02040503050406030204" pitchFamily="18" charset="0"/>
                                    </a:rPr>
                                  </m:ctrlPr>
                                </m:sSubPr>
                                <m:e>
                                  <m:r>
                                    <a:rPr lang="pt-BR" sz="2000" i="1">
                                      <a:latin typeface="Cambria Math" panose="02040503050406030204" pitchFamily="18" charset="0"/>
                                      <a:ea typeface="Cambria Math" panose="02040503050406030204" pitchFamily="18" charset="0"/>
                                    </a:rPr>
                                    <m:t>𝜖</m:t>
                                  </m:r>
                                </m:e>
                                <m:sub>
                                  <m:r>
                                    <a:rPr lang="en-US" sz="2000" b="0" i="1" smtClean="0">
                                      <a:latin typeface="Cambria Math" panose="02040503050406030204" pitchFamily="18" charset="0"/>
                                      <a:ea typeface="Cambria Math" panose="02040503050406030204" pitchFamily="18" charset="0"/>
                                    </a:rPr>
                                    <m:t>𝑥</m:t>
                                  </m:r>
                                </m:sub>
                              </m:sSub>
                            </m:e>
                          </m:mr>
                        </m:m>
                      </m:e>
                    </m:d>
                  </m:oMath>
                </a14:m>
                <a:endParaRPr lang="en-US" sz="2000" dirty="0"/>
              </a:p>
              <a:p>
                <a:pPr marL="0" indent="0" algn="ctr">
                  <a:buNone/>
                </a:pPr>
                <a:endParaRPr lang="en-US" sz="2000" dirty="0"/>
              </a:p>
              <a:p>
                <a:pPr marL="0" indent="0" algn="ctr">
                  <a:buNone/>
                </a:pPr>
                <a:r>
                  <a:rPr lang="en-US" sz="2000" dirty="0"/>
                  <a:t>That can be written as:</a:t>
                </a:r>
              </a:p>
              <a:p>
                <a:pPr marL="0" indent="0" algn="ctr">
                  <a:buNone/>
                </a:pPr>
                <a:endParaRPr lang="en-US" sz="2000" b="1" dirty="0"/>
              </a:p>
              <a:p>
                <a:pPr marL="0" indent="0" algn="ctr">
                  <a:buNone/>
                </a:pPr>
                <a14:m>
                  <m:oMathPara xmlns:m="http://schemas.openxmlformats.org/officeDocument/2006/math">
                    <m:oMathParaPr>
                      <m:jc m:val="centerGroup"/>
                    </m:oMathParaPr>
                    <m:oMath xmlns:m="http://schemas.openxmlformats.org/officeDocument/2006/math">
                      <m:sSub>
                        <m:sSubPr>
                          <m:ctrlPr>
                            <a:rPr lang="en-US" sz="2000" b="1" i="1">
                              <a:latin typeface="Cambria Math" panose="02040503050406030204" pitchFamily="18" charset="0"/>
                            </a:rPr>
                          </m:ctrlPr>
                        </m:sSubPr>
                        <m:e>
                          <m:r>
                            <a:rPr lang="en-US" sz="2000" b="1" i="1" smtClean="0">
                              <a:latin typeface="Cambria Math" panose="02040503050406030204" pitchFamily="18" charset="0"/>
                            </a:rPr>
                            <m:t>𝒀</m:t>
                          </m:r>
                        </m:e>
                        <m:sub>
                          <m:r>
                            <a:rPr lang="en-US" sz="2000" b="1" i="1" smtClean="0">
                              <a:latin typeface="Cambria Math" panose="02040503050406030204" pitchFamily="18" charset="0"/>
                            </a:rPr>
                            <m:t>𝒕</m:t>
                          </m:r>
                        </m:sub>
                      </m:sSub>
                      <m:r>
                        <a:rPr lang="en-US" sz="2000" b="1" i="1" smtClean="0">
                          <a:latin typeface="Cambria Math" panose="02040503050406030204" pitchFamily="18" charset="0"/>
                        </a:rPr>
                        <m:t>=</m:t>
                      </m:r>
                      <m:sSub>
                        <m:sSubPr>
                          <m:ctrlPr>
                            <a:rPr lang="en-US" sz="2000" b="1" i="1">
                              <a:latin typeface="Cambria Math" panose="02040503050406030204" pitchFamily="18" charset="0"/>
                            </a:rPr>
                          </m:ctrlPr>
                        </m:sSubPr>
                        <m:e>
                          <m:r>
                            <a:rPr lang="en-US" sz="2000" b="1" i="1" smtClean="0">
                              <a:latin typeface="Cambria Math" panose="02040503050406030204" pitchFamily="18" charset="0"/>
                            </a:rPr>
                            <m:t>𝑨</m:t>
                          </m:r>
                          <m:sSub>
                            <m:sSubPr>
                              <m:ctrlPr>
                                <a:rPr lang="en-US" sz="2000" b="1" i="1">
                                  <a:latin typeface="Cambria Math" panose="02040503050406030204" pitchFamily="18" charset="0"/>
                                </a:rPr>
                              </m:ctrlPr>
                            </m:sSubPr>
                            <m:e>
                              <m:r>
                                <a:rPr lang="en-US" sz="2000" b="1" i="1" smtClean="0">
                                  <a:latin typeface="Cambria Math" panose="02040503050406030204" pitchFamily="18" charset="0"/>
                                </a:rPr>
                                <m:t>𝒀</m:t>
                              </m:r>
                            </m:e>
                            <m:sub>
                              <m:r>
                                <a:rPr lang="en-US" sz="2000" b="1" i="1" smtClean="0">
                                  <a:latin typeface="Cambria Math" panose="02040503050406030204" pitchFamily="18" charset="0"/>
                                </a:rPr>
                                <m:t>𝒕</m:t>
                              </m:r>
                            </m:sub>
                          </m:sSub>
                          <m:r>
                            <a:rPr lang="en-US" sz="2000" b="1" i="1" smtClean="0">
                              <a:latin typeface="Cambria Math" panose="02040503050406030204" pitchFamily="18" charset="0"/>
                            </a:rPr>
                            <m:t>+ </m:t>
                          </m:r>
                          <m:r>
                            <a:rPr lang="en-US" sz="2000" b="1" i="1" smtClean="0">
                              <a:latin typeface="Cambria Math" panose="02040503050406030204" pitchFamily="18" charset="0"/>
                              <a:ea typeface="Cambria Math" panose="02040503050406030204" pitchFamily="18" charset="0"/>
                            </a:rPr>
                            <m:t>𝜷</m:t>
                          </m:r>
                        </m:e>
                        <m:sub>
                          <m:r>
                            <a:rPr lang="pt-BR" sz="2000" b="1" i="1" smtClean="0">
                              <a:latin typeface="Cambria Math" panose="02040503050406030204" pitchFamily="18" charset="0"/>
                              <a:ea typeface="Cambria Math" panose="02040503050406030204" pitchFamily="18" charset="0"/>
                            </a:rPr>
                            <m:t>𝟏</m:t>
                          </m:r>
                        </m:sub>
                      </m:sSub>
                      <m:sSub>
                        <m:sSubPr>
                          <m:ctrlPr>
                            <a:rPr lang="en-US" sz="2000" b="1" i="1">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𝒀</m:t>
                          </m:r>
                        </m:e>
                        <m:sub>
                          <m:r>
                            <a:rPr lang="en-US" sz="2000" b="1" i="1" smtClean="0">
                              <a:latin typeface="Cambria Math" panose="02040503050406030204" pitchFamily="18" charset="0"/>
                              <a:ea typeface="Cambria Math" panose="02040503050406030204" pitchFamily="18" charset="0"/>
                            </a:rPr>
                            <m:t>𝒕</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𝟏</m:t>
                          </m:r>
                        </m:sub>
                      </m:sSub>
                      <m:sSub>
                        <m:sSubPr>
                          <m:ctrlPr>
                            <a:rPr lang="en-US" sz="2000" b="1" i="1">
                              <a:latin typeface="Cambria Math" panose="02040503050406030204" pitchFamily="18" charset="0"/>
                            </a:rPr>
                          </m:ctrlPr>
                        </m:sSubPr>
                        <m:e>
                          <m:r>
                            <a:rPr lang="en-US" sz="2000" b="1" i="1">
                              <a:latin typeface="Cambria Math" panose="02040503050406030204" pitchFamily="18" charset="0"/>
                            </a:rPr>
                            <m:t>+ </m:t>
                          </m:r>
                          <m:r>
                            <a:rPr lang="en-US" sz="2000" b="1" i="1">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ea typeface="Cambria Math" panose="02040503050406030204" pitchFamily="18" charset="0"/>
                            </a:rPr>
                            <m:t>𝟐</m:t>
                          </m:r>
                        </m:sub>
                      </m:sSub>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𝟐</m:t>
                          </m:r>
                        </m:sub>
                      </m:sSub>
                      <m:r>
                        <a:rPr lang="en-US" sz="2000" b="1" i="1" smtClean="0">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𝒆</m:t>
                          </m:r>
                        </m:e>
                        <m:sub>
                          <m:r>
                            <a:rPr lang="en-US" sz="2000" b="1" i="1" smtClean="0">
                              <a:latin typeface="Cambria Math" panose="02040503050406030204" pitchFamily="18" charset="0"/>
                              <a:ea typeface="Cambria Math" panose="02040503050406030204" pitchFamily="18" charset="0"/>
                            </a:rPr>
                            <m:t>𝒕</m:t>
                          </m:r>
                        </m:sub>
                      </m:sSub>
                    </m:oMath>
                  </m:oMathPara>
                </a14:m>
                <a:endParaRPr lang="en-US" sz="2000" b="1" dirty="0"/>
              </a:p>
              <a:p>
                <a:pPr marL="0" indent="0" algn="ctr">
                  <a:buNone/>
                </a:pPr>
                <a:endParaRPr lang="en-US" sz="2000" b="1" dirty="0"/>
              </a:p>
              <a:p>
                <a:pPr marL="0" indent="0" algn="ctr">
                  <a:buNone/>
                </a:pPr>
                <a14:m>
                  <m:oMathPara xmlns:m="http://schemas.openxmlformats.org/officeDocument/2006/math">
                    <m:oMathParaPr>
                      <m:jc m:val="centerGroup"/>
                    </m:oMathParaPr>
                    <m:oMath xmlns:m="http://schemas.openxmlformats.org/officeDocument/2006/math">
                      <m:sSub>
                        <m:sSubPr>
                          <m:ctrlPr>
                            <a:rPr lang="en-US" sz="2000" b="1" i="1">
                              <a:latin typeface="Cambria Math" panose="02040503050406030204" pitchFamily="18" charset="0"/>
                            </a:rPr>
                          </m:ctrlPr>
                        </m:sSubPr>
                        <m:e>
                          <m:r>
                            <a:rPr lang="en-US" sz="2000" b="1" i="1">
                              <a:latin typeface="Cambria Math" panose="02040503050406030204" pitchFamily="18" charset="0"/>
                            </a:rPr>
                            <m:t>𝒀</m:t>
                          </m:r>
                        </m:e>
                        <m:sub>
                          <m:r>
                            <a:rPr lang="en-US" sz="2000" b="1" i="1">
                              <a:latin typeface="Cambria Math" panose="02040503050406030204" pitchFamily="18" charset="0"/>
                            </a:rPr>
                            <m:t>𝒕</m:t>
                          </m:r>
                        </m:sub>
                      </m:sSub>
                      <m:r>
                        <a:rPr lang="en-US" sz="2000" b="1" i="1">
                          <a:latin typeface="Cambria Math" panose="02040503050406030204" pitchFamily="18" charset="0"/>
                        </a:rPr>
                        <m:t>=</m:t>
                      </m:r>
                      <m:d>
                        <m:dPr>
                          <m:begChr m:val="["/>
                          <m:endChr m:val="]"/>
                          <m:ctrlPr>
                            <a:rPr lang="pt-BR" sz="2000" i="1">
                              <a:latin typeface="Cambria Math" panose="02040503050406030204" pitchFamily="18" charset="0"/>
                            </a:rPr>
                          </m:ctrlPr>
                        </m:dPr>
                        <m:e>
                          <m:m>
                            <m:mPr>
                              <m:mcs>
                                <m:mc>
                                  <m:mcPr>
                                    <m:count m:val="1"/>
                                    <m:mcJc m:val="center"/>
                                  </m:mcPr>
                                </m:mc>
                              </m:mcs>
                              <m:ctrlPr>
                                <a:rPr lang="pt-BR" sz="2000" i="1">
                                  <a:latin typeface="Cambria Math" panose="02040503050406030204" pitchFamily="18" charset="0"/>
                                </a:rPr>
                              </m:ctrlPr>
                            </m:mPr>
                            <m:mr>
                              <m:e>
                                <m:sSub>
                                  <m:sSubPr>
                                    <m:ctrlPr>
                                      <a:rPr lang="en-US" sz="2000" i="1">
                                        <a:latin typeface="Cambria Math" panose="02040503050406030204" pitchFamily="18" charset="0"/>
                                      </a:rPr>
                                    </m:ctrlPr>
                                  </m:sSubPr>
                                  <m:e>
                                    <m:r>
                                      <a:rPr lang="en-US" sz="2000" i="1">
                                        <a:latin typeface="Cambria Math" panose="02040503050406030204" pitchFamily="18" charset="0"/>
                                      </a:rPr>
                                      <m:t>𝑌</m:t>
                                    </m:r>
                                  </m:e>
                                  <m:sub>
                                    <m:r>
                                      <a:rPr lang="en-US" sz="2000" i="1">
                                        <a:latin typeface="Cambria Math" panose="02040503050406030204" pitchFamily="18" charset="0"/>
                                      </a:rPr>
                                      <m:t>𝑡</m:t>
                                    </m:r>
                                  </m:sub>
                                </m:sSub>
                              </m:e>
                            </m:mr>
                            <m:mr>
                              <m:e>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𝑡</m:t>
                                    </m:r>
                                  </m:sub>
                                </m:sSub>
                              </m:e>
                            </m:mr>
                          </m:m>
                        </m:e>
                      </m:d>
                    </m:oMath>
                  </m:oMathPara>
                </a14:m>
                <a:endParaRPr lang="en-US" sz="2000" b="1" dirty="0"/>
              </a:p>
              <a:p>
                <a:pPr marL="0" indent="0" algn="ctr">
                  <a:buNone/>
                </a:pPr>
                <a:endParaRPr lang="en-US" sz="2000" b="1" dirty="0"/>
              </a:p>
              <a:p>
                <a:pPr marL="0" indent="0" algn="ctr">
                  <a:buNone/>
                </a:pPr>
                <a14:m>
                  <m:oMathPara xmlns:m="http://schemas.openxmlformats.org/officeDocument/2006/math">
                    <m:oMathParaPr>
                      <m:jc m:val="centerGroup"/>
                    </m:oMathParaPr>
                    <m:oMath xmlns:m="http://schemas.openxmlformats.org/officeDocument/2006/math">
                      <m:sSub>
                        <m:sSubPr>
                          <m:ctrlPr>
                            <a:rPr lang="en-US" sz="2000" b="1" i="1">
                              <a:latin typeface="Cambria Math" panose="02040503050406030204" pitchFamily="18" charset="0"/>
                            </a:rPr>
                          </m:ctrlPr>
                        </m:sSubPr>
                        <m:e>
                          <m:r>
                            <a:rPr lang="en-US" sz="2000" b="1" i="1">
                              <a:latin typeface="Cambria Math" panose="02040503050406030204" pitchFamily="18" charset="0"/>
                            </a:rPr>
                            <m:t>𝒀</m:t>
                          </m:r>
                        </m:e>
                        <m:sub>
                          <m:r>
                            <a:rPr lang="en-US" sz="2000" b="1" i="1">
                              <a:latin typeface="Cambria Math" panose="02040503050406030204" pitchFamily="18" charset="0"/>
                            </a:rPr>
                            <m:t>𝒕</m:t>
                          </m:r>
                        </m:sub>
                      </m:sSub>
                      <m:r>
                        <a:rPr lang="en-US" sz="2000" b="1" i="1">
                          <a:latin typeface="Cambria Math" panose="02040503050406030204" pitchFamily="18" charset="0"/>
                        </a:rPr>
                        <m:t>=</m:t>
                      </m:r>
                      <m:sSub>
                        <m:sSubPr>
                          <m:ctrlPr>
                            <a:rPr lang="en-US" sz="2000" b="1" i="1">
                              <a:latin typeface="Cambria Math" panose="02040503050406030204" pitchFamily="18" charset="0"/>
                            </a:rPr>
                          </m:ctrlPr>
                        </m:sSubPr>
                        <m:e>
                          <m:sSubSup>
                            <m:sSubSupPr>
                              <m:ctrlPr>
                                <a:rPr lang="en-US" sz="2000" b="1" i="1" smtClean="0">
                                  <a:latin typeface="Cambria Math" panose="02040503050406030204" pitchFamily="18" charset="0"/>
                                </a:rPr>
                              </m:ctrlPr>
                            </m:sSubSupPr>
                            <m:e>
                              <m:r>
                                <a:rPr lang="en-US" sz="2000" b="1" i="1" smtClean="0">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rPr>
                                <m:t>𝟏</m:t>
                              </m:r>
                            </m:sub>
                            <m:sup>
                              <m:r>
                                <a:rPr lang="en-US" sz="2000" b="1" i="1" smtClean="0">
                                  <a:latin typeface="Cambria Math" panose="02040503050406030204" pitchFamily="18" charset="0"/>
                                </a:rPr>
                                <m:t>’</m:t>
                              </m:r>
                            </m:sup>
                          </m:sSubSup>
                          <m:r>
                            <a:rPr lang="en-US" sz="2000" b="1" i="1">
                              <a:latin typeface="Cambria Math" panose="02040503050406030204" pitchFamily="18" charset="0"/>
                            </a:rPr>
                            <m:t>𝒀</m:t>
                          </m:r>
                        </m:e>
                        <m:sub>
                          <m:r>
                            <a:rPr lang="en-US" sz="2000" b="1" i="1">
                              <a:latin typeface="Cambria Math" panose="02040503050406030204" pitchFamily="18" charset="0"/>
                            </a:rPr>
                            <m:t>𝒕</m:t>
                          </m:r>
                          <m:r>
                            <a:rPr lang="en-US" sz="2000" b="1" i="1" smtClean="0">
                              <a:latin typeface="Cambria Math" panose="02040503050406030204" pitchFamily="18" charset="0"/>
                            </a:rPr>
                            <m:t>−</m:t>
                          </m:r>
                          <m:r>
                            <a:rPr lang="en-US" sz="2000" b="1" i="1" smtClean="0">
                              <a:latin typeface="Cambria Math" panose="02040503050406030204" pitchFamily="18" charset="0"/>
                            </a:rPr>
                            <m:t>𝟏</m:t>
                          </m:r>
                        </m:sub>
                      </m:sSub>
                      <m:r>
                        <a:rPr lang="en-US" sz="2000" b="1" i="1">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rPr>
                          </m:ctrlPr>
                        </m:sSubPr>
                        <m:e>
                          <m:sSubSup>
                            <m:sSubSupPr>
                              <m:ctrlPr>
                                <a:rPr lang="en-US" sz="2000" b="1" i="1">
                                  <a:latin typeface="Cambria Math" panose="02040503050406030204" pitchFamily="18" charset="0"/>
                                </a:rPr>
                              </m:ctrlPr>
                            </m:sSubSupPr>
                            <m:e>
                              <m:r>
                                <a:rPr lang="en-US" sz="2000" b="1" i="1" smtClean="0">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rPr>
                                <m:t>𝟐</m:t>
                              </m:r>
                            </m:sub>
                            <m:sup>
                              <m:r>
                                <a:rPr lang="en-US" sz="2000" b="1" i="1" smtClean="0">
                                  <a:latin typeface="Cambria Math" panose="02040503050406030204" pitchFamily="18" charset="0"/>
                                </a:rPr>
                                <m:t>’</m:t>
                              </m:r>
                            </m:sup>
                          </m:sSubSup>
                          <m:r>
                            <a:rPr lang="en-US" sz="2000" b="1" i="1">
                              <a:latin typeface="Cambria Math" panose="02040503050406030204" pitchFamily="18" charset="0"/>
                            </a:rPr>
                            <m:t>𝒀</m:t>
                          </m:r>
                        </m:e>
                        <m:sub>
                          <m:r>
                            <a:rPr lang="en-US" sz="2000" b="1" i="1">
                              <a:latin typeface="Cambria Math" panose="02040503050406030204" pitchFamily="18" charset="0"/>
                            </a:rPr>
                            <m:t>𝒕</m:t>
                          </m:r>
                          <m:r>
                            <a:rPr lang="en-US" sz="2000" b="1" i="1">
                              <a:latin typeface="Cambria Math" panose="02040503050406030204" pitchFamily="18" charset="0"/>
                            </a:rPr>
                            <m:t>−</m:t>
                          </m:r>
                          <m:r>
                            <a:rPr lang="en-US" sz="2000" b="1" i="1" smtClean="0">
                              <a:latin typeface="Cambria Math" panose="02040503050406030204" pitchFamily="18" charset="0"/>
                            </a:rPr>
                            <m:t>𝟐</m:t>
                          </m:r>
                        </m:sub>
                      </m:sSub>
                      <m:r>
                        <a:rPr lang="en-US" sz="2000" b="1" i="1" smtClean="0">
                          <a:latin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sSubSup>
                            <m:sSubSupPr>
                              <m:ctrlPr>
                                <a:rPr lang="en-US" sz="2000" b="1" i="1" smtClean="0">
                                  <a:latin typeface="Cambria Math" panose="02040503050406030204" pitchFamily="18" charset="0"/>
                                  <a:ea typeface="Cambria Math" panose="02040503050406030204" pitchFamily="18" charset="0"/>
                                </a:rPr>
                              </m:ctrlPr>
                            </m:sSubSupPr>
                            <m:e>
                              <m:r>
                                <a:rPr lang="en-US" sz="2000" b="1" i="1" smtClean="0">
                                  <a:latin typeface="Cambria Math" panose="02040503050406030204" pitchFamily="18" charset="0"/>
                                  <a:ea typeface="Cambria Math" panose="02040503050406030204" pitchFamily="18" charset="0"/>
                                </a:rPr>
                                <m:t>𝒆</m:t>
                              </m:r>
                            </m:e>
                            <m:sub>
                              <m:r>
                                <a:rPr lang="en-US" sz="2000" b="1" i="1" smtClean="0">
                                  <a:latin typeface="Cambria Math" panose="02040503050406030204" pitchFamily="18" charset="0"/>
                                  <a:ea typeface="Cambria Math" panose="02040503050406030204" pitchFamily="18" charset="0"/>
                                </a:rPr>
                                <m:t>𝒕</m:t>
                              </m:r>
                            </m:sub>
                            <m:sup>
                              <m:r>
                                <a:rPr lang="en-US" sz="2000" b="1" i="1" smtClean="0">
                                  <a:latin typeface="Cambria Math" panose="02040503050406030204" pitchFamily="18" charset="0"/>
                                  <a:ea typeface="Cambria Math" panose="02040503050406030204" pitchFamily="18" charset="0"/>
                                </a:rPr>
                                <m:t>’</m:t>
                              </m:r>
                            </m:sup>
                          </m:sSubSup>
                        </m:e>
                        <m:sub>
                          <m:r>
                            <a:rPr lang="en-US" sz="2000" b="1" i="1">
                              <a:latin typeface="Cambria Math" panose="02040503050406030204" pitchFamily="18" charset="0"/>
                              <a:ea typeface="Cambria Math" panose="02040503050406030204" pitchFamily="18" charset="0"/>
                            </a:rPr>
                            <m:t>𝒙</m:t>
                          </m:r>
                        </m:sub>
                      </m:sSub>
                    </m:oMath>
                  </m:oMathPara>
                </a14:m>
                <a:endParaRPr lang="en-US" sz="2000" b="1" dirty="0"/>
              </a:p>
              <a:p>
                <a:pPr marL="0" indent="0" algn="ctr">
                  <a:buNone/>
                </a:pPr>
                <a:endParaRPr lang="en-US" sz="2000" b="1" dirty="0"/>
              </a:p>
              <a:p>
                <a:pPr marL="0" indent="0" algn="ctr">
                  <a:buNone/>
                </a:pPr>
                <a14:m>
                  <m:oMathPara xmlns:m="http://schemas.openxmlformats.org/officeDocument/2006/math">
                    <m:oMathParaPr>
                      <m:jc m:val="centerGroup"/>
                    </m:oMathParaPr>
                    <m:oMath xmlns:m="http://schemas.openxmlformats.org/officeDocument/2006/math">
                      <m:sSubSup>
                        <m:sSubSupPr>
                          <m:ctrlPr>
                            <a:rPr lang="en-US" sz="2000" b="1" i="1">
                              <a:latin typeface="Cambria Math" panose="02040503050406030204" pitchFamily="18" charset="0"/>
                            </a:rPr>
                          </m:ctrlPr>
                        </m:sSubSupPr>
                        <m:e>
                          <m:r>
                            <a:rPr lang="en-US" sz="2000" b="1" i="1">
                              <a:latin typeface="Cambria Math" panose="02040503050406030204" pitchFamily="18" charset="0"/>
                              <a:ea typeface="Cambria Math" panose="02040503050406030204" pitchFamily="18" charset="0"/>
                            </a:rPr>
                            <m:t>𝜷</m:t>
                          </m:r>
                        </m:e>
                        <m:sub>
                          <m:r>
                            <a:rPr lang="en-US" sz="2000" b="1" i="1">
                              <a:latin typeface="Cambria Math" panose="02040503050406030204" pitchFamily="18" charset="0"/>
                            </a:rPr>
                            <m:t>𝟏</m:t>
                          </m:r>
                        </m:sub>
                        <m:sup>
                          <m:r>
                            <a:rPr lang="en-US" sz="2000" b="1" i="1">
                              <a:latin typeface="Cambria Math" panose="02040503050406030204" pitchFamily="18" charset="0"/>
                            </a:rPr>
                            <m:t>’</m:t>
                          </m:r>
                        </m:sup>
                      </m:sSubSup>
                      <m:r>
                        <a:rPr lang="en-US" sz="2000" b="1" i="1" smtClean="0">
                          <a:latin typeface="Cambria Math" panose="02040503050406030204" pitchFamily="18" charset="0"/>
                        </a:rPr>
                        <m:t>=</m:t>
                      </m:r>
                      <m:sSup>
                        <m:sSupPr>
                          <m:ctrlPr>
                            <a:rPr lang="en-US" sz="2000" b="1" i="1" smtClean="0">
                              <a:latin typeface="Cambria Math" panose="02040503050406030204" pitchFamily="18" charset="0"/>
                            </a:rPr>
                          </m:ctrlPr>
                        </m:sSupPr>
                        <m:e>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𝑰</m:t>
                              </m:r>
                              <m:r>
                                <a:rPr lang="en-US" sz="2000" b="1" i="1" smtClean="0">
                                  <a:latin typeface="Cambria Math" panose="02040503050406030204" pitchFamily="18" charset="0"/>
                                </a:rPr>
                                <m:t>−</m:t>
                              </m:r>
                              <m:r>
                                <a:rPr lang="en-US" sz="2000" b="1" i="1" smtClean="0">
                                  <a:latin typeface="Cambria Math" panose="02040503050406030204" pitchFamily="18" charset="0"/>
                                </a:rPr>
                                <m:t>𝑨</m:t>
                              </m:r>
                            </m:e>
                          </m:d>
                        </m:e>
                        <m:sup>
                          <m:r>
                            <a:rPr lang="en-US" sz="2000" b="1" i="1" smtClean="0">
                              <a:latin typeface="Cambria Math" panose="02040503050406030204" pitchFamily="18" charset="0"/>
                            </a:rPr>
                            <m:t>−</m:t>
                          </m:r>
                          <m:r>
                            <a:rPr lang="en-US" sz="2000" b="1" i="1" smtClean="0">
                              <a:latin typeface="Cambria Math" panose="02040503050406030204" pitchFamily="18" charset="0"/>
                            </a:rPr>
                            <m:t>𝟏</m:t>
                          </m:r>
                        </m:sup>
                      </m:sSup>
                    </m:oMath>
                  </m:oMathPara>
                </a14:m>
                <a:endParaRPr lang="en-US" sz="2000" b="1" dirty="0"/>
              </a:p>
            </p:txBody>
          </p:sp>
        </mc:Choice>
        <mc:Fallback xmlns="">
          <p:sp>
            <p:nvSpPr>
              <p:cNvPr id="3" name="Content Placeholder 2">
                <a:extLst>
                  <a:ext uri="{FF2B5EF4-FFF2-40B4-BE49-F238E27FC236}">
                    <a16:creationId xmlns:a16="http://schemas.microsoft.com/office/drawing/2014/main" id="{A35E0F6C-E825-8145-ABFF-FE52C30B66E5}"/>
                  </a:ext>
                </a:extLst>
              </p:cNvPr>
              <p:cNvSpPr>
                <a:spLocks noGrp="1" noRot="1" noChangeAspect="1" noMove="1" noResize="1" noEditPoints="1" noAdjustHandles="1" noChangeArrowheads="1" noChangeShapeType="1" noTextEdit="1"/>
              </p:cNvSpPr>
              <p:nvPr>
                <p:ph idx="1"/>
              </p:nvPr>
            </p:nvSpPr>
            <p:spPr>
              <a:xfrm>
                <a:off x="838200" y="1033154"/>
                <a:ext cx="10515600" cy="5628903"/>
              </a:xfrm>
              <a:blipFill>
                <a:blip r:embed="rId2"/>
                <a:stretch>
                  <a:fillRect b="-674"/>
                </a:stretch>
              </a:blipFill>
            </p:spPr>
            <p:txBody>
              <a:bodyPr/>
              <a:lstStyle/>
              <a:p>
                <a:r>
                  <a:rPr lang="en-US">
                    <a:noFill/>
                  </a:rPr>
                  <a:t> </a:t>
                </a:r>
              </a:p>
            </p:txBody>
          </p:sp>
        </mc:Fallback>
      </mc:AlternateContent>
    </p:spTree>
    <p:extLst>
      <p:ext uri="{BB962C8B-B14F-4D97-AF65-F5344CB8AC3E}">
        <p14:creationId xmlns:p14="http://schemas.microsoft.com/office/powerpoint/2010/main" val="34495624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D1B05-4BE8-CB43-A3C0-3FB6576C5873}"/>
              </a:ext>
            </a:extLst>
          </p:cNvPr>
          <p:cNvSpPr>
            <a:spLocks noGrp="1"/>
          </p:cNvSpPr>
          <p:nvPr>
            <p:ph type="title"/>
          </p:nvPr>
        </p:nvSpPr>
        <p:spPr>
          <a:xfrm>
            <a:off x="838200" y="365126"/>
            <a:ext cx="10515600" cy="668028"/>
          </a:xfrm>
        </p:spPr>
        <p:txBody>
          <a:bodyPr>
            <a:normAutofit/>
          </a:bodyPr>
          <a:lstStyle/>
          <a:p>
            <a:pPr algn="ctr"/>
            <a:r>
              <a:rPr lang="en-US" sz="3200" dirty="0"/>
              <a:t>Deriving the VECM from a Simple VAR(2)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35E0F6C-E825-8145-ABFF-FE52C30B66E5}"/>
                  </a:ext>
                </a:extLst>
              </p:cNvPr>
              <p:cNvSpPr>
                <a:spLocks noGrp="1"/>
              </p:cNvSpPr>
              <p:nvPr>
                <p:ph idx="1"/>
              </p:nvPr>
            </p:nvSpPr>
            <p:spPr>
              <a:xfrm>
                <a:off x="838200" y="1033154"/>
                <a:ext cx="10515600" cy="5628903"/>
              </a:xfrm>
            </p:spPr>
            <p:txBody>
              <a:bodyPr>
                <a:normAutofit fontScale="92500" lnSpcReduction="10000"/>
              </a:bodyPr>
              <a:lstStyle/>
              <a:p>
                <a:pPr marL="0" indent="0">
                  <a:buNone/>
                </a:pPr>
                <a:r>
                  <a:rPr lang="en-US" sz="2000" dirty="0"/>
                  <a:t>By subtracting  </a:t>
                </a:r>
                <a14:m>
                  <m:oMath xmlns:m="http://schemas.openxmlformats.org/officeDocument/2006/math">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𝟏</m:t>
                        </m:r>
                      </m:sub>
                    </m:sSub>
                  </m:oMath>
                </a14:m>
                <a:r>
                  <a:rPr lang="en-US" sz="2000" dirty="0"/>
                  <a:t> from both sides of the previous equation, we have: </a:t>
                </a:r>
              </a:p>
              <a:p>
                <a:pPr marL="0" indent="0">
                  <a:buNone/>
                </a:pPr>
                <a:endParaRPr lang="en-US" sz="2000" dirty="0"/>
              </a:p>
              <a:p>
                <a:pPr marL="0" indent="0" algn="ctr">
                  <a:buNone/>
                </a:pPr>
                <a:endParaRPr lang="en-US" sz="2000" b="1" dirty="0"/>
              </a:p>
              <a:p>
                <a:pPr marL="0" indent="0" algn="ctr">
                  <a:buNone/>
                </a:pPr>
                <a14:m>
                  <m:oMathPara xmlns:m="http://schemas.openxmlformats.org/officeDocument/2006/math">
                    <m:oMathParaPr>
                      <m:jc m:val="centerGroup"/>
                    </m:oMathParaPr>
                    <m:oMath xmlns:m="http://schemas.openxmlformats.org/officeDocument/2006/math">
                      <m:sSub>
                        <m:sSubPr>
                          <m:ctrlPr>
                            <a:rPr lang="en-US" sz="2000" b="1" i="1">
                              <a:latin typeface="Cambria Math" panose="02040503050406030204" pitchFamily="18" charset="0"/>
                            </a:rPr>
                          </m:ctrlPr>
                        </m:sSubPr>
                        <m:e>
                          <m:r>
                            <a:rPr lang="en-US" sz="2000" b="1" i="1">
                              <a:latin typeface="Cambria Math" panose="02040503050406030204" pitchFamily="18" charset="0"/>
                            </a:rPr>
                            <m:t>𝒀</m:t>
                          </m:r>
                        </m:e>
                        <m:sub>
                          <m:r>
                            <a:rPr lang="en-US" sz="2000" b="1" i="1">
                              <a:latin typeface="Cambria Math" panose="02040503050406030204" pitchFamily="18" charset="0"/>
                            </a:rPr>
                            <m:t>𝒕</m:t>
                          </m:r>
                        </m:sub>
                      </m:sSub>
                      <m:r>
                        <a:rPr lang="en-US" sz="2000" b="1" i="1" smtClean="0">
                          <a:latin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𝟏</m:t>
                          </m:r>
                        </m:sub>
                      </m:sSub>
                      <m:r>
                        <a:rPr lang="en-US" sz="2000" b="1" i="1">
                          <a:latin typeface="Cambria Math" panose="02040503050406030204" pitchFamily="18" charset="0"/>
                        </a:rPr>
                        <m:t>=</m:t>
                      </m:r>
                      <m:sSub>
                        <m:sSubPr>
                          <m:ctrlPr>
                            <a:rPr lang="en-US" sz="2000" b="1" i="1">
                              <a:latin typeface="Cambria Math" panose="02040503050406030204" pitchFamily="18" charset="0"/>
                            </a:rPr>
                          </m:ctrlPr>
                        </m:sSubPr>
                        <m:e>
                          <m:sSubSup>
                            <m:sSubSupPr>
                              <m:ctrlPr>
                                <a:rPr lang="en-US" sz="2000" b="1" i="1" smtClean="0">
                                  <a:latin typeface="Cambria Math" panose="02040503050406030204" pitchFamily="18" charset="0"/>
                                </a:rPr>
                              </m:ctrlPr>
                            </m:sSubSupPr>
                            <m:e>
                              <m:r>
                                <a:rPr lang="en-US" sz="2000" b="1" i="1" smtClean="0">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rPr>
                                <m:t>𝟏</m:t>
                              </m:r>
                            </m:sub>
                            <m:sup>
                              <m:r>
                                <a:rPr lang="en-US" sz="2000" b="1" i="1" smtClean="0">
                                  <a:latin typeface="Cambria Math" panose="02040503050406030204" pitchFamily="18" charset="0"/>
                                </a:rPr>
                                <m:t>’</m:t>
                              </m:r>
                            </m:sup>
                          </m:sSubSup>
                          <m:r>
                            <a:rPr lang="en-US" sz="2000" b="1" i="1">
                              <a:latin typeface="Cambria Math" panose="02040503050406030204" pitchFamily="18" charset="0"/>
                            </a:rPr>
                            <m:t>𝒀</m:t>
                          </m:r>
                        </m:e>
                        <m:sub>
                          <m:r>
                            <a:rPr lang="en-US" sz="2000" b="1" i="1">
                              <a:latin typeface="Cambria Math" panose="02040503050406030204" pitchFamily="18" charset="0"/>
                            </a:rPr>
                            <m:t>𝒕</m:t>
                          </m:r>
                          <m:r>
                            <a:rPr lang="en-US" sz="2000" b="1" i="1" smtClean="0">
                              <a:latin typeface="Cambria Math" panose="02040503050406030204" pitchFamily="18" charset="0"/>
                            </a:rPr>
                            <m:t>−</m:t>
                          </m:r>
                          <m:r>
                            <a:rPr lang="en-US" sz="2000" b="1" i="1" smtClean="0">
                              <a:latin typeface="Cambria Math" panose="02040503050406030204" pitchFamily="18" charset="0"/>
                            </a:rPr>
                            <m:t>𝟏</m:t>
                          </m:r>
                        </m:sub>
                      </m:sSub>
                      <m:r>
                        <a:rPr lang="en-US" sz="2000" b="1" i="1">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rPr>
                          </m:ctrlPr>
                        </m:sSubPr>
                        <m:e>
                          <m:sSubSup>
                            <m:sSubSupPr>
                              <m:ctrlPr>
                                <a:rPr lang="en-US" sz="2000" b="1" i="1">
                                  <a:latin typeface="Cambria Math" panose="02040503050406030204" pitchFamily="18" charset="0"/>
                                </a:rPr>
                              </m:ctrlPr>
                            </m:sSubSupPr>
                            <m:e>
                              <m:r>
                                <a:rPr lang="en-US" sz="2000" b="1" i="1" smtClean="0">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rPr>
                                <m:t>𝟐</m:t>
                              </m:r>
                            </m:sub>
                            <m:sup>
                              <m:r>
                                <a:rPr lang="en-US" sz="2000" b="1" i="1" smtClean="0">
                                  <a:latin typeface="Cambria Math" panose="02040503050406030204" pitchFamily="18" charset="0"/>
                                </a:rPr>
                                <m:t>’</m:t>
                              </m:r>
                            </m:sup>
                          </m:sSubSup>
                          <m:r>
                            <a:rPr lang="en-US" sz="2000" b="1" i="1">
                              <a:latin typeface="Cambria Math" panose="02040503050406030204" pitchFamily="18" charset="0"/>
                            </a:rPr>
                            <m:t>𝒀</m:t>
                          </m:r>
                        </m:e>
                        <m:sub>
                          <m:r>
                            <a:rPr lang="en-US" sz="2000" b="1" i="1">
                              <a:latin typeface="Cambria Math" panose="02040503050406030204" pitchFamily="18" charset="0"/>
                            </a:rPr>
                            <m:t>𝒕</m:t>
                          </m:r>
                          <m:r>
                            <a:rPr lang="en-US" sz="2000" b="1" i="1">
                              <a:latin typeface="Cambria Math" panose="02040503050406030204" pitchFamily="18" charset="0"/>
                            </a:rPr>
                            <m:t>−</m:t>
                          </m:r>
                          <m:r>
                            <a:rPr lang="en-US" sz="2000" b="1" i="1" smtClean="0">
                              <a:latin typeface="Cambria Math" panose="02040503050406030204" pitchFamily="18" charset="0"/>
                            </a:rPr>
                            <m:t>𝟐</m:t>
                          </m:r>
                        </m:sub>
                      </m:sSub>
                      <m:r>
                        <a:rPr lang="en-US" sz="2000" b="1" i="1" smtClean="0">
                          <a:latin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𝟏</m:t>
                          </m:r>
                        </m:sub>
                      </m:sSub>
                      <m:r>
                        <a:rPr lang="en-US" sz="2000" b="1" i="1" smtClean="0">
                          <a:latin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sSubSup>
                            <m:sSubSupPr>
                              <m:ctrlPr>
                                <a:rPr lang="en-US" sz="2000" b="1" i="1" smtClean="0">
                                  <a:latin typeface="Cambria Math" panose="02040503050406030204" pitchFamily="18" charset="0"/>
                                  <a:ea typeface="Cambria Math" panose="02040503050406030204" pitchFamily="18" charset="0"/>
                                </a:rPr>
                              </m:ctrlPr>
                            </m:sSubSupPr>
                            <m:e>
                              <m:r>
                                <a:rPr lang="en-US" sz="2000" b="1" i="1" smtClean="0">
                                  <a:latin typeface="Cambria Math" panose="02040503050406030204" pitchFamily="18" charset="0"/>
                                  <a:ea typeface="Cambria Math" panose="02040503050406030204" pitchFamily="18" charset="0"/>
                                </a:rPr>
                                <m:t>𝒆</m:t>
                              </m:r>
                            </m:e>
                            <m:sub>
                              <m:r>
                                <a:rPr lang="en-US" sz="2000" b="1" i="1" smtClean="0">
                                  <a:latin typeface="Cambria Math" panose="02040503050406030204" pitchFamily="18" charset="0"/>
                                  <a:ea typeface="Cambria Math" panose="02040503050406030204" pitchFamily="18" charset="0"/>
                                </a:rPr>
                                <m:t>𝒕</m:t>
                              </m:r>
                            </m:sub>
                            <m:sup>
                              <m:r>
                                <a:rPr lang="en-US" sz="2000" b="1" i="1" smtClean="0">
                                  <a:latin typeface="Cambria Math" panose="02040503050406030204" pitchFamily="18" charset="0"/>
                                  <a:ea typeface="Cambria Math" panose="02040503050406030204" pitchFamily="18" charset="0"/>
                                </a:rPr>
                                <m:t>’</m:t>
                              </m:r>
                            </m:sup>
                          </m:sSubSup>
                        </m:e>
                        <m:sub>
                          <m:r>
                            <a:rPr lang="en-US" sz="2000" b="1" i="1">
                              <a:latin typeface="Cambria Math" panose="02040503050406030204" pitchFamily="18" charset="0"/>
                              <a:ea typeface="Cambria Math" panose="02040503050406030204" pitchFamily="18" charset="0"/>
                            </a:rPr>
                            <m:t>𝒙</m:t>
                          </m:r>
                        </m:sub>
                      </m:sSub>
                    </m:oMath>
                  </m:oMathPara>
                </a14:m>
                <a:endParaRPr lang="en-US" sz="2000" b="1" dirty="0"/>
              </a:p>
              <a:p>
                <a:pPr marL="0" indent="0" algn="ctr">
                  <a:buNone/>
                </a:pPr>
                <a:endParaRPr lang="en-US" sz="2000" b="1" dirty="0"/>
              </a:p>
              <a:p>
                <a:pPr marL="0" indent="0" algn="ctr">
                  <a:buNone/>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ea typeface="Cambria Math" panose="02040503050406030204" pitchFamily="18" charset="0"/>
                        </a:rPr>
                        <m:t>𝚫</m:t>
                      </m:r>
                      <m:sSub>
                        <m:sSubPr>
                          <m:ctrlPr>
                            <a:rPr lang="en-US" sz="2000" b="1" i="1">
                              <a:latin typeface="Cambria Math" panose="02040503050406030204" pitchFamily="18" charset="0"/>
                            </a:rPr>
                          </m:ctrlPr>
                        </m:sSubPr>
                        <m:e>
                          <m:r>
                            <a:rPr lang="en-US" sz="2000" b="1" i="1">
                              <a:latin typeface="Cambria Math" panose="02040503050406030204" pitchFamily="18" charset="0"/>
                            </a:rPr>
                            <m:t>𝒀</m:t>
                          </m:r>
                        </m:e>
                        <m:sub>
                          <m:r>
                            <a:rPr lang="en-US" sz="2000" b="1" i="1">
                              <a:latin typeface="Cambria Math" panose="02040503050406030204" pitchFamily="18" charset="0"/>
                            </a:rPr>
                            <m:t>𝒕</m:t>
                          </m:r>
                        </m:sub>
                      </m:sSub>
                      <m:r>
                        <a:rPr lang="en-US" sz="2000" b="1" i="1">
                          <a:latin typeface="Cambria Math" panose="02040503050406030204" pitchFamily="18" charset="0"/>
                        </a:rPr>
                        <m:t>=</m:t>
                      </m:r>
                      <m:sSub>
                        <m:sSubPr>
                          <m:ctrlPr>
                            <a:rPr lang="en-US" sz="2000" b="1" i="1">
                              <a:latin typeface="Cambria Math" panose="02040503050406030204" pitchFamily="18" charset="0"/>
                            </a:rPr>
                          </m:ctrlPr>
                        </m:sSubPr>
                        <m:e>
                          <m:sSubSup>
                            <m:sSubSupPr>
                              <m:ctrlPr>
                                <a:rPr lang="en-US" sz="2000" b="1" i="1">
                                  <a:latin typeface="Cambria Math" panose="02040503050406030204" pitchFamily="18" charset="0"/>
                                </a:rPr>
                              </m:ctrlPr>
                            </m:sSubSupPr>
                            <m:e>
                              <m:r>
                                <a:rPr lang="en-US" sz="2000" b="1" i="1">
                                  <a:latin typeface="Cambria Math" panose="02040503050406030204" pitchFamily="18" charset="0"/>
                                  <a:ea typeface="Cambria Math" panose="02040503050406030204" pitchFamily="18" charset="0"/>
                                </a:rPr>
                                <m:t>𝜷</m:t>
                              </m:r>
                            </m:e>
                            <m:sub>
                              <m:r>
                                <a:rPr lang="en-US" sz="2000" b="1" i="1">
                                  <a:latin typeface="Cambria Math" panose="02040503050406030204" pitchFamily="18" charset="0"/>
                                </a:rPr>
                                <m:t>𝟏</m:t>
                              </m:r>
                            </m:sub>
                            <m:sup>
                              <m:r>
                                <a:rPr lang="en-US" sz="2000" b="1" i="1">
                                  <a:latin typeface="Cambria Math" panose="02040503050406030204" pitchFamily="18" charset="0"/>
                                </a:rPr>
                                <m:t>’</m:t>
                              </m:r>
                            </m:sup>
                          </m:sSubSup>
                          <m:r>
                            <a:rPr lang="en-US" sz="2000" b="1" i="1">
                              <a:latin typeface="Cambria Math" panose="02040503050406030204" pitchFamily="18" charset="0"/>
                            </a:rPr>
                            <m:t>𝒀</m:t>
                          </m:r>
                        </m:e>
                        <m:sub>
                          <m:r>
                            <a:rPr lang="en-US" sz="2000" b="1" i="1">
                              <a:latin typeface="Cambria Math" panose="02040503050406030204" pitchFamily="18" charset="0"/>
                            </a:rPr>
                            <m:t>𝒕</m:t>
                          </m:r>
                          <m:r>
                            <a:rPr lang="en-US" sz="2000" b="1" i="1">
                              <a:latin typeface="Cambria Math" panose="02040503050406030204" pitchFamily="18" charset="0"/>
                            </a:rPr>
                            <m:t>−</m:t>
                          </m:r>
                          <m:r>
                            <a:rPr lang="en-US" sz="2000" b="1" i="1">
                              <a:latin typeface="Cambria Math" panose="02040503050406030204" pitchFamily="18" charset="0"/>
                            </a:rPr>
                            <m:t>𝟏</m:t>
                          </m:r>
                        </m:sub>
                      </m:sSub>
                      <m:r>
                        <a:rPr lang="en-US" sz="2000" b="1" i="1">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rPr>
                          </m:ctrlPr>
                        </m:sSubPr>
                        <m:e>
                          <m:sSubSup>
                            <m:sSubSupPr>
                              <m:ctrlPr>
                                <a:rPr lang="en-US" sz="2000" b="1" i="1">
                                  <a:latin typeface="Cambria Math" panose="02040503050406030204" pitchFamily="18" charset="0"/>
                                </a:rPr>
                              </m:ctrlPr>
                            </m:sSubSupPr>
                            <m:e>
                              <m:r>
                                <a:rPr lang="en-US" sz="2000" b="1" i="1">
                                  <a:latin typeface="Cambria Math" panose="02040503050406030204" pitchFamily="18" charset="0"/>
                                  <a:ea typeface="Cambria Math" panose="02040503050406030204" pitchFamily="18" charset="0"/>
                                </a:rPr>
                                <m:t>𝜷</m:t>
                              </m:r>
                            </m:e>
                            <m:sub>
                              <m:r>
                                <a:rPr lang="en-US" sz="2000" b="1" i="1">
                                  <a:latin typeface="Cambria Math" panose="02040503050406030204" pitchFamily="18" charset="0"/>
                                </a:rPr>
                                <m:t>𝟐</m:t>
                              </m:r>
                            </m:sub>
                            <m:sup>
                              <m:r>
                                <a:rPr lang="en-US" sz="2000" b="1" i="1">
                                  <a:latin typeface="Cambria Math" panose="02040503050406030204" pitchFamily="18" charset="0"/>
                                </a:rPr>
                                <m:t>’</m:t>
                              </m:r>
                            </m:sup>
                          </m:sSubSup>
                          <m:r>
                            <a:rPr lang="en-US" sz="2000" b="1" i="1">
                              <a:latin typeface="Cambria Math" panose="02040503050406030204" pitchFamily="18" charset="0"/>
                            </a:rPr>
                            <m:t>𝒀</m:t>
                          </m:r>
                        </m:e>
                        <m:sub>
                          <m:r>
                            <a:rPr lang="en-US" sz="2000" b="1" i="1">
                              <a:latin typeface="Cambria Math" panose="02040503050406030204" pitchFamily="18" charset="0"/>
                            </a:rPr>
                            <m:t>𝒕</m:t>
                          </m:r>
                          <m:r>
                            <a:rPr lang="en-US" sz="2000" b="1" i="1">
                              <a:latin typeface="Cambria Math" panose="02040503050406030204" pitchFamily="18" charset="0"/>
                            </a:rPr>
                            <m:t>−</m:t>
                          </m:r>
                          <m:r>
                            <a:rPr lang="en-US" sz="2000" b="1" i="1">
                              <a:latin typeface="Cambria Math" panose="02040503050406030204" pitchFamily="18" charset="0"/>
                            </a:rPr>
                            <m:t>𝟏</m:t>
                          </m:r>
                        </m:sub>
                      </m:sSub>
                      <m:r>
                        <a:rPr lang="en-US" sz="2000" b="1" i="1">
                          <a:latin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𝟏</m:t>
                          </m:r>
                        </m:sub>
                      </m:sSub>
                      <m:r>
                        <a:rPr lang="en-US" sz="2000" b="1" i="1">
                          <a:latin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sSubSup>
                            <m:sSubSupPr>
                              <m:ctrlPr>
                                <a:rPr lang="en-US" sz="2000" b="1" i="1">
                                  <a:latin typeface="Cambria Math" panose="02040503050406030204" pitchFamily="18" charset="0"/>
                                  <a:ea typeface="Cambria Math" panose="02040503050406030204" pitchFamily="18" charset="0"/>
                                </a:rPr>
                              </m:ctrlPr>
                            </m:sSubSupPr>
                            <m:e>
                              <m:r>
                                <a:rPr lang="en-US" sz="2000" b="1" i="1">
                                  <a:latin typeface="Cambria Math" panose="02040503050406030204" pitchFamily="18" charset="0"/>
                                  <a:ea typeface="Cambria Math" panose="02040503050406030204" pitchFamily="18" charset="0"/>
                                </a:rPr>
                                <m:t>𝒆</m:t>
                              </m:r>
                            </m:e>
                            <m:sub>
                              <m:r>
                                <a:rPr lang="en-US" sz="2000" b="1" i="1">
                                  <a:latin typeface="Cambria Math" panose="02040503050406030204" pitchFamily="18" charset="0"/>
                                  <a:ea typeface="Cambria Math" panose="02040503050406030204" pitchFamily="18" charset="0"/>
                                </a:rPr>
                                <m:t>𝒕</m:t>
                              </m:r>
                            </m:sub>
                            <m:sup>
                              <m:r>
                                <a:rPr lang="en-US" sz="2000" b="1" i="1">
                                  <a:latin typeface="Cambria Math" panose="02040503050406030204" pitchFamily="18" charset="0"/>
                                  <a:ea typeface="Cambria Math" panose="02040503050406030204" pitchFamily="18" charset="0"/>
                                </a:rPr>
                                <m:t>’</m:t>
                              </m:r>
                            </m:sup>
                          </m:sSubSup>
                        </m:e>
                        <m:sub>
                          <m:r>
                            <a:rPr lang="en-US" sz="2000" b="1" i="1">
                              <a:latin typeface="Cambria Math" panose="02040503050406030204" pitchFamily="18" charset="0"/>
                              <a:ea typeface="Cambria Math" panose="02040503050406030204" pitchFamily="18" charset="0"/>
                            </a:rPr>
                            <m:t>𝒙</m:t>
                          </m:r>
                        </m:sub>
                      </m:sSub>
                    </m:oMath>
                  </m:oMathPara>
                </a14:m>
                <a:endParaRPr lang="en-US" sz="2000" b="1" dirty="0"/>
              </a:p>
              <a:p>
                <a:pPr marL="0" indent="0" algn="ctr">
                  <a:buNone/>
                </a:pPr>
                <a:endParaRPr lang="en-US" sz="2000" b="1" dirty="0"/>
              </a:p>
              <a:p>
                <a:pPr marL="0" indent="0">
                  <a:buNone/>
                </a:pPr>
                <a:r>
                  <a:rPr lang="en-US" sz="2000" dirty="0"/>
                  <a:t>Now, add and subtract</a:t>
                </a:r>
                <a14:m>
                  <m:oMath xmlns:m="http://schemas.openxmlformats.org/officeDocument/2006/math">
                    <m:sSubSup>
                      <m:sSubSupPr>
                        <m:ctrlPr>
                          <a:rPr lang="en-US" sz="2000" b="1" i="1">
                            <a:latin typeface="Cambria Math" panose="02040503050406030204" pitchFamily="18" charset="0"/>
                          </a:rPr>
                        </m:ctrlPr>
                      </m:sSubSupPr>
                      <m:e>
                        <m:r>
                          <a:rPr lang="en-US" sz="2000" b="1" i="1" smtClean="0">
                            <a:latin typeface="Cambria Math" panose="02040503050406030204" pitchFamily="18" charset="0"/>
                          </a:rPr>
                          <m:t> </m:t>
                        </m:r>
                        <m:r>
                          <a:rPr lang="en-US" sz="2000" b="1" i="1">
                            <a:latin typeface="Cambria Math" panose="02040503050406030204" pitchFamily="18" charset="0"/>
                            <a:ea typeface="Cambria Math" panose="02040503050406030204" pitchFamily="18" charset="0"/>
                          </a:rPr>
                          <m:t>𝜷</m:t>
                        </m:r>
                      </m:e>
                      <m:sub>
                        <m:r>
                          <a:rPr lang="en-US" sz="2000" b="1" i="1">
                            <a:latin typeface="Cambria Math" panose="02040503050406030204" pitchFamily="18" charset="0"/>
                          </a:rPr>
                          <m:t>𝟏</m:t>
                        </m:r>
                      </m:sub>
                      <m:sup>
                        <m:r>
                          <a:rPr lang="en-US" sz="2000" b="1" i="1">
                            <a:latin typeface="Cambria Math" panose="02040503050406030204" pitchFamily="18" charset="0"/>
                          </a:rPr>
                          <m:t>’</m:t>
                        </m:r>
                      </m:sup>
                    </m:sSubSup>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𝟐</m:t>
                        </m:r>
                      </m:sub>
                    </m:sSub>
                  </m:oMath>
                </a14:m>
                <a:r>
                  <a:rPr lang="en-US" sz="2000" b="1" dirty="0"/>
                  <a:t>  </a:t>
                </a:r>
                <a:r>
                  <a:rPr lang="en-US" sz="2000" dirty="0"/>
                  <a:t>and </a:t>
                </a:r>
                <a14:m>
                  <m:oMath xmlns:m="http://schemas.openxmlformats.org/officeDocument/2006/math">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𝟐</m:t>
                        </m:r>
                      </m:sub>
                    </m:sSub>
                  </m:oMath>
                </a14:m>
                <a:r>
                  <a:rPr lang="en-US" sz="2000" b="1" dirty="0"/>
                  <a:t> </a:t>
                </a:r>
                <a:r>
                  <a:rPr lang="en-US" sz="2000" dirty="0"/>
                  <a:t>from the right-hand side: </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b="1" i="1">
                          <a:latin typeface="Cambria Math" panose="02040503050406030204" pitchFamily="18" charset="0"/>
                          <a:ea typeface="Cambria Math" panose="02040503050406030204" pitchFamily="18" charset="0"/>
                        </a:rPr>
                        <m:t>𝚫</m:t>
                      </m:r>
                      <m:sSub>
                        <m:sSubPr>
                          <m:ctrlPr>
                            <a:rPr lang="en-US" sz="2000" b="1" i="1">
                              <a:latin typeface="Cambria Math" panose="02040503050406030204" pitchFamily="18" charset="0"/>
                            </a:rPr>
                          </m:ctrlPr>
                        </m:sSubPr>
                        <m:e>
                          <m:r>
                            <a:rPr lang="en-US" sz="2000" b="1" i="1">
                              <a:latin typeface="Cambria Math" panose="02040503050406030204" pitchFamily="18" charset="0"/>
                            </a:rPr>
                            <m:t>𝒀</m:t>
                          </m:r>
                        </m:e>
                        <m:sub>
                          <m:r>
                            <a:rPr lang="en-US" sz="2000" b="1" i="1">
                              <a:latin typeface="Cambria Math" panose="02040503050406030204" pitchFamily="18" charset="0"/>
                            </a:rPr>
                            <m:t>𝒕</m:t>
                          </m:r>
                        </m:sub>
                      </m:sSub>
                      <m:r>
                        <a:rPr lang="en-US" sz="2000" b="1" i="1">
                          <a:latin typeface="Cambria Math" panose="02040503050406030204" pitchFamily="18" charset="0"/>
                        </a:rPr>
                        <m:t>=</m:t>
                      </m:r>
                      <m:sSub>
                        <m:sSubPr>
                          <m:ctrlPr>
                            <a:rPr lang="en-US" sz="2000" b="1" i="1">
                              <a:latin typeface="Cambria Math" panose="02040503050406030204" pitchFamily="18" charset="0"/>
                            </a:rPr>
                          </m:ctrlPr>
                        </m:sSubPr>
                        <m:e>
                          <m:sSubSup>
                            <m:sSubSupPr>
                              <m:ctrlPr>
                                <a:rPr lang="en-US" sz="2000" b="1" i="1">
                                  <a:latin typeface="Cambria Math" panose="02040503050406030204" pitchFamily="18" charset="0"/>
                                </a:rPr>
                              </m:ctrlPr>
                            </m:sSubSupPr>
                            <m:e>
                              <m:r>
                                <a:rPr lang="en-US" sz="2000" b="1" i="1">
                                  <a:latin typeface="Cambria Math" panose="02040503050406030204" pitchFamily="18" charset="0"/>
                                  <a:ea typeface="Cambria Math" panose="02040503050406030204" pitchFamily="18" charset="0"/>
                                </a:rPr>
                                <m:t>𝜷</m:t>
                              </m:r>
                            </m:e>
                            <m:sub>
                              <m:r>
                                <a:rPr lang="en-US" sz="2000" b="1" i="1">
                                  <a:latin typeface="Cambria Math" panose="02040503050406030204" pitchFamily="18" charset="0"/>
                                </a:rPr>
                                <m:t>𝟏</m:t>
                              </m:r>
                            </m:sub>
                            <m:sup>
                              <m:r>
                                <a:rPr lang="en-US" sz="2000" b="1" i="1">
                                  <a:latin typeface="Cambria Math" panose="02040503050406030204" pitchFamily="18" charset="0"/>
                                </a:rPr>
                                <m:t>’</m:t>
                              </m:r>
                            </m:sup>
                          </m:sSubSup>
                          <m:r>
                            <a:rPr lang="en-US" sz="2000" b="1" i="1">
                              <a:latin typeface="Cambria Math" panose="02040503050406030204" pitchFamily="18" charset="0"/>
                            </a:rPr>
                            <m:t>𝒀</m:t>
                          </m:r>
                        </m:e>
                        <m:sub>
                          <m:r>
                            <a:rPr lang="en-US" sz="2000" b="1" i="1">
                              <a:latin typeface="Cambria Math" panose="02040503050406030204" pitchFamily="18" charset="0"/>
                            </a:rPr>
                            <m:t>𝒕</m:t>
                          </m:r>
                          <m:r>
                            <a:rPr lang="en-US" sz="2000" b="1" i="1">
                              <a:latin typeface="Cambria Math" panose="02040503050406030204" pitchFamily="18" charset="0"/>
                            </a:rPr>
                            <m:t>−</m:t>
                          </m:r>
                          <m:r>
                            <a:rPr lang="en-US" sz="2000" b="1" i="1">
                              <a:latin typeface="Cambria Math" panose="02040503050406030204" pitchFamily="18" charset="0"/>
                            </a:rPr>
                            <m:t>𝟏</m:t>
                          </m:r>
                        </m:sub>
                      </m:sSub>
                      <m:r>
                        <a:rPr lang="en-US" sz="2000" b="1" i="1">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rPr>
                          </m:ctrlPr>
                        </m:sSubPr>
                        <m:e>
                          <m:sSubSup>
                            <m:sSubSupPr>
                              <m:ctrlPr>
                                <a:rPr lang="en-US" sz="2000" b="1" i="1">
                                  <a:latin typeface="Cambria Math" panose="02040503050406030204" pitchFamily="18" charset="0"/>
                                </a:rPr>
                              </m:ctrlPr>
                            </m:sSubSupPr>
                            <m:e>
                              <m:r>
                                <a:rPr lang="en-US" sz="2000" b="1" i="1">
                                  <a:latin typeface="Cambria Math" panose="02040503050406030204" pitchFamily="18" charset="0"/>
                                  <a:ea typeface="Cambria Math" panose="02040503050406030204" pitchFamily="18" charset="0"/>
                                </a:rPr>
                                <m:t>𝜷</m:t>
                              </m:r>
                            </m:e>
                            <m:sub>
                              <m:r>
                                <a:rPr lang="en-US" sz="2000" b="1" i="1">
                                  <a:latin typeface="Cambria Math" panose="02040503050406030204" pitchFamily="18" charset="0"/>
                                </a:rPr>
                                <m:t>𝟐</m:t>
                              </m:r>
                            </m:sub>
                            <m:sup>
                              <m:r>
                                <a:rPr lang="en-US" sz="2000" b="1" i="1">
                                  <a:latin typeface="Cambria Math" panose="02040503050406030204" pitchFamily="18" charset="0"/>
                                </a:rPr>
                                <m:t>’</m:t>
                              </m:r>
                            </m:sup>
                          </m:sSubSup>
                          <m:r>
                            <a:rPr lang="en-US" sz="2000" b="1" i="1">
                              <a:latin typeface="Cambria Math" panose="02040503050406030204" pitchFamily="18" charset="0"/>
                            </a:rPr>
                            <m:t>𝒀</m:t>
                          </m:r>
                        </m:e>
                        <m:sub>
                          <m:r>
                            <a:rPr lang="en-US" sz="2000" b="1" i="1">
                              <a:latin typeface="Cambria Math" panose="02040503050406030204" pitchFamily="18" charset="0"/>
                            </a:rPr>
                            <m:t>𝒕</m:t>
                          </m:r>
                          <m:r>
                            <a:rPr lang="en-US" sz="2000" b="1" i="1">
                              <a:latin typeface="Cambria Math" panose="02040503050406030204" pitchFamily="18" charset="0"/>
                            </a:rPr>
                            <m:t>−</m:t>
                          </m:r>
                          <m:r>
                            <a:rPr lang="en-US" sz="2000" b="1" i="1">
                              <a:latin typeface="Cambria Math" panose="02040503050406030204" pitchFamily="18" charset="0"/>
                            </a:rPr>
                            <m:t>𝟏</m:t>
                          </m:r>
                        </m:sub>
                      </m:sSub>
                      <m:r>
                        <a:rPr lang="en-US" sz="2000" b="1" i="1">
                          <a:latin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𝟏</m:t>
                          </m:r>
                        </m:sub>
                      </m:sSub>
                      <m:r>
                        <a:rPr lang="en-US" sz="2000" b="1" i="1">
                          <a:latin typeface="Cambria Math" panose="02040503050406030204" pitchFamily="18" charset="0"/>
                        </a:rPr>
                        <m:t>+</m:t>
                      </m:r>
                      <m:sSubSup>
                        <m:sSubSupPr>
                          <m:ctrlPr>
                            <a:rPr lang="en-US" sz="2000" b="1" i="1">
                              <a:latin typeface="Cambria Math" panose="02040503050406030204" pitchFamily="18" charset="0"/>
                            </a:rPr>
                          </m:ctrlPr>
                        </m:sSubSupPr>
                        <m:e>
                          <m:r>
                            <a:rPr lang="en-US" sz="2000" b="1" i="1">
                              <a:latin typeface="Cambria Math" panose="02040503050406030204" pitchFamily="18" charset="0"/>
                              <a:ea typeface="Cambria Math" panose="02040503050406030204" pitchFamily="18" charset="0"/>
                            </a:rPr>
                            <m:t>𝜷</m:t>
                          </m:r>
                        </m:e>
                        <m:sub>
                          <m:r>
                            <a:rPr lang="en-US" sz="2000" b="1" i="1">
                              <a:latin typeface="Cambria Math" panose="02040503050406030204" pitchFamily="18" charset="0"/>
                            </a:rPr>
                            <m:t>𝟏</m:t>
                          </m:r>
                        </m:sub>
                        <m:sup>
                          <m:r>
                            <a:rPr lang="en-US" sz="2000" b="1" i="1">
                              <a:latin typeface="Cambria Math" panose="02040503050406030204" pitchFamily="18" charset="0"/>
                            </a:rPr>
                            <m:t>’</m:t>
                          </m:r>
                        </m:sup>
                      </m:sSubSup>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𝟐</m:t>
                          </m:r>
                        </m:sub>
                      </m:sSub>
                      <m:r>
                        <a:rPr lang="en-US" sz="2000" b="1" i="1" smtClean="0">
                          <a:latin typeface="Cambria Math" panose="02040503050406030204" pitchFamily="18" charset="0"/>
                          <a:ea typeface="Cambria Math" panose="02040503050406030204" pitchFamily="18" charset="0"/>
                        </a:rPr>
                        <m:t>−</m:t>
                      </m:r>
                      <m:sSubSup>
                        <m:sSubSupPr>
                          <m:ctrlPr>
                            <a:rPr lang="en-US" sz="2000" b="1" i="1">
                              <a:latin typeface="Cambria Math" panose="02040503050406030204" pitchFamily="18" charset="0"/>
                            </a:rPr>
                          </m:ctrlPr>
                        </m:sSubSupPr>
                        <m:e>
                          <m:r>
                            <a:rPr lang="en-US" sz="2000" b="1" i="1">
                              <a:latin typeface="Cambria Math" panose="02040503050406030204" pitchFamily="18" charset="0"/>
                              <a:ea typeface="Cambria Math" panose="02040503050406030204" pitchFamily="18" charset="0"/>
                            </a:rPr>
                            <m:t>𝜷</m:t>
                          </m:r>
                        </m:e>
                        <m:sub>
                          <m:r>
                            <a:rPr lang="en-US" sz="2000" b="1" i="1">
                              <a:latin typeface="Cambria Math" panose="02040503050406030204" pitchFamily="18" charset="0"/>
                            </a:rPr>
                            <m:t>𝟏</m:t>
                          </m:r>
                        </m:sub>
                        <m:sup>
                          <m:r>
                            <a:rPr lang="en-US" sz="2000" b="1" i="1">
                              <a:latin typeface="Cambria Math" panose="02040503050406030204" pitchFamily="18" charset="0"/>
                            </a:rPr>
                            <m:t>’</m:t>
                          </m:r>
                        </m:sup>
                      </m:sSubSup>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𝟐</m:t>
                          </m:r>
                        </m:sub>
                      </m:sSub>
                      <m:r>
                        <a:rPr lang="en-US" sz="2000" b="1" i="1" smtClean="0">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𝟐</m:t>
                          </m:r>
                        </m:sub>
                      </m:sSub>
                      <m:r>
                        <a:rPr lang="en-US" sz="2000" b="1" i="1" smtClean="0">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𝟐</m:t>
                          </m:r>
                        </m:sub>
                      </m:sSub>
                      <m:r>
                        <a:rPr lang="en-US" sz="2000" b="1" i="1" smtClean="0">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sSubSup>
                            <m:sSubSupPr>
                              <m:ctrlPr>
                                <a:rPr lang="en-US" sz="2000" b="1" i="1">
                                  <a:latin typeface="Cambria Math" panose="02040503050406030204" pitchFamily="18" charset="0"/>
                                  <a:ea typeface="Cambria Math" panose="02040503050406030204" pitchFamily="18" charset="0"/>
                                </a:rPr>
                              </m:ctrlPr>
                            </m:sSubSupPr>
                            <m:e>
                              <m:r>
                                <a:rPr lang="en-US" sz="2000" b="1" i="1">
                                  <a:latin typeface="Cambria Math" panose="02040503050406030204" pitchFamily="18" charset="0"/>
                                  <a:ea typeface="Cambria Math" panose="02040503050406030204" pitchFamily="18" charset="0"/>
                                </a:rPr>
                                <m:t>𝒆</m:t>
                              </m:r>
                            </m:e>
                            <m:sub>
                              <m:r>
                                <a:rPr lang="en-US" sz="2000" b="1" i="1">
                                  <a:latin typeface="Cambria Math" panose="02040503050406030204" pitchFamily="18" charset="0"/>
                                  <a:ea typeface="Cambria Math" panose="02040503050406030204" pitchFamily="18" charset="0"/>
                                </a:rPr>
                                <m:t>𝒕</m:t>
                              </m:r>
                            </m:sub>
                            <m:sup>
                              <m:r>
                                <a:rPr lang="en-US" sz="2000" b="1" i="1">
                                  <a:latin typeface="Cambria Math" panose="02040503050406030204" pitchFamily="18" charset="0"/>
                                  <a:ea typeface="Cambria Math" panose="02040503050406030204" pitchFamily="18" charset="0"/>
                                </a:rPr>
                                <m:t>’</m:t>
                              </m:r>
                            </m:sup>
                          </m:sSubSup>
                        </m:e>
                        <m:sub>
                          <m:r>
                            <a:rPr lang="en-US" sz="2000" b="1" i="1">
                              <a:latin typeface="Cambria Math" panose="02040503050406030204" pitchFamily="18" charset="0"/>
                              <a:ea typeface="Cambria Math" panose="02040503050406030204" pitchFamily="18" charset="0"/>
                            </a:rPr>
                            <m:t>𝒙</m:t>
                          </m:r>
                        </m:sub>
                      </m:sSub>
                    </m:oMath>
                  </m:oMathPara>
                </a14:m>
                <a:endParaRPr lang="en-US" sz="2000" b="1" dirty="0"/>
              </a:p>
              <a:p>
                <a:pPr marL="0" indent="0">
                  <a:buNone/>
                </a:pPr>
                <a:endParaRPr lang="en-US" sz="2000" b="1" dirty="0"/>
              </a:p>
              <a:p>
                <a:pPr marL="0" indent="0">
                  <a:buNone/>
                </a:pPr>
                <a14:m>
                  <m:oMathPara xmlns:m="http://schemas.openxmlformats.org/officeDocument/2006/math">
                    <m:oMathParaPr>
                      <m:jc m:val="centerGroup"/>
                    </m:oMathParaPr>
                    <m:oMath xmlns:m="http://schemas.openxmlformats.org/officeDocument/2006/math">
                      <m:r>
                        <a:rPr lang="en-US" sz="2000" b="1" i="1">
                          <a:latin typeface="Cambria Math" panose="02040503050406030204" pitchFamily="18" charset="0"/>
                          <a:ea typeface="Cambria Math" panose="02040503050406030204" pitchFamily="18" charset="0"/>
                        </a:rPr>
                        <m:t>𝚫</m:t>
                      </m:r>
                      <m:sSub>
                        <m:sSubPr>
                          <m:ctrlPr>
                            <a:rPr lang="en-US" sz="2000" b="1" i="1">
                              <a:latin typeface="Cambria Math" panose="02040503050406030204" pitchFamily="18" charset="0"/>
                            </a:rPr>
                          </m:ctrlPr>
                        </m:sSubPr>
                        <m:e>
                          <m:r>
                            <a:rPr lang="en-US" sz="2000" b="1" i="1">
                              <a:latin typeface="Cambria Math" panose="02040503050406030204" pitchFamily="18" charset="0"/>
                            </a:rPr>
                            <m:t>𝒀</m:t>
                          </m:r>
                        </m:e>
                        <m:sub>
                          <m:r>
                            <a:rPr lang="en-US" sz="2000" b="1" i="1">
                              <a:latin typeface="Cambria Math" panose="02040503050406030204" pitchFamily="18" charset="0"/>
                            </a:rPr>
                            <m:t>𝒕</m:t>
                          </m:r>
                        </m:sub>
                      </m:sSub>
                      <m:r>
                        <a:rPr lang="en-US" sz="2000" b="1" i="1">
                          <a:latin typeface="Cambria Math" panose="02040503050406030204" pitchFamily="18" charset="0"/>
                        </a:rPr>
                        <m:t>=</m:t>
                      </m:r>
                      <m:d>
                        <m:dPr>
                          <m:ctrlPr>
                            <a:rPr lang="en-US" sz="2000" b="1" i="1" smtClean="0">
                              <a:latin typeface="Cambria Math" panose="02040503050406030204" pitchFamily="18" charset="0"/>
                            </a:rPr>
                          </m:ctrlPr>
                        </m:dPr>
                        <m:e>
                          <m:sSubSup>
                            <m:sSubSupPr>
                              <m:ctrlPr>
                                <a:rPr lang="en-US" sz="2000" b="1" i="1">
                                  <a:latin typeface="Cambria Math" panose="02040503050406030204" pitchFamily="18" charset="0"/>
                                </a:rPr>
                              </m:ctrlPr>
                            </m:sSubSupPr>
                            <m:e>
                              <m:r>
                                <a:rPr lang="en-US" sz="2000" b="1" i="1">
                                  <a:latin typeface="Cambria Math" panose="02040503050406030204" pitchFamily="18" charset="0"/>
                                  <a:ea typeface="Cambria Math" panose="02040503050406030204" pitchFamily="18" charset="0"/>
                                </a:rPr>
                                <m:t>𝜷</m:t>
                              </m:r>
                            </m:e>
                            <m:sub>
                              <m:r>
                                <a:rPr lang="en-US" sz="2000" b="1" i="1">
                                  <a:latin typeface="Cambria Math" panose="02040503050406030204" pitchFamily="18" charset="0"/>
                                </a:rPr>
                                <m:t>𝟐</m:t>
                              </m:r>
                            </m:sub>
                            <m:sup>
                              <m:r>
                                <a:rPr lang="en-US" sz="2000" b="1" i="1">
                                  <a:latin typeface="Cambria Math" panose="02040503050406030204" pitchFamily="18" charset="0"/>
                                </a:rPr>
                                <m:t>’</m:t>
                              </m:r>
                            </m:sup>
                          </m:sSubSup>
                          <m:r>
                            <a:rPr lang="en-US" sz="2000" b="1" i="1" smtClean="0">
                              <a:latin typeface="Cambria Math" panose="02040503050406030204" pitchFamily="18" charset="0"/>
                            </a:rPr>
                            <m:t>+</m:t>
                          </m:r>
                          <m:sSubSup>
                            <m:sSubSupPr>
                              <m:ctrlPr>
                                <a:rPr lang="en-US" sz="2000" b="1" i="1">
                                  <a:latin typeface="Cambria Math" panose="02040503050406030204" pitchFamily="18" charset="0"/>
                                </a:rPr>
                              </m:ctrlPr>
                            </m:sSubSupPr>
                            <m:e>
                              <m:r>
                                <a:rPr lang="en-US" sz="2000" b="1" i="1">
                                  <a:latin typeface="Cambria Math" panose="02040503050406030204" pitchFamily="18" charset="0"/>
                                  <a:ea typeface="Cambria Math" panose="02040503050406030204" pitchFamily="18" charset="0"/>
                                </a:rPr>
                                <m:t>𝜷</m:t>
                              </m:r>
                            </m:e>
                            <m:sub>
                              <m:r>
                                <a:rPr lang="en-US" sz="2000" b="1" i="1">
                                  <a:latin typeface="Cambria Math" panose="02040503050406030204" pitchFamily="18" charset="0"/>
                                </a:rPr>
                                <m:t>𝟏</m:t>
                              </m:r>
                            </m:sub>
                            <m:sup>
                              <m:r>
                                <a:rPr lang="en-US" sz="2000" b="1" i="1">
                                  <a:latin typeface="Cambria Math" panose="02040503050406030204" pitchFamily="18" charset="0"/>
                                </a:rPr>
                                <m:t>’</m:t>
                              </m:r>
                            </m:sup>
                          </m:sSubSup>
                          <m:r>
                            <a:rPr lang="en-US" sz="2000" b="1" i="1" smtClean="0">
                              <a:latin typeface="Cambria Math" panose="02040503050406030204" pitchFamily="18" charset="0"/>
                            </a:rPr>
                            <m:t>−</m:t>
                          </m:r>
                          <m:r>
                            <a:rPr lang="en-US" sz="2000" b="1" i="1" smtClean="0">
                              <a:latin typeface="Cambria Math" panose="02040503050406030204" pitchFamily="18" charset="0"/>
                            </a:rPr>
                            <m:t>𝑰</m:t>
                          </m:r>
                        </m:e>
                      </m:d>
                      <m:r>
                        <a:rPr lang="en-US" sz="2000" b="1" i="1">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𝟐</m:t>
                          </m:r>
                        </m:sub>
                      </m:sSub>
                      <m:r>
                        <a:rPr lang="en-US" sz="2000" b="1" i="1" smtClean="0">
                          <a:latin typeface="Cambria Math" panose="02040503050406030204" pitchFamily="18" charset="0"/>
                          <a:ea typeface="Cambria Math" panose="02040503050406030204" pitchFamily="18" charset="0"/>
                        </a:rPr>
                        <m:t>+</m:t>
                      </m:r>
                      <m:d>
                        <m:dPr>
                          <m:ctrlPr>
                            <a:rPr lang="en-US" sz="2000" b="1" i="1" smtClean="0">
                              <a:latin typeface="Cambria Math" panose="02040503050406030204" pitchFamily="18" charset="0"/>
                              <a:ea typeface="Cambria Math" panose="02040503050406030204" pitchFamily="18" charset="0"/>
                            </a:rPr>
                          </m:ctrlPr>
                        </m:dPr>
                        <m:e>
                          <m:sSubSup>
                            <m:sSubSupPr>
                              <m:ctrlPr>
                                <a:rPr lang="en-US" sz="2000" b="1" i="1">
                                  <a:latin typeface="Cambria Math" panose="02040503050406030204" pitchFamily="18" charset="0"/>
                                </a:rPr>
                              </m:ctrlPr>
                            </m:sSubSupPr>
                            <m:e>
                              <m:r>
                                <a:rPr lang="en-US" sz="2000" b="1" i="1">
                                  <a:latin typeface="Cambria Math" panose="02040503050406030204" pitchFamily="18" charset="0"/>
                                  <a:ea typeface="Cambria Math" panose="02040503050406030204" pitchFamily="18" charset="0"/>
                                </a:rPr>
                                <m:t>𝜷</m:t>
                              </m:r>
                            </m:e>
                            <m:sub>
                              <m:r>
                                <a:rPr lang="en-US" sz="2000" b="1" i="1">
                                  <a:latin typeface="Cambria Math" panose="02040503050406030204" pitchFamily="18" charset="0"/>
                                </a:rPr>
                                <m:t>𝟏</m:t>
                              </m:r>
                            </m:sub>
                            <m:sup>
                              <m:r>
                                <a:rPr lang="en-US" sz="2000" b="1" i="1">
                                  <a:latin typeface="Cambria Math" panose="02040503050406030204" pitchFamily="18" charset="0"/>
                                </a:rPr>
                                <m:t>’</m:t>
                              </m:r>
                            </m:sup>
                          </m:sSubSup>
                          <m:r>
                            <a:rPr lang="en-US" sz="2000" b="1" i="1" smtClean="0">
                              <a:latin typeface="Cambria Math" panose="02040503050406030204" pitchFamily="18" charset="0"/>
                            </a:rPr>
                            <m:t>−</m:t>
                          </m:r>
                          <m:r>
                            <a:rPr lang="en-US" sz="2000" b="1" i="1" smtClean="0">
                              <a:latin typeface="Cambria Math" panose="02040503050406030204" pitchFamily="18" charset="0"/>
                            </a:rPr>
                            <m:t>𝑰</m:t>
                          </m:r>
                        </m:e>
                      </m:d>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𝟏</m:t>
                          </m:r>
                        </m:sub>
                      </m:sSub>
                      <m:r>
                        <a:rPr lang="en-US" sz="2000" b="1" i="1" smtClean="0">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sSubSup>
                            <m:sSubSupPr>
                              <m:ctrlPr>
                                <a:rPr lang="en-US" sz="2000" b="1" i="1">
                                  <a:latin typeface="Cambria Math" panose="02040503050406030204" pitchFamily="18" charset="0"/>
                                  <a:ea typeface="Cambria Math" panose="02040503050406030204" pitchFamily="18" charset="0"/>
                                </a:rPr>
                              </m:ctrlPr>
                            </m:sSubSupPr>
                            <m:e>
                              <m:r>
                                <a:rPr lang="en-US" sz="2000" b="1" i="1">
                                  <a:latin typeface="Cambria Math" panose="02040503050406030204" pitchFamily="18" charset="0"/>
                                  <a:ea typeface="Cambria Math" panose="02040503050406030204" pitchFamily="18" charset="0"/>
                                </a:rPr>
                                <m:t>𝒆</m:t>
                              </m:r>
                            </m:e>
                            <m:sub>
                              <m:r>
                                <a:rPr lang="en-US" sz="2000" b="1" i="1">
                                  <a:latin typeface="Cambria Math" panose="02040503050406030204" pitchFamily="18" charset="0"/>
                                  <a:ea typeface="Cambria Math" panose="02040503050406030204" pitchFamily="18" charset="0"/>
                                </a:rPr>
                                <m:t>𝒕</m:t>
                              </m:r>
                            </m:sub>
                            <m:sup>
                              <m:r>
                                <a:rPr lang="en-US" sz="2000" b="1" i="1">
                                  <a:latin typeface="Cambria Math" panose="02040503050406030204" pitchFamily="18" charset="0"/>
                                  <a:ea typeface="Cambria Math" panose="02040503050406030204" pitchFamily="18" charset="0"/>
                                </a:rPr>
                                <m:t>’</m:t>
                              </m:r>
                            </m:sup>
                          </m:sSubSup>
                        </m:e>
                        <m:sub>
                          <m:r>
                            <a:rPr lang="en-US" sz="2000" b="1" i="1">
                              <a:latin typeface="Cambria Math" panose="02040503050406030204" pitchFamily="18" charset="0"/>
                              <a:ea typeface="Cambria Math" panose="02040503050406030204" pitchFamily="18" charset="0"/>
                            </a:rPr>
                            <m:t>𝒙</m:t>
                          </m:r>
                        </m:sub>
                      </m:sSub>
                    </m:oMath>
                  </m:oMathPara>
                </a14:m>
                <a:endParaRPr lang="en-US" sz="2000" b="1" dirty="0"/>
              </a:p>
              <a:p>
                <a:pPr marL="0" indent="0">
                  <a:buNone/>
                </a:pPr>
                <a:endParaRPr lang="en-US" sz="2000" b="1" dirty="0"/>
              </a:p>
              <a:p>
                <a:pPr marL="0" indent="0">
                  <a:buNone/>
                </a:pPr>
                <a:r>
                  <a:rPr lang="en-US" sz="2000" b="1" dirty="0"/>
                  <a:t>Then: The VECM representation of the VAR or SVAR is: </a:t>
                </a:r>
              </a:p>
              <a:p>
                <a:pPr marL="0" indent="0">
                  <a:buNone/>
                </a:pPr>
                <a:endParaRPr lang="en-US" sz="2000" b="1" dirty="0"/>
              </a:p>
              <a:p>
                <a:pPr marL="0" indent="0">
                  <a:buNone/>
                </a:pPr>
                <a14:m>
                  <m:oMathPara xmlns:m="http://schemas.openxmlformats.org/officeDocument/2006/math">
                    <m:oMathParaPr>
                      <m:jc m:val="centerGroup"/>
                    </m:oMathParaPr>
                    <m:oMath xmlns:m="http://schemas.openxmlformats.org/officeDocument/2006/math">
                      <m:r>
                        <a:rPr lang="en-US" sz="2000" b="1" i="1">
                          <a:latin typeface="Cambria Math" panose="02040503050406030204" pitchFamily="18" charset="0"/>
                          <a:ea typeface="Cambria Math" panose="02040503050406030204" pitchFamily="18" charset="0"/>
                        </a:rPr>
                        <m:t>𝚫</m:t>
                      </m:r>
                      <m:sSub>
                        <m:sSubPr>
                          <m:ctrlPr>
                            <a:rPr lang="en-US" sz="2000" b="1" i="1">
                              <a:latin typeface="Cambria Math" panose="02040503050406030204" pitchFamily="18" charset="0"/>
                            </a:rPr>
                          </m:ctrlPr>
                        </m:sSubPr>
                        <m:e>
                          <m:r>
                            <a:rPr lang="en-US" sz="2000" b="1" i="1">
                              <a:latin typeface="Cambria Math" panose="02040503050406030204" pitchFamily="18" charset="0"/>
                            </a:rPr>
                            <m:t>𝒀</m:t>
                          </m:r>
                        </m:e>
                        <m:sub>
                          <m:r>
                            <a:rPr lang="en-US" sz="2000" b="1" i="1">
                              <a:latin typeface="Cambria Math" panose="02040503050406030204" pitchFamily="18" charset="0"/>
                            </a:rPr>
                            <m:t>𝒕</m:t>
                          </m:r>
                        </m:sub>
                      </m:sSub>
                      <m:r>
                        <a:rPr lang="en-US" sz="2000" b="1" i="1">
                          <a:latin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𝚪</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𝟐</m:t>
                          </m:r>
                        </m:sub>
                      </m:sSub>
                      <m:r>
                        <a:rPr lang="en-US" sz="2000" b="1" i="1">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𝑩</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𝚫</m:t>
                          </m:r>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𝟏</m:t>
                          </m:r>
                        </m:sub>
                      </m:sSub>
                      <m:r>
                        <a:rPr lang="en-US" sz="2000" b="1" i="1">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sSubSup>
                            <m:sSubSupPr>
                              <m:ctrlPr>
                                <a:rPr lang="en-US" sz="2000" b="1" i="1">
                                  <a:latin typeface="Cambria Math" panose="02040503050406030204" pitchFamily="18" charset="0"/>
                                  <a:ea typeface="Cambria Math" panose="02040503050406030204" pitchFamily="18" charset="0"/>
                                </a:rPr>
                              </m:ctrlPr>
                            </m:sSubSupPr>
                            <m:e>
                              <m:r>
                                <a:rPr lang="en-US" sz="2000" b="1" i="1">
                                  <a:latin typeface="Cambria Math" panose="02040503050406030204" pitchFamily="18" charset="0"/>
                                  <a:ea typeface="Cambria Math" panose="02040503050406030204" pitchFamily="18" charset="0"/>
                                </a:rPr>
                                <m:t>𝒆</m:t>
                              </m:r>
                            </m:e>
                            <m:sub>
                              <m:r>
                                <a:rPr lang="en-US" sz="2000" b="1" i="1">
                                  <a:latin typeface="Cambria Math" panose="02040503050406030204" pitchFamily="18" charset="0"/>
                                  <a:ea typeface="Cambria Math" panose="02040503050406030204" pitchFamily="18" charset="0"/>
                                </a:rPr>
                                <m:t>𝒕</m:t>
                              </m:r>
                            </m:sub>
                            <m:sup>
                              <m:r>
                                <a:rPr lang="en-US" sz="2000" b="1" i="1">
                                  <a:latin typeface="Cambria Math" panose="02040503050406030204" pitchFamily="18" charset="0"/>
                                  <a:ea typeface="Cambria Math" panose="02040503050406030204" pitchFamily="18" charset="0"/>
                                </a:rPr>
                                <m:t>’</m:t>
                              </m:r>
                            </m:sup>
                          </m:sSubSup>
                        </m:e>
                        <m:sub>
                          <m:r>
                            <a:rPr lang="en-US" sz="2000" b="1" i="1">
                              <a:latin typeface="Cambria Math" panose="02040503050406030204" pitchFamily="18" charset="0"/>
                              <a:ea typeface="Cambria Math" panose="02040503050406030204" pitchFamily="18" charset="0"/>
                            </a:rPr>
                            <m:t>𝒙</m:t>
                          </m:r>
                        </m:sub>
                      </m:sSub>
                    </m:oMath>
                  </m:oMathPara>
                </a14:m>
                <a:endParaRPr lang="en-US" sz="2000" b="1" dirty="0"/>
              </a:p>
              <a:p>
                <a:pPr marL="0" indent="0">
                  <a:buNone/>
                </a:pPr>
                <a:endParaRPr lang="en-US" sz="2000" dirty="0"/>
              </a:p>
            </p:txBody>
          </p:sp>
        </mc:Choice>
        <mc:Fallback xmlns="">
          <p:sp>
            <p:nvSpPr>
              <p:cNvPr id="3" name="Content Placeholder 2">
                <a:extLst>
                  <a:ext uri="{FF2B5EF4-FFF2-40B4-BE49-F238E27FC236}">
                    <a16:creationId xmlns:a16="http://schemas.microsoft.com/office/drawing/2014/main" id="{A35E0F6C-E825-8145-ABFF-FE52C30B66E5}"/>
                  </a:ext>
                </a:extLst>
              </p:cNvPr>
              <p:cNvSpPr>
                <a:spLocks noGrp="1" noRot="1" noChangeAspect="1" noMove="1" noResize="1" noEditPoints="1" noAdjustHandles="1" noChangeArrowheads="1" noChangeShapeType="1" noTextEdit="1"/>
              </p:cNvSpPr>
              <p:nvPr>
                <p:ph idx="1"/>
              </p:nvPr>
            </p:nvSpPr>
            <p:spPr>
              <a:xfrm>
                <a:off x="838200" y="1033154"/>
                <a:ext cx="10515600" cy="5628903"/>
              </a:xfrm>
              <a:blipFill>
                <a:blip r:embed="rId2"/>
                <a:stretch>
                  <a:fillRect l="-483" t="-1348"/>
                </a:stretch>
              </a:blipFill>
            </p:spPr>
            <p:txBody>
              <a:bodyPr/>
              <a:lstStyle/>
              <a:p>
                <a:r>
                  <a:rPr lang="en-US">
                    <a:noFill/>
                  </a:rPr>
                  <a:t> </a:t>
                </a:r>
              </a:p>
            </p:txBody>
          </p:sp>
        </mc:Fallback>
      </mc:AlternateContent>
    </p:spTree>
    <p:extLst>
      <p:ext uri="{BB962C8B-B14F-4D97-AF65-F5344CB8AC3E}">
        <p14:creationId xmlns:p14="http://schemas.microsoft.com/office/powerpoint/2010/main" val="21257347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82C9E5-5E69-1942-B74A-925C4E58B1B3}"/>
                  </a:ext>
                </a:extLst>
              </p:cNvPr>
              <p:cNvSpPr>
                <a:spLocks noGrp="1"/>
              </p:cNvSpPr>
              <p:nvPr>
                <p:ph idx="1"/>
              </p:nvPr>
            </p:nvSpPr>
            <p:spPr>
              <a:xfrm>
                <a:off x="838200" y="415636"/>
                <a:ext cx="10515600" cy="5761327"/>
              </a:xfrm>
            </p:spPr>
            <p:txBody>
              <a:bodyPr>
                <a:normAutofit/>
              </a:bodyPr>
              <a:lstStyle/>
              <a:p>
                <a:r>
                  <a:rPr lang="en-US" sz="2000" dirty="0"/>
                  <a:t>The lagged term in level describes the long-run relationship between the variables. </a:t>
                </a:r>
              </a:p>
              <a:p>
                <a:r>
                  <a:rPr lang="en-US" sz="2000" dirty="0"/>
                  <a:t>For a VAR(k) we will have the follow VECM representation (the VECM will have one lag less than the VAR on the </a:t>
                </a:r>
                <a14:m>
                  <m:oMath xmlns:m="http://schemas.openxmlformats.org/officeDocument/2006/math">
                    <m:r>
                      <m:rPr>
                        <m:sty m:val="p"/>
                      </m:rPr>
                      <a:rPr lang="el-GR" sz="2000" i="1" smtClean="0">
                        <a:latin typeface="Cambria Math" panose="02040503050406030204" pitchFamily="18" charset="0"/>
                        <a:ea typeface="Cambria Math" panose="02040503050406030204" pitchFamily="18" charset="0"/>
                      </a:rPr>
                      <m:t>Δ</m:t>
                    </m:r>
                    <m:r>
                      <a:rPr lang="en-US" sz="2000" b="1" i="1" smtClean="0">
                        <a:latin typeface="Cambria Math" panose="02040503050406030204" pitchFamily="18" charset="0"/>
                        <a:ea typeface="Cambria Math" panose="02040503050406030204" pitchFamily="18" charset="0"/>
                      </a:rPr>
                      <m:t>𝒀</m:t>
                    </m:r>
                  </m:oMath>
                </a14:m>
                <a:r>
                  <a:rPr lang="en-US" sz="2000" dirty="0"/>
                  <a:t> term):</a:t>
                </a:r>
              </a:p>
              <a:p>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l-GR" sz="2000" b="1" i="1">
                              <a:latin typeface="Cambria Math" panose="02040503050406030204" pitchFamily="18" charset="0"/>
                              <a:ea typeface="Cambria Math" panose="02040503050406030204" pitchFamily="18" charset="0"/>
                            </a:rPr>
                            <m:t>𝜟</m:t>
                          </m:r>
                          <m:r>
                            <a:rPr lang="pt-BR" sz="2000" b="1" i="1">
                              <a:latin typeface="Cambria Math" panose="02040503050406030204" pitchFamily="18" charset="0"/>
                            </a:rPr>
                            <m:t>𝒀</m:t>
                          </m:r>
                        </m:e>
                        <m:sub>
                          <m:r>
                            <a:rPr lang="en-US" sz="2000" b="1" i="1">
                              <a:latin typeface="Cambria Math" panose="02040503050406030204" pitchFamily="18" charset="0"/>
                            </a:rPr>
                            <m:t>𝒕</m:t>
                          </m:r>
                        </m:sub>
                      </m:sSub>
                      <m:r>
                        <a:rPr lang="en-US" sz="2000" b="1" i="1">
                          <a:latin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𝜹</m:t>
                      </m:r>
                      <m:r>
                        <a:rPr lang="en-US" sz="2000" b="1" i="1">
                          <a:latin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𝚷</m:t>
                      </m:r>
                      <m:sSub>
                        <m:sSubPr>
                          <m:ctrlPr>
                            <a:rPr lang="en-US" sz="2000" b="1" i="1">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𝒌</m:t>
                          </m:r>
                        </m:sub>
                      </m:sSub>
                      <m:r>
                        <a:rPr lang="en-US" sz="2000" b="1" i="1">
                          <a:latin typeface="Cambria Math" panose="02040503050406030204" pitchFamily="18" charset="0"/>
                          <a:ea typeface="Cambria Math" panose="02040503050406030204" pitchFamily="18" charset="0"/>
                        </a:rPr>
                        <m:t>+</m:t>
                      </m:r>
                      <m:nary>
                        <m:naryPr>
                          <m:chr m:val="∑"/>
                          <m:ctrlPr>
                            <a:rPr lang="en-US" sz="2000" b="1" i="1">
                              <a:latin typeface="Cambria Math" panose="02040503050406030204" pitchFamily="18" charset="0"/>
                              <a:ea typeface="Cambria Math" panose="02040503050406030204" pitchFamily="18" charset="0"/>
                            </a:rPr>
                          </m:ctrlPr>
                        </m:naryPr>
                        <m:sub>
                          <m:r>
                            <m:rPr>
                              <m:brk m:alnAt="23"/>
                            </m:rPr>
                            <a:rPr lang="en-US" sz="2000" b="1" i="1">
                              <a:latin typeface="Cambria Math" panose="02040503050406030204" pitchFamily="18" charset="0"/>
                              <a:ea typeface="Cambria Math" panose="02040503050406030204" pitchFamily="18" charset="0"/>
                            </a:rPr>
                            <m:t>𝒋</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𝟏</m:t>
                          </m:r>
                        </m:sub>
                        <m:sup>
                          <m:r>
                            <a:rPr lang="en-US" sz="2000" b="1" i="1" smtClean="0">
                              <a:latin typeface="Cambria Math" panose="02040503050406030204" pitchFamily="18" charset="0"/>
                              <a:ea typeface="Cambria Math" panose="02040503050406030204" pitchFamily="18" charset="0"/>
                            </a:rPr>
                            <m:t>𝒌</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𝟏</m:t>
                          </m:r>
                        </m:sup>
                        <m:e>
                          <m:sSub>
                            <m:sSubPr>
                              <m:ctrlPr>
                                <a:rPr lang="en-US" sz="2000" b="1" i="1">
                                  <a:latin typeface="Cambria Math" panose="02040503050406030204" pitchFamily="18" charset="0"/>
                                  <a:ea typeface="Cambria Math" panose="02040503050406030204" pitchFamily="18" charset="0"/>
                                </a:rPr>
                              </m:ctrlPr>
                            </m:sSubPr>
                            <m:e>
                              <m:r>
                                <a:rPr lang="el-GR" sz="2000" b="1" i="1">
                                  <a:latin typeface="Cambria Math" panose="02040503050406030204" pitchFamily="18" charset="0"/>
                                  <a:ea typeface="Cambria Math" panose="02040503050406030204" pitchFamily="18" charset="0"/>
                                </a:rPr>
                                <m:t>𝜞</m:t>
                              </m:r>
                            </m:e>
                            <m:sub>
                              <m:r>
                                <a:rPr lang="en-US" sz="2000" b="1" i="1">
                                  <a:latin typeface="Cambria Math" panose="02040503050406030204" pitchFamily="18" charset="0"/>
                                  <a:ea typeface="Cambria Math" panose="02040503050406030204" pitchFamily="18" charset="0"/>
                                </a:rPr>
                                <m:t>𝒋</m:t>
                              </m:r>
                            </m:sub>
                          </m:sSub>
                          <m:r>
                            <a:rPr lang="el-GR" sz="2000" b="1" i="1">
                              <a:latin typeface="Cambria Math" panose="02040503050406030204" pitchFamily="18" charset="0"/>
                              <a:ea typeface="Cambria Math" panose="02040503050406030204" pitchFamily="18" charset="0"/>
                            </a:rPr>
                            <m:t>𝜟</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𝒋</m:t>
                              </m:r>
                            </m:sub>
                          </m:sSub>
                        </m:e>
                      </m:nary>
                      <m:r>
                        <a:rPr lang="en-US" sz="2000" b="1" i="1">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𝒆</m:t>
                          </m:r>
                        </m:e>
                        <m:sub>
                          <m:r>
                            <a:rPr lang="en-US" sz="2000" b="1" i="1">
                              <a:latin typeface="Cambria Math" panose="02040503050406030204" pitchFamily="18" charset="0"/>
                              <a:ea typeface="Cambria Math" panose="02040503050406030204" pitchFamily="18" charset="0"/>
                            </a:rPr>
                            <m:t>𝒕</m:t>
                          </m:r>
                        </m:sub>
                      </m:sSub>
                    </m:oMath>
                  </m:oMathPara>
                </a14:m>
                <a:endParaRPr lang="en-US" sz="2000" b="1" i="1" dirty="0">
                  <a:latin typeface="Cambria Math" panose="02040503050406030204" pitchFamily="18" charset="0"/>
                  <a:ea typeface="Cambria Math" panose="02040503050406030204" pitchFamily="18" charset="0"/>
                </a:endParaRPr>
              </a:p>
              <a:p>
                <a:pPr marL="0" indent="0">
                  <a:buNone/>
                </a:pPr>
                <a:endParaRPr lang="en-US" sz="2000"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a:rPr lang="en-US" sz="2000" i="1" smtClean="0">
                        <a:latin typeface="Cambria Math" panose="02040503050406030204" pitchFamily="18" charset="0"/>
                        <a:ea typeface="Cambria Math" panose="02040503050406030204" pitchFamily="18" charset="0"/>
                      </a:rPr>
                      <m:t>⇒</m:t>
                    </m:r>
                  </m:oMath>
                </a14:m>
                <a:r>
                  <a:rPr lang="en-US" sz="2000" dirty="0"/>
                  <a:t>the long-run relationship between the variables are contained </a:t>
                </a:r>
                <a14:m>
                  <m:oMath xmlns:m="http://schemas.openxmlformats.org/officeDocument/2006/math">
                    <m:r>
                      <a:rPr lang="en-US" sz="2000" b="1" i="1">
                        <a:latin typeface="Cambria Math" panose="02040503050406030204" pitchFamily="18" charset="0"/>
                        <a:ea typeface="Cambria Math" panose="02040503050406030204" pitchFamily="18" charset="0"/>
                      </a:rPr>
                      <m:t>𝚷</m:t>
                    </m:r>
                    <m:sSub>
                      <m:sSubPr>
                        <m:ctrlPr>
                          <a:rPr lang="en-US" sz="2000" b="1" i="1">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𝒌</m:t>
                        </m:r>
                      </m:sub>
                    </m:sSub>
                  </m:oMath>
                </a14:m>
                <a:endParaRPr lang="en-US" sz="2000" b="1" i="1" dirty="0">
                  <a:latin typeface="Cambria Math" panose="02040503050406030204" pitchFamily="18" charset="0"/>
                  <a:ea typeface="Cambria Math" panose="02040503050406030204" pitchFamily="18" charset="0"/>
                </a:endParaRPr>
              </a:p>
              <a:p>
                <a:pPr marL="0" indent="0">
                  <a:buNone/>
                </a:pPr>
                <a:endParaRPr lang="en-US" sz="2000" dirty="0">
                  <a:ea typeface="Cambria Math" panose="02040503050406030204" pitchFamily="18" charset="0"/>
                </a:endParaRPr>
              </a:p>
              <a:p>
                <a:pPr marL="0" indent="0">
                  <a:buNone/>
                </a:pPr>
                <a:endParaRPr lang="en-US" sz="2000" dirty="0">
                  <a:ea typeface="Cambria Math" panose="02040503050406030204" pitchFamily="18" charset="0"/>
                </a:endParaRPr>
              </a:p>
              <a:p>
                <a:pPr marL="0" indent="0">
                  <a:buNone/>
                </a:pPr>
                <a:r>
                  <a:rPr lang="en-US" sz="2000" dirty="0">
                    <a:ea typeface="Cambria Math" panose="02040503050406030204" pitchFamily="18" charset="0"/>
                  </a:rPr>
                  <a:t>Where: </a:t>
                </a:r>
                <a14:m>
                  <m:oMath xmlns:m="http://schemas.openxmlformats.org/officeDocument/2006/math">
                    <m:r>
                      <a:rPr lang="el-GR" sz="2000" b="1" i="1" smtClean="0">
                        <a:latin typeface="Cambria Math" panose="02040503050406030204" pitchFamily="18" charset="0"/>
                        <a:ea typeface="Cambria Math" panose="02040503050406030204" pitchFamily="18" charset="0"/>
                      </a:rPr>
                      <m:t>𝜫</m:t>
                    </m:r>
                    <m:r>
                      <a:rPr lang="en-US" sz="2000" b="1">
                        <a:latin typeface="Cambria Math" panose="02040503050406030204" pitchFamily="18" charset="0"/>
                        <a:ea typeface="Cambria Math" panose="02040503050406030204" pitchFamily="18" charset="0"/>
                      </a:rPr>
                      <m:t>=</m:t>
                    </m:r>
                    <m:r>
                      <a:rPr lang="el-GR" sz="2000" b="1" i="1">
                        <a:latin typeface="Cambria Math" panose="02040503050406030204" pitchFamily="18" charset="0"/>
                        <a:ea typeface="Cambria Math" panose="02040503050406030204" pitchFamily="18" charset="0"/>
                      </a:rPr>
                      <m:t>𝜶</m:t>
                    </m:r>
                    <m:sSup>
                      <m:sSupPr>
                        <m:ctrlPr>
                          <a:rPr lang="el-GR" sz="2000" b="1" i="1">
                            <a:latin typeface="Cambria Math" panose="02040503050406030204" pitchFamily="18" charset="0"/>
                            <a:ea typeface="Cambria Math" panose="02040503050406030204" pitchFamily="18" charset="0"/>
                          </a:rPr>
                        </m:ctrlPr>
                      </m:sSupPr>
                      <m:e>
                        <m:r>
                          <a:rPr lang="el-GR" sz="2000" b="1" i="1">
                            <a:latin typeface="Cambria Math" panose="02040503050406030204" pitchFamily="18" charset="0"/>
                            <a:ea typeface="Cambria Math" panose="02040503050406030204" pitchFamily="18" charset="0"/>
                          </a:rPr>
                          <m:t>𝜷</m:t>
                        </m:r>
                      </m:e>
                      <m:sup>
                        <m:r>
                          <a:rPr lang="el-GR" sz="2000" b="1" i="1">
                            <a:latin typeface="Cambria Math" panose="02040503050406030204" pitchFamily="18" charset="0"/>
                            <a:ea typeface="Cambria Math" panose="02040503050406030204" pitchFamily="18" charset="0"/>
                          </a:rPr>
                          <m:t>’</m:t>
                        </m:r>
                      </m:sup>
                    </m:sSup>
                  </m:oMath>
                </a14:m>
                <a:r>
                  <a:rPr lang="en-US" sz="2000" dirty="0"/>
                  <a:t>: it is not identified. We estimate </a:t>
                </a:r>
                <a14:m>
                  <m:oMath xmlns:m="http://schemas.openxmlformats.org/officeDocument/2006/math">
                    <m:r>
                      <a:rPr lang="el-GR" sz="2000" b="1" i="1">
                        <a:latin typeface="Cambria Math" panose="02040503050406030204" pitchFamily="18" charset="0"/>
                        <a:ea typeface="Cambria Math" panose="02040503050406030204" pitchFamily="18" charset="0"/>
                      </a:rPr>
                      <m:t>𝜫</m:t>
                    </m:r>
                  </m:oMath>
                </a14:m>
                <a:r>
                  <a:rPr lang="en-US" sz="2000" dirty="0"/>
                  <a:t> , however we are not able to separate its components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oMath>
                </a14:m>
                <a:r>
                  <a:rPr lang="en-US" sz="2000" dirty="0"/>
                  <a:t> We will need Johansen’s Normalization (it is done on STATA): we write the cointegrating vectors with one in front of all of our Y variables. By doing that, </a:t>
                </a:r>
                <a14:m>
                  <m:oMath xmlns:m="http://schemas.openxmlformats.org/officeDocument/2006/math">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ea typeface="Cambria Math" panose="02040503050406030204" pitchFamily="18" charset="0"/>
                          </a:rPr>
                          <m:t>𝜶</m:t>
                        </m:r>
                      </m:e>
                    </m:acc>
                  </m:oMath>
                </a14:m>
                <a:r>
                  <a:rPr lang="en-US" sz="2000" b="1" dirty="0"/>
                  <a:t> </a:t>
                </a:r>
                <a:r>
                  <a:rPr lang="en-US" sz="2000" dirty="0"/>
                  <a:t>is identified.</a:t>
                </a:r>
              </a:p>
            </p:txBody>
          </p:sp>
        </mc:Choice>
        <mc:Fallback xmlns="">
          <p:sp>
            <p:nvSpPr>
              <p:cNvPr id="3" name="Content Placeholder 2">
                <a:extLst>
                  <a:ext uri="{FF2B5EF4-FFF2-40B4-BE49-F238E27FC236}">
                    <a16:creationId xmlns:a16="http://schemas.microsoft.com/office/drawing/2014/main" id="{8C82C9E5-5E69-1942-B74A-925C4E58B1B3}"/>
                  </a:ext>
                </a:extLst>
              </p:cNvPr>
              <p:cNvSpPr>
                <a:spLocks noGrp="1" noRot="1" noChangeAspect="1" noMove="1" noResize="1" noEditPoints="1" noAdjustHandles="1" noChangeArrowheads="1" noChangeShapeType="1" noTextEdit="1"/>
              </p:cNvSpPr>
              <p:nvPr>
                <p:ph idx="1"/>
              </p:nvPr>
            </p:nvSpPr>
            <p:spPr>
              <a:xfrm>
                <a:off x="838200" y="415636"/>
                <a:ext cx="10515600" cy="5761327"/>
              </a:xfrm>
              <a:blipFill>
                <a:blip r:embed="rId2"/>
                <a:stretch>
                  <a:fillRect l="-603" t="-1322"/>
                </a:stretch>
              </a:blipFill>
            </p:spPr>
            <p:txBody>
              <a:bodyPr/>
              <a:lstStyle/>
              <a:p>
                <a:r>
                  <a:rPr lang="en-US">
                    <a:noFill/>
                  </a:rPr>
                  <a:t> </a:t>
                </a:r>
              </a:p>
            </p:txBody>
          </p:sp>
        </mc:Fallback>
      </mc:AlternateContent>
    </p:spTree>
    <p:extLst>
      <p:ext uri="{BB962C8B-B14F-4D97-AF65-F5344CB8AC3E}">
        <p14:creationId xmlns:p14="http://schemas.microsoft.com/office/powerpoint/2010/main" val="2622872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6A6D3CC-F915-3141-AB1D-420F74B2B43F}"/>
                  </a:ext>
                </a:extLst>
              </p:cNvPr>
              <p:cNvSpPr>
                <a:spLocks noGrp="1"/>
              </p:cNvSpPr>
              <p:nvPr>
                <p:ph type="title"/>
              </p:nvPr>
            </p:nvSpPr>
            <p:spPr>
              <a:xfrm>
                <a:off x="838200" y="365125"/>
                <a:ext cx="10515600" cy="691779"/>
              </a:xfrm>
            </p:spPr>
            <p:txBody>
              <a:bodyPr>
                <a:normAutofit/>
              </a:bodyPr>
              <a:lstStyle/>
              <a:p>
                <a:pPr algn="ctr"/>
                <a:r>
                  <a:rPr lang="en-US" sz="3200" dirty="0"/>
                  <a:t>Johansen’s Trace Test and the Rank of </a:t>
                </a:r>
                <a14:m>
                  <m:oMath xmlns:m="http://schemas.openxmlformats.org/officeDocument/2006/math">
                    <m:r>
                      <m:rPr>
                        <m:sty m:val="p"/>
                      </m:rPr>
                      <a:rPr lang="el-GR" sz="3200" i="1">
                        <a:latin typeface="Cambria Math" panose="02040503050406030204" pitchFamily="18" charset="0"/>
                        <a:ea typeface="Cambria Math" panose="02040503050406030204" pitchFamily="18" charset="0"/>
                      </a:rPr>
                      <m:t>Π</m:t>
                    </m:r>
                  </m:oMath>
                </a14:m>
                <a:endParaRPr lang="en-US" sz="3200" dirty="0"/>
              </a:p>
            </p:txBody>
          </p:sp>
        </mc:Choice>
        <mc:Fallback xmlns="">
          <p:sp>
            <p:nvSpPr>
              <p:cNvPr id="2" name="Title 1">
                <a:extLst>
                  <a:ext uri="{FF2B5EF4-FFF2-40B4-BE49-F238E27FC236}">
                    <a16:creationId xmlns:a16="http://schemas.microsoft.com/office/drawing/2014/main" id="{E6A6D3CC-F915-3141-AB1D-420F74B2B43F}"/>
                  </a:ext>
                </a:extLst>
              </p:cNvPr>
              <p:cNvSpPr>
                <a:spLocks noGrp="1" noRot="1" noChangeAspect="1" noMove="1" noResize="1" noEditPoints="1" noAdjustHandles="1" noChangeArrowheads="1" noChangeShapeType="1" noTextEdit="1"/>
              </p:cNvSpPr>
              <p:nvPr>
                <p:ph type="title"/>
              </p:nvPr>
            </p:nvSpPr>
            <p:spPr>
              <a:xfrm>
                <a:off x="838200" y="365125"/>
                <a:ext cx="10515600" cy="691779"/>
              </a:xfrm>
              <a:blipFill>
                <a:blip r:embed="rId2"/>
                <a:stretch>
                  <a:fillRect t="-7273" b="-163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791F6C-152B-024D-8E8F-C0D369B168B5}"/>
                  </a:ext>
                </a:extLst>
              </p:cNvPr>
              <p:cNvSpPr>
                <a:spLocks noGrp="1"/>
              </p:cNvSpPr>
              <p:nvPr>
                <p:ph idx="1"/>
              </p:nvPr>
            </p:nvSpPr>
            <p:spPr>
              <a:xfrm>
                <a:off x="838200" y="1056904"/>
                <a:ext cx="10515600" cy="5120059"/>
              </a:xfrm>
            </p:spPr>
            <p:txBody>
              <a:bodyPr>
                <a:normAutofit lnSpcReduction="10000"/>
              </a:bodyPr>
              <a:lstStyle/>
              <a:p>
                <a:r>
                  <a:rPr lang="en-US" sz="2000" dirty="0"/>
                  <a:t>If the variables are cointegrated, then </a:t>
                </a:r>
                <a14:m>
                  <m:oMath xmlns:m="http://schemas.openxmlformats.org/officeDocument/2006/math">
                    <m:r>
                      <m:rPr>
                        <m:sty m:val="p"/>
                      </m:rPr>
                      <a:rPr lang="el-GR" sz="2000" i="1">
                        <a:latin typeface="Cambria Math" panose="02040503050406030204" pitchFamily="18" charset="0"/>
                        <a:ea typeface="Cambria Math" panose="02040503050406030204" pitchFamily="18" charset="0"/>
                      </a:rPr>
                      <m:t>Π</m:t>
                    </m:r>
                  </m:oMath>
                </a14:m>
                <a:r>
                  <a:rPr lang="en-US" sz="2000" dirty="0"/>
                  <a:t> has a reduced rank (trace test and max-eigenvalues test to check the rank of the matrix and determine the number of linearly independent cointegrating equations). </a:t>
                </a:r>
              </a:p>
              <a:p>
                <a:r>
                  <a:rPr lang="en-US" sz="2000" dirty="0"/>
                  <a:t>If there are n variables in the system, then we can have from zero to n – 1 linearly independent cointegrating equations. </a:t>
                </a:r>
              </a:p>
              <a:p>
                <a:r>
                  <a:rPr lang="en-US" sz="2000" dirty="0"/>
                  <a:t>The name of the test comes from the fact that the test statistics involved are the trace (the sum of the diagonal elements that is also the sum of the eigenvalues; the determinant of the matrix is the product of the eigenvalues) of a diagonal matrix of generalized eigenvalues. Rank(</a:t>
                </a:r>
                <a14:m>
                  <m:oMath xmlns:m="http://schemas.openxmlformats.org/officeDocument/2006/math">
                    <m:r>
                      <m:rPr>
                        <m:sty m:val="p"/>
                      </m:rPr>
                      <a:rPr lang="el-GR" sz="2000" i="1" smtClean="0">
                        <a:latin typeface="Cambria Math" panose="02040503050406030204" pitchFamily="18" charset="0"/>
                        <a:ea typeface="Cambria Math" panose="02040503050406030204" pitchFamily="18" charset="0"/>
                      </a:rPr>
                      <m:t>Π</m:t>
                    </m:r>
                    <m:r>
                      <a:rPr lang="en-US" sz="2000" b="0" i="1" smtClean="0">
                        <a:latin typeface="Cambria Math" panose="02040503050406030204" pitchFamily="18" charset="0"/>
                        <a:ea typeface="Cambria Math" panose="02040503050406030204" pitchFamily="18" charset="0"/>
                      </a:rPr>
                      <m:t>)</m:t>
                    </m:r>
                    <m:r>
                      <a:rPr lang="en-US" sz="2000" b="0" i="0" smtClean="0">
                        <a:latin typeface="Cambria Math" panose="02040503050406030204" pitchFamily="18" charset="0"/>
                        <a:ea typeface="Cambria Math" panose="02040503050406030204" pitchFamily="18" charset="0"/>
                      </a:rPr>
                      <m:t>=</m:t>
                    </m:r>
                  </m:oMath>
                </a14:m>
                <a:r>
                  <a:rPr lang="en-US" sz="2000" dirty="0"/>
                  <a:t> number of non-zero eigenvalues (characteristic roots) of </a:t>
                </a:r>
                <a14:m>
                  <m:oMath xmlns:m="http://schemas.openxmlformats.org/officeDocument/2006/math">
                    <m:r>
                      <m:rPr>
                        <m:sty m:val="p"/>
                      </m:rPr>
                      <a:rPr lang="el-GR" sz="2000" i="1">
                        <a:latin typeface="Cambria Math" panose="02040503050406030204" pitchFamily="18" charset="0"/>
                        <a:ea typeface="Cambria Math" panose="02040503050406030204" pitchFamily="18" charset="0"/>
                      </a:rPr>
                      <m:t>Π</m:t>
                    </m:r>
                  </m:oMath>
                </a14:m>
                <a:r>
                  <a:rPr lang="en-US" sz="2000" dirty="0"/>
                  <a:t> (or maximum number of linearly independent vectors of the matrix </a:t>
                </a:r>
                <a14:m>
                  <m:oMath xmlns:m="http://schemas.openxmlformats.org/officeDocument/2006/math">
                    <m:r>
                      <m:rPr>
                        <m:sty m:val="p"/>
                      </m:rPr>
                      <a:rPr lang="el-GR" sz="2000" i="1">
                        <a:latin typeface="Cambria Math" panose="02040503050406030204" pitchFamily="18" charset="0"/>
                        <a:ea typeface="Cambria Math" panose="02040503050406030204" pitchFamily="18" charset="0"/>
                      </a:rPr>
                      <m:t>Π</m:t>
                    </m:r>
                  </m:oMath>
                </a14:m>
                <a:r>
                  <a:rPr lang="en-US" sz="2000" dirty="0"/>
                  <a:t>).</a:t>
                </a:r>
              </a:p>
              <a:p>
                <a:pPr marL="0" indent="0">
                  <a:buNone/>
                </a:pPr>
                <a:endParaRPr lang="en-US" sz="2000" dirty="0"/>
              </a:p>
              <a:p>
                <a:pPr marL="0" indent="0">
                  <a:buNone/>
                </a:pPr>
                <a:r>
                  <a:rPr lang="en-US" sz="2000" dirty="0"/>
                  <a:t>This test is a sequential test:</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   </m:t>
                      </m:r>
                      <m:r>
                        <a:rPr lang="en-US" sz="2000" b="0" i="1" smtClean="0">
                          <a:latin typeface="Cambria Math" panose="02040503050406030204" pitchFamily="18" charset="0"/>
                        </a:rPr>
                        <m:t>𝐶𝐼</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𝑘</m:t>
                      </m:r>
                    </m:oMath>
                  </m:oMathPara>
                </a14:m>
                <a:endParaRPr lang="en-US" sz="2000" b="0" dirty="0">
                  <a:ea typeface="Cambria Math" panose="02040503050406030204" pitchFamily="18" charset="0"/>
                </a:endParaRPr>
              </a:p>
              <a:p>
                <a:pPr marL="0" indent="0">
                  <a:buNone/>
                </a:pPr>
                <a:endParaRPr lang="en-US" sz="1600"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b="0" i="1" smtClean="0">
                              <a:latin typeface="Cambria Math" panose="02040503050406030204" pitchFamily="18" charset="0"/>
                            </a:rPr>
                            <m:t>1</m:t>
                          </m:r>
                        </m:sub>
                      </m:sSub>
                      <m:r>
                        <a:rPr lang="en-US" sz="2000" i="1">
                          <a:latin typeface="Cambria Math" panose="02040503050406030204" pitchFamily="18" charset="0"/>
                        </a:rPr>
                        <m:t>:   </m:t>
                      </m:r>
                      <m:r>
                        <a:rPr lang="en-US" sz="2000" i="1">
                          <a:latin typeface="Cambria Math" panose="02040503050406030204" pitchFamily="18" charset="0"/>
                        </a:rPr>
                        <m:t>𝐶𝐼</m:t>
                      </m:r>
                      <m:r>
                        <a:rPr lang="en-US" sz="2000" b="0" i="1" smtClean="0">
                          <a:latin typeface="Cambria Math" panose="02040503050406030204" pitchFamily="18" charset="0"/>
                        </a:rPr>
                        <m:t>&gt;</m:t>
                      </m:r>
                      <m:r>
                        <a:rPr lang="en-US" sz="2000" b="0" i="1" smtClean="0">
                          <a:latin typeface="Cambria Math" panose="02040503050406030204" pitchFamily="18" charset="0"/>
                        </a:rPr>
                        <m:t>𝑘</m:t>
                      </m:r>
                    </m:oMath>
                  </m:oMathPara>
                </a14:m>
                <a:endParaRPr lang="en-US" sz="2000" dirty="0"/>
              </a:p>
              <a:p>
                <a:pPr marL="0" indent="0">
                  <a:buNone/>
                </a:pPr>
                <a:endParaRPr lang="en-US" sz="2000" dirty="0"/>
              </a:p>
              <a:p>
                <a:pPr marL="0" indent="0">
                  <a:buNone/>
                </a:pPr>
                <a:endParaRPr lang="en-US" sz="2000" dirty="0"/>
              </a:p>
              <a:p>
                <a:pPr marL="0" indent="0">
                  <a:buNone/>
                </a:pPr>
                <a:endParaRPr lang="en-US" sz="2000" dirty="0"/>
              </a:p>
            </p:txBody>
          </p:sp>
        </mc:Choice>
        <mc:Fallback xmlns="">
          <p:sp>
            <p:nvSpPr>
              <p:cNvPr id="3" name="Content Placeholder 2">
                <a:extLst>
                  <a:ext uri="{FF2B5EF4-FFF2-40B4-BE49-F238E27FC236}">
                    <a16:creationId xmlns:a16="http://schemas.microsoft.com/office/drawing/2014/main" id="{28791F6C-152B-024D-8E8F-C0D369B168B5}"/>
                  </a:ext>
                </a:extLst>
              </p:cNvPr>
              <p:cNvSpPr>
                <a:spLocks noGrp="1" noRot="1" noChangeAspect="1" noMove="1" noResize="1" noEditPoints="1" noAdjustHandles="1" noChangeArrowheads="1" noChangeShapeType="1" noTextEdit="1"/>
              </p:cNvSpPr>
              <p:nvPr>
                <p:ph idx="1"/>
              </p:nvPr>
            </p:nvSpPr>
            <p:spPr>
              <a:xfrm>
                <a:off x="838200" y="1056904"/>
                <a:ext cx="10515600" cy="5120059"/>
              </a:xfrm>
              <a:blipFill>
                <a:blip r:embed="rId3"/>
                <a:stretch>
                  <a:fillRect l="-603" t="-1733" r="-121"/>
                </a:stretch>
              </a:blipFill>
            </p:spPr>
            <p:txBody>
              <a:bodyPr/>
              <a:lstStyle/>
              <a:p>
                <a:r>
                  <a:rPr lang="en-US">
                    <a:noFill/>
                  </a:rPr>
                  <a:t> </a:t>
                </a:r>
              </a:p>
            </p:txBody>
          </p:sp>
        </mc:Fallback>
      </mc:AlternateContent>
    </p:spTree>
    <p:extLst>
      <p:ext uri="{BB962C8B-B14F-4D97-AF65-F5344CB8AC3E}">
        <p14:creationId xmlns:p14="http://schemas.microsoft.com/office/powerpoint/2010/main" val="31794278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7BC067A-DACB-844C-B765-E24C5F0ACF73}"/>
                  </a:ext>
                </a:extLst>
              </p:cNvPr>
              <p:cNvSpPr>
                <a:spLocks noGrp="1"/>
              </p:cNvSpPr>
              <p:nvPr>
                <p:ph idx="1"/>
              </p:nvPr>
            </p:nvSpPr>
            <p:spPr>
              <a:xfrm>
                <a:off x="838200" y="415636"/>
                <a:ext cx="10515600" cy="6127668"/>
              </a:xfrm>
            </p:spPr>
            <p:txBody>
              <a:bodyPr>
                <a:normAutofit/>
              </a:bodyPr>
              <a:lstStyle/>
              <a:p>
                <a:r>
                  <a:rPr lang="en-US" sz="2000" dirty="0"/>
                  <a:t>What is the rank of matrix </a:t>
                </a:r>
                <a14:m>
                  <m:oMath xmlns:m="http://schemas.openxmlformats.org/officeDocument/2006/math">
                    <m:r>
                      <m:rPr>
                        <m:sty m:val="p"/>
                      </m:rPr>
                      <a:rPr lang="el-GR" sz="2000" i="1">
                        <a:latin typeface="Cambria Math" panose="02040503050406030204" pitchFamily="18" charset="0"/>
                        <a:ea typeface="Cambria Math" panose="02040503050406030204" pitchFamily="18" charset="0"/>
                      </a:rPr>
                      <m:t>Π</m:t>
                    </m:r>
                  </m:oMath>
                </a14:m>
                <a:r>
                  <a:rPr lang="en-US" sz="2000" dirty="0"/>
                  <a:t>?</a:t>
                </a:r>
              </a:p>
              <a:p>
                <a:pPr marL="0" indent="0">
                  <a:buNone/>
                </a:pPr>
                <a:endParaRPr lang="en-US" sz="2000" dirty="0"/>
              </a:p>
              <a:p>
                <a:r>
                  <a:rPr lang="en-US" sz="2000" dirty="0"/>
                  <a:t>Possible outcomes: </a:t>
                </a:r>
              </a:p>
              <a:p>
                <a:pPr marL="0" indent="0">
                  <a:buNone/>
                </a:pPr>
                <a:endParaRPr lang="en-US" sz="2000" dirty="0"/>
              </a:p>
              <a:p>
                <a:pPr lvl="1"/>
                <a:r>
                  <a:rPr lang="en-US" sz="2000" dirty="0"/>
                  <a:t>Rank k = n (full rank)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oMath>
                </a14:m>
                <a:r>
                  <a:rPr lang="en-US" sz="2000" dirty="0"/>
                  <a:t> all variables are trend-stationary, the model correspond to a standard Var system in level:</a:t>
                </a:r>
              </a:p>
              <a:p>
                <a:pPr lvl="1"/>
                <a:endParaRPr lang="en-US" sz="2000" dirty="0"/>
              </a:p>
              <a:p>
                <a:pPr marL="457200" lvl="1" indent="0">
                  <a:buNone/>
                </a:pPr>
                <a14:m>
                  <m:oMathPara xmlns:m="http://schemas.openxmlformats.org/officeDocument/2006/math">
                    <m:oMathParaPr>
                      <m:jc m:val="centerGroup"/>
                    </m:oMathParaPr>
                    <m:oMath xmlns:m="http://schemas.openxmlformats.org/officeDocument/2006/math">
                      <m:sSub>
                        <m:sSubPr>
                          <m:ctrlPr>
                            <a:rPr lang="en-US" sz="2000" b="1" i="1">
                              <a:latin typeface="Cambria Math" panose="02040503050406030204" pitchFamily="18" charset="0"/>
                            </a:rPr>
                          </m:ctrlPr>
                        </m:sSubPr>
                        <m:e>
                          <m:r>
                            <a:rPr lang="pt-BR" sz="2000" b="1" i="1">
                              <a:latin typeface="Cambria Math" panose="02040503050406030204" pitchFamily="18" charset="0"/>
                            </a:rPr>
                            <m:t>𝒀</m:t>
                          </m:r>
                        </m:e>
                        <m:sub>
                          <m:r>
                            <a:rPr lang="en-US" sz="2000" b="1" i="1">
                              <a:latin typeface="Cambria Math" panose="02040503050406030204" pitchFamily="18" charset="0"/>
                            </a:rPr>
                            <m:t>𝒕</m:t>
                          </m:r>
                        </m:sub>
                      </m:sSub>
                      <m:r>
                        <a:rPr lang="en-US" sz="2000" b="1" i="1">
                          <a:latin typeface="Cambria Math" panose="02040503050406030204" pitchFamily="18" charset="0"/>
                        </a:rPr>
                        <m:t>=</m:t>
                      </m:r>
                      <m:r>
                        <a:rPr lang="en-US" sz="2000" b="1" i="1">
                          <a:latin typeface="Cambria Math" panose="02040503050406030204" pitchFamily="18" charset="0"/>
                          <a:ea typeface="Cambria Math" panose="02040503050406030204" pitchFamily="18" charset="0"/>
                        </a:rPr>
                        <m:t>𝜹</m:t>
                      </m:r>
                      <m:r>
                        <a:rPr lang="en-US" sz="2000" b="1" i="1">
                          <a:latin typeface="Cambria Math" panose="02040503050406030204" pitchFamily="18" charset="0"/>
                          <a:ea typeface="Cambria Math" panose="02040503050406030204" pitchFamily="18" charset="0"/>
                        </a:rPr>
                        <m:t>+</m:t>
                      </m:r>
                      <m:nary>
                        <m:naryPr>
                          <m:chr m:val="∑"/>
                          <m:ctrlPr>
                            <a:rPr lang="en-US" sz="2000" b="1" i="1">
                              <a:latin typeface="Cambria Math" panose="02040503050406030204" pitchFamily="18" charset="0"/>
                              <a:ea typeface="Cambria Math" panose="02040503050406030204" pitchFamily="18" charset="0"/>
                            </a:rPr>
                          </m:ctrlPr>
                        </m:naryPr>
                        <m:sub>
                          <m:r>
                            <m:rPr>
                              <m:brk m:alnAt="23"/>
                            </m:rPr>
                            <a:rPr lang="en-US" sz="2000" b="1" i="1">
                              <a:latin typeface="Cambria Math" panose="02040503050406030204" pitchFamily="18" charset="0"/>
                              <a:ea typeface="Cambria Math" panose="02040503050406030204" pitchFamily="18" charset="0"/>
                            </a:rPr>
                            <m:t>𝒋</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𝟏</m:t>
                          </m:r>
                        </m:sub>
                        <m:sup>
                          <m:r>
                            <a:rPr lang="en-US" sz="2000" b="1" i="1">
                              <a:latin typeface="Cambria Math" panose="02040503050406030204" pitchFamily="18" charset="0"/>
                              <a:ea typeface="Cambria Math" panose="02040503050406030204" pitchFamily="18" charset="0"/>
                            </a:rPr>
                            <m:t>𝒌</m:t>
                          </m:r>
                        </m:sup>
                        <m:e>
                          <m:sSub>
                            <m:sSubPr>
                              <m:ctrlPr>
                                <a:rPr lang="en-US" sz="2000" b="1" i="1">
                                  <a:latin typeface="Cambria Math" panose="02040503050406030204" pitchFamily="18" charset="0"/>
                                  <a:ea typeface="Cambria Math" panose="02040503050406030204" pitchFamily="18" charset="0"/>
                                </a:rPr>
                              </m:ctrlPr>
                            </m:sSubPr>
                            <m:e>
                              <m:r>
                                <a:rPr lang="el-GR" sz="2000" b="1" i="1">
                                  <a:latin typeface="Cambria Math" panose="02040503050406030204" pitchFamily="18" charset="0"/>
                                  <a:ea typeface="Cambria Math" panose="02040503050406030204" pitchFamily="18" charset="0"/>
                                </a:rPr>
                                <m:t>𝜞</m:t>
                              </m:r>
                            </m:e>
                            <m:sub>
                              <m:r>
                                <a:rPr lang="en-US" sz="2000" b="1" i="1">
                                  <a:latin typeface="Cambria Math" panose="02040503050406030204" pitchFamily="18" charset="0"/>
                                  <a:ea typeface="Cambria Math" panose="02040503050406030204" pitchFamily="18" charset="0"/>
                                </a:rPr>
                                <m:t>𝒋</m:t>
                              </m:r>
                            </m:sub>
                          </m:sSub>
                          <m:r>
                            <a:rPr lang="el-GR" sz="2000" b="1" i="1">
                              <a:latin typeface="Cambria Math" panose="02040503050406030204" pitchFamily="18" charset="0"/>
                              <a:ea typeface="Cambria Math" panose="02040503050406030204" pitchFamily="18" charset="0"/>
                            </a:rPr>
                            <m:t>𝜟</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𝒋</m:t>
                              </m:r>
                            </m:sub>
                          </m:sSub>
                        </m:e>
                      </m:nary>
                      <m:r>
                        <a:rPr lang="en-US" sz="2000" b="1" i="1">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𝒆</m:t>
                          </m:r>
                        </m:e>
                        <m:sub>
                          <m:r>
                            <a:rPr lang="en-US" sz="2000" b="1" i="1">
                              <a:latin typeface="Cambria Math" panose="02040503050406030204" pitchFamily="18" charset="0"/>
                              <a:ea typeface="Cambria Math" panose="02040503050406030204" pitchFamily="18" charset="0"/>
                            </a:rPr>
                            <m:t>𝒕</m:t>
                          </m:r>
                        </m:sub>
                      </m:sSub>
                    </m:oMath>
                  </m:oMathPara>
                </a14:m>
                <a:endParaRPr lang="en-US" sz="2000" dirty="0"/>
              </a:p>
              <a:p>
                <a:pPr lvl="1"/>
                <a:endParaRPr lang="en-US" sz="2000" dirty="0"/>
              </a:p>
              <a:p>
                <a:pPr lvl="1"/>
                <a:endParaRPr lang="en-US" sz="2000" dirty="0"/>
              </a:p>
              <a:p>
                <a:pPr lvl="1"/>
                <a:r>
                  <a:rPr lang="en-US" sz="2000" dirty="0"/>
                  <a:t>Rank k = 0    </a:t>
                </a:r>
                <a14:m>
                  <m:oMath xmlns:m="http://schemas.openxmlformats.org/officeDocument/2006/math">
                    <m:r>
                      <a:rPr lang="en-US" sz="2000" i="1">
                        <a:latin typeface="Cambria Math" panose="02040503050406030204" pitchFamily="18" charset="0"/>
                        <a:ea typeface="Cambria Math" panose="02040503050406030204" pitchFamily="18" charset="0"/>
                      </a:rPr>
                      <m:t>⇒</m:t>
                    </m:r>
                  </m:oMath>
                </a14:m>
                <a:r>
                  <a:rPr lang="en-US" sz="2000" dirty="0"/>
                  <a:t> No linear combination of Y that are I(0). No cointegration relations. All variable are integrated and the model corresponds to a standard VAR system in first difference:</a:t>
                </a:r>
              </a:p>
              <a:p>
                <a:pPr marL="457200" lvl="1" indent="0">
                  <a:buNone/>
                </a:pPr>
                <a14:m>
                  <m:oMathPara xmlns:m="http://schemas.openxmlformats.org/officeDocument/2006/math">
                    <m:oMathParaPr>
                      <m:jc m:val="centerGroup"/>
                    </m:oMathParaPr>
                    <m:oMath xmlns:m="http://schemas.openxmlformats.org/officeDocument/2006/math">
                      <m:r>
                        <m:rPr>
                          <m:sty m:val="p"/>
                        </m:rPr>
                        <a:rPr lang="el-GR" sz="2000" b="1" i="1" smtClean="0">
                          <a:latin typeface="Cambria Math" panose="02040503050406030204" pitchFamily="18" charset="0"/>
                          <a:ea typeface="Cambria Math" panose="02040503050406030204" pitchFamily="18" charset="0"/>
                        </a:rPr>
                        <m:t>Δ</m:t>
                      </m:r>
                      <m:sSub>
                        <m:sSubPr>
                          <m:ctrlPr>
                            <a:rPr lang="en-US" sz="2000" b="1" i="1">
                              <a:latin typeface="Cambria Math" panose="02040503050406030204" pitchFamily="18" charset="0"/>
                            </a:rPr>
                          </m:ctrlPr>
                        </m:sSubPr>
                        <m:e>
                          <m:r>
                            <a:rPr lang="pt-BR" sz="2000" b="1" i="1">
                              <a:latin typeface="Cambria Math" panose="02040503050406030204" pitchFamily="18" charset="0"/>
                            </a:rPr>
                            <m:t>𝒀</m:t>
                          </m:r>
                        </m:e>
                        <m:sub>
                          <m:r>
                            <a:rPr lang="en-US" sz="2000" b="1" i="1">
                              <a:latin typeface="Cambria Math" panose="02040503050406030204" pitchFamily="18" charset="0"/>
                            </a:rPr>
                            <m:t>𝒕</m:t>
                          </m:r>
                        </m:sub>
                      </m:sSub>
                      <m:r>
                        <a:rPr lang="en-US" sz="2000" b="1" i="1">
                          <a:latin typeface="Cambria Math" panose="02040503050406030204" pitchFamily="18" charset="0"/>
                        </a:rPr>
                        <m:t>=</m:t>
                      </m:r>
                      <m:r>
                        <a:rPr lang="en-US" sz="2000" b="1" i="1">
                          <a:latin typeface="Cambria Math" panose="02040503050406030204" pitchFamily="18" charset="0"/>
                          <a:ea typeface="Cambria Math" panose="02040503050406030204" pitchFamily="18" charset="0"/>
                        </a:rPr>
                        <m:t>𝜹</m:t>
                      </m:r>
                      <m:r>
                        <a:rPr lang="en-US" sz="2000" b="1" i="1">
                          <a:latin typeface="Cambria Math" panose="02040503050406030204" pitchFamily="18" charset="0"/>
                          <a:ea typeface="Cambria Math" panose="02040503050406030204" pitchFamily="18" charset="0"/>
                        </a:rPr>
                        <m:t>+</m:t>
                      </m:r>
                      <m:nary>
                        <m:naryPr>
                          <m:chr m:val="∑"/>
                          <m:ctrlPr>
                            <a:rPr lang="en-US" sz="2000" b="1" i="1">
                              <a:latin typeface="Cambria Math" panose="02040503050406030204" pitchFamily="18" charset="0"/>
                              <a:ea typeface="Cambria Math" panose="02040503050406030204" pitchFamily="18" charset="0"/>
                            </a:rPr>
                          </m:ctrlPr>
                        </m:naryPr>
                        <m:sub>
                          <m:r>
                            <m:rPr>
                              <m:brk m:alnAt="23"/>
                            </m:rPr>
                            <a:rPr lang="en-US" sz="2000" b="1" i="1">
                              <a:latin typeface="Cambria Math" panose="02040503050406030204" pitchFamily="18" charset="0"/>
                              <a:ea typeface="Cambria Math" panose="02040503050406030204" pitchFamily="18" charset="0"/>
                            </a:rPr>
                            <m:t>𝒋</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𝟏</m:t>
                          </m:r>
                        </m:sub>
                        <m:sup>
                          <m:r>
                            <a:rPr lang="en-US" sz="2000" b="1" i="1">
                              <a:latin typeface="Cambria Math" panose="02040503050406030204" pitchFamily="18" charset="0"/>
                              <a:ea typeface="Cambria Math" panose="02040503050406030204" pitchFamily="18" charset="0"/>
                            </a:rPr>
                            <m:t>𝒌</m:t>
                          </m:r>
                        </m:sup>
                        <m:e>
                          <m:sSub>
                            <m:sSubPr>
                              <m:ctrlPr>
                                <a:rPr lang="en-US" sz="2000" b="1" i="1">
                                  <a:latin typeface="Cambria Math" panose="02040503050406030204" pitchFamily="18" charset="0"/>
                                  <a:ea typeface="Cambria Math" panose="02040503050406030204" pitchFamily="18" charset="0"/>
                                </a:rPr>
                              </m:ctrlPr>
                            </m:sSubPr>
                            <m:e>
                              <m:r>
                                <a:rPr lang="el-GR" sz="2000" b="1" i="1">
                                  <a:latin typeface="Cambria Math" panose="02040503050406030204" pitchFamily="18" charset="0"/>
                                  <a:ea typeface="Cambria Math" panose="02040503050406030204" pitchFamily="18" charset="0"/>
                                </a:rPr>
                                <m:t>𝜞</m:t>
                              </m:r>
                            </m:e>
                            <m:sub>
                              <m:r>
                                <a:rPr lang="en-US" sz="2000" b="1" i="1">
                                  <a:latin typeface="Cambria Math" panose="02040503050406030204" pitchFamily="18" charset="0"/>
                                  <a:ea typeface="Cambria Math" panose="02040503050406030204" pitchFamily="18" charset="0"/>
                                </a:rPr>
                                <m:t>𝒋</m:t>
                              </m:r>
                            </m:sub>
                          </m:sSub>
                          <m:r>
                            <a:rPr lang="el-GR" sz="2000" b="1" i="1">
                              <a:latin typeface="Cambria Math" panose="02040503050406030204" pitchFamily="18" charset="0"/>
                              <a:ea typeface="Cambria Math" panose="02040503050406030204" pitchFamily="18" charset="0"/>
                            </a:rPr>
                            <m:t>𝜟</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𝒋</m:t>
                              </m:r>
                            </m:sub>
                          </m:sSub>
                        </m:e>
                      </m:nary>
                      <m:r>
                        <a:rPr lang="en-US" sz="2000" b="1" i="1">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𝒆</m:t>
                          </m:r>
                        </m:e>
                        <m:sub>
                          <m:r>
                            <a:rPr lang="en-US" sz="2000" b="1" i="1">
                              <a:latin typeface="Cambria Math" panose="02040503050406030204" pitchFamily="18" charset="0"/>
                              <a:ea typeface="Cambria Math" panose="02040503050406030204" pitchFamily="18" charset="0"/>
                            </a:rPr>
                            <m:t>𝒕</m:t>
                          </m:r>
                        </m:sub>
                      </m:sSub>
                    </m:oMath>
                  </m:oMathPara>
                </a14:m>
                <a:endParaRPr lang="en-US" sz="2000" dirty="0"/>
              </a:p>
              <a:p>
                <a:pPr marL="457200" lvl="1" indent="0">
                  <a:buNone/>
                </a:pPr>
                <a:endParaRPr lang="en-US" sz="2000" dirty="0"/>
              </a:p>
              <a:p>
                <a:pPr marL="457200" lvl="1" indent="0">
                  <a:buNone/>
                </a:pPr>
                <a:endParaRPr lang="en-US" sz="2000" dirty="0"/>
              </a:p>
              <a:p>
                <a:pPr marL="0" indent="0" algn="ctr">
                  <a:buNone/>
                </a:pPr>
                <a:endParaRPr lang="en-US" sz="2000" dirty="0"/>
              </a:p>
              <a:p>
                <a:pPr marL="0" indent="0" algn="ctr">
                  <a:buNone/>
                </a:pPr>
                <a:endParaRPr lang="en-US" sz="2000" dirty="0"/>
              </a:p>
            </p:txBody>
          </p:sp>
        </mc:Choice>
        <mc:Fallback xmlns="">
          <p:sp>
            <p:nvSpPr>
              <p:cNvPr id="3" name="Content Placeholder 2">
                <a:extLst>
                  <a:ext uri="{FF2B5EF4-FFF2-40B4-BE49-F238E27FC236}">
                    <a16:creationId xmlns:a16="http://schemas.microsoft.com/office/drawing/2014/main" id="{47BC067A-DACB-844C-B765-E24C5F0ACF73}"/>
                  </a:ext>
                </a:extLst>
              </p:cNvPr>
              <p:cNvSpPr>
                <a:spLocks noGrp="1" noRot="1" noChangeAspect="1" noMove="1" noResize="1" noEditPoints="1" noAdjustHandles="1" noChangeArrowheads="1" noChangeShapeType="1" noTextEdit="1"/>
              </p:cNvSpPr>
              <p:nvPr>
                <p:ph idx="1"/>
              </p:nvPr>
            </p:nvSpPr>
            <p:spPr>
              <a:xfrm>
                <a:off x="838200" y="415636"/>
                <a:ext cx="10515600" cy="6127668"/>
              </a:xfrm>
              <a:blipFill>
                <a:blip r:embed="rId2"/>
                <a:stretch>
                  <a:fillRect l="-483" t="-1242" r="-724" b="-17184"/>
                </a:stretch>
              </a:blipFill>
            </p:spPr>
            <p:txBody>
              <a:bodyPr/>
              <a:lstStyle/>
              <a:p>
                <a:r>
                  <a:rPr lang="en-US">
                    <a:noFill/>
                  </a:rPr>
                  <a:t> </a:t>
                </a:r>
              </a:p>
            </p:txBody>
          </p:sp>
        </mc:Fallback>
      </mc:AlternateContent>
    </p:spTree>
    <p:extLst>
      <p:ext uri="{BB962C8B-B14F-4D97-AF65-F5344CB8AC3E}">
        <p14:creationId xmlns:p14="http://schemas.microsoft.com/office/powerpoint/2010/main" val="5163300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0F19D9D0-2910-6642-8DD6-DCA7A5F4E981}"/>
                  </a:ext>
                </a:extLst>
              </p:cNvPr>
              <p:cNvSpPr/>
              <p:nvPr/>
            </p:nvSpPr>
            <p:spPr>
              <a:xfrm>
                <a:off x="985652" y="142503"/>
                <a:ext cx="11008426" cy="5945410"/>
              </a:xfrm>
              <a:prstGeom prst="rect">
                <a:avLst/>
              </a:prstGeom>
            </p:spPr>
            <p:txBody>
              <a:bodyPr wrap="square">
                <a:spAutoFit/>
              </a:bodyPr>
              <a:lstStyle/>
              <a:p>
                <a:pPr marL="285750" indent="-285750">
                  <a:buFont typeface="Arial" panose="020B0604020202020204" pitchFamily="34" charset="0"/>
                  <a:buChar char="•"/>
                </a:pPr>
                <a:r>
                  <a:rPr lang="en-US" sz="2000" dirty="0"/>
                  <a:t>Rank k </a:t>
                </a:r>
                <a14:m>
                  <m:oMath xmlns:m="http://schemas.openxmlformats.org/officeDocument/2006/math">
                    <m:r>
                      <a:rPr lang="en-US" sz="2000" i="1">
                        <a:latin typeface="Cambria Math" panose="02040503050406030204" pitchFamily="18" charset="0"/>
                        <a:ea typeface="Cambria Math" panose="02040503050406030204" pitchFamily="18" charset="0"/>
                      </a:rPr>
                      <m:t>≤</m:t>
                    </m:r>
                  </m:oMath>
                </a14:m>
                <a:r>
                  <a:rPr lang="en-US" sz="2000" dirty="0"/>
                  <a:t> n -1 </a:t>
                </a:r>
                <a14:m>
                  <m:oMath xmlns:m="http://schemas.openxmlformats.org/officeDocument/2006/math">
                    <m:r>
                      <a:rPr lang="en-US" sz="2000" i="1">
                        <a:latin typeface="Cambria Math" panose="02040503050406030204" pitchFamily="18" charset="0"/>
                        <a:ea typeface="Cambria Math" panose="02040503050406030204" pitchFamily="18" charset="0"/>
                      </a:rPr>
                      <m:t>⇒</m:t>
                    </m:r>
                  </m:oMath>
                </a14:m>
                <a:r>
                  <a:rPr lang="en-US" sz="2000" dirty="0"/>
                  <a:t> up to n – 1 (or k ) cointegration relationships:</a:t>
                </a:r>
              </a:p>
              <a:p>
                <a:pPr marL="285750" indent="-285750">
                  <a:buFont typeface="Arial" panose="020B0604020202020204" pitchFamily="34" charset="0"/>
                  <a:buChar char="•"/>
                </a:pPr>
                <a:endParaRPr lang="en-US" sz="2000" dirty="0"/>
              </a:p>
              <a:p>
                <a:pPr/>
                <a14:m>
                  <m:oMathPara xmlns:m="http://schemas.openxmlformats.org/officeDocument/2006/math">
                    <m:oMathParaPr>
                      <m:jc m:val="centerGroup"/>
                    </m:oMathParaPr>
                    <m:oMath xmlns:m="http://schemas.openxmlformats.org/officeDocument/2006/math">
                      <m:sSub>
                        <m:sSubPr>
                          <m:ctrlPr>
                            <a:rPr lang="en-US" sz="2000" b="1" i="1">
                              <a:latin typeface="Cambria Math" panose="02040503050406030204" pitchFamily="18" charset="0"/>
                            </a:rPr>
                          </m:ctrlPr>
                        </m:sSubPr>
                        <m:e>
                          <m:r>
                            <a:rPr lang="el-GR" sz="2000" b="1" i="1">
                              <a:latin typeface="Cambria Math" panose="02040503050406030204" pitchFamily="18" charset="0"/>
                              <a:ea typeface="Cambria Math" panose="02040503050406030204" pitchFamily="18" charset="0"/>
                            </a:rPr>
                            <m:t>𝜟</m:t>
                          </m:r>
                          <m:r>
                            <a:rPr lang="pt-BR" sz="2000" b="1" i="1">
                              <a:latin typeface="Cambria Math" panose="02040503050406030204" pitchFamily="18" charset="0"/>
                            </a:rPr>
                            <m:t>𝒀</m:t>
                          </m:r>
                        </m:e>
                        <m:sub>
                          <m:r>
                            <a:rPr lang="en-US" sz="2000" b="1" i="1">
                              <a:latin typeface="Cambria Math" panose="02040503050406030204" pitchFamily="18" charset="0"/>
                            </a:rPr>
                            <m:t>𝒕</m:t>
                          </m:r>
                        </m:sub>
                      </m:sSub>
                      <m:r>
                        <a:rPr lang="en-US" sz="2000" b="1" i="1">
                          <a:latin typeface="Cambria Math" panose="02040503050406030204" pitchFamily="18" charset="0"/>
                        </a:rPr>
                        <m:t>=</m:t>
                      </m:r>
                      <m:r>
                        <a:rPr lang="en-US" sz="2000" b="1" i="1">
                          <a:latin typeface="Cambria Math" panose="02040503050406030204" pitchFamily="18" charset="0"/>
                          <a:ea typeface="Cambria Math" panose="02040503050406030204" pitchFamily="18" charset="0"/>
                        </a:rPr>
                        <m:t>𝜹</m:t>
                      </m:r>
                      <m:r>
                        <a:rPr lang="en-US" sz="2000" b="1" i="1">
                          <a:latin typeface="Cambria Math" panose="02040503050406030204" pitchFamily="18" charset="0"/>
                        </a:rPr>
                        <m:t>+</m:t>
                      </m:r>
                      <m:r>
                        <a:rPr lang="en-US" sz="2000" b="1" i="1">
                          <a:latin typeface="Cambria Math" panose="02040503050406030204" pitchFamily="18" charset="0"/>
                          <a:ea typeface="Cambria Math" panose="02040503050406030204" pitchFamily="18" charset="0"/>
                        </a:rPr>
                        <m:t>𝚷</m:t>
                      </m:r>
                      <m:sSub>
                        <m:sSubPr>
                          <m:ctrlPr>
                            <a:rPr lang="en-US" sz="2000" b="1" i="1">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𝒌</m:t>
                          </m:r>
                        </m:sub>
                      </m:sSub>
                      <m:r>
                        <a:rPr lang="en-US" sz="2000" b="1" i="1">
                          <a:latin typeface="Cambria Math" panose="02040503050406030204" pitchFamily="18" charset="0"/>
                          <a:ea typeface="Cambria Math" panose="02040503050406030204" pitchFamily="18" charset="0"/>
                        </a:rPr>
                        <m:t>+</m:t>
                      </m:r>
                      <m:nary>
                        <m:naryPr>
                          <m:chr m:val="∑"/>
                          <m:ctrlPr>
                            <a:rPr lang="en-US" sz="2000" b="1" i="1">
                              <a:latin typeface="Cambria Math" panose="02040503050406030204" pitchFamily="18" charset="0"/>
                              <a:ea typeface="Cambria Math" panose="02040503050406030204" pitchFamily="18" charset="0"/>
                            </a:rPr>
                          </m:ctrlPr>
                        </m:naryPr>
                        <m:sub>
                          <m:r>
                            <m:rPr>
                              <m:brk m:alnAt="23"/>
                            </m:rPr>
                            <a:rPr lang="en-US" sz="2000" b="1" i="1">
                              <a:latin typeface="Cambria Math" panose="02040503050406030204" pitchFamily="18" charset="0"/>
                              <a:ea typeface="Cambria Math" panose="02040503050406030204" pitchFamily="18" charset="0"/>
                            </a:rPr>
                            <m:t>𝒋</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𝟏</m:t>
                          </m:r>
                        </m:sub>
                        <m:sup>
                          <m:r>
                            <a:rPr lang="en-US" sz="2000" b="1" i="1">
                              <a:latin typeface="Cambria Math" panose="02040503050406030204" pitchFamily="18" charset="0"/>
                              <a:ea typeface="Cambria Math" panose="02040503050406030204" pitchFamily="18" charset="0"/>
                            </a:rPr>
                            <m:t>𝒌</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𝟏</m:t>
                          </m:r>
                        </m:sup>
                        <m:e>
                          <m:sSub>
                            <m:sSubPr>
                              <m:ctrlPr>
                                <a:rPr lang="en-US" sz="2000" b="1" i="1">
                                  <a:latin typeface="Cambria Math" panose="02040503050406030204" pitchFamily="18" charset="0"/>
                                  <a:ea typeface="Cambria Math" panose="02040503050406030204" pitchFamily="18" charset="0"/>
                                </a:rPr>
                              </m:ctrlPr>
                            </m:sSubPr>
                            <m:e>
                              <m:r>
                                <a:rPr lang="el-GR" sz="2000" b="1" i="1">
                                  <a:latin typeface="Cambria Math" panose="02040503050406030204" pitchFamily="18" charset="0"/>
                                  <a:ea typeface="Cambria Math" panose="02040503050406030204" pitchFamily="18" charset="0"/>
                                </a:rPr>
                                <m:t>𝜞</m:t>
                              </m:r>
                            </m:e>
                            <m:sub>
                              <m:r>
                                <a:rPr lang="en-US" sz="2000" b="1" i="1">
                                  <a:latin typeface="Cambria Math" panose="02040503050406030204" pitchFamily="18" charset="0"/>
                                  <a:ea typeface="Cambria Math" panose="02040503050406030204" pitchFamily="18" charset="0"/>
                                </a:rPr>
                                <m:t>𝒋</m:t>
                              </m:r>
                            </m:sub>
                          </m:sSub>
                          <m:r>
                            <a:rPr lang="el-GR" sz="2000" b="1" i="1">
                              <a:latin typeface="Cambria Math" panose="02040503050406030204" pitchFamily="18" charset="0"/>
                              <a:ea typeface="Cambria Math" panose="02040503050406030204" pitchFamily="18" charset="0"/>
                            </a:rPr>
                            <m:t>𝜟</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𝒋</m:t>
                              </m:r>
                            </m:sub>
                          </m:sSub>
                        </m:e>
                      </m:nary>
                      <m:r>
                        <a:rPr lang="en-US" sz="2000" b="1" i="1">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𝒆</m:t>
                          </m:r>
                        </m:e>
                        <m:sub>
                          <m:r>
                            <a:rPr lang="en-US" sz="2000" b="1" i="1">
                              <a:latin typeface="Cambria Math" panose="02040503050406030204" pitchFamily="18" charset="0"/>
                              <a:ea typeface="Cambria Math" panose="02040503050406030204" pitchFamily="18" charset="0"/>
                            </a:rPr>
                            <m:t>𝒕</m:t>
                          </m:r>
                        </m:sub>
                      </m:sSub>
                    </m:oMath>
                  </m:oMathPara>
                </a14:m>
                <a:endParaRPr lang="en-US" sz="2000" dirty="0"/>
              </a:p>
              <a:p>
                <a:pPr marL="285750" indent="-285750">
                  <a:buFont typeface="Arial" panose="020B0604020202020204" pitchFamily="34" charset="0"/>
                  <a:buChar char="•"/>
                </a:pPr>
                <a:endParaRPr lang="en-US" sz="2000" dirty="0"/>
              </a:p>
              <a:p>
                <a:pPr algn="ctr"/>
                <a:r>
                  <a:rPr lang="en-US" sz="2000" b="1" dirty="0"/>
                  <a:t>Where </a:t>
                </a:r>
                <a14:m>
                  <m:oMath xmlns:m="http://schemas.openxmlformats.org/officeDocument/2006/math">
                    <m:r>
                      <a:rPr lang="en-US" sz="2000" b="1" i="1" smtClean="0">
                        <a:latin typeface="Cambria Math" panose="02040503050406030204" pitchFamily="18" charset="0"/>
                        <a:ea typeface="Cambria Math" panose="02040503050406030204" pitchFamily="18" charset="0"/>
                      </a:rPr>
                      <m:t>𝚷</m:t>
                    </m:r>
                    <m:r>
                      <a:rPr lang="en-US" sz="2000" b="1" i="0"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𝛂</m:t>
                    </m:r>
                    <m:sSup>
                      <m:sSupPr>
                        <m:ctrlPr>
                          <a:rPr lang="en-US" sz="2000" b="1" i="1" smtClean="0">
                            <a:latin typeface="Cambria Math" panose="02040503050406030204" pitchFamily="18" charset="0"/>
                            <a:ea typeface="Cambria Math" panose="02040503050406030204" pitchFamily="18" charset="0"/>
                          </a:rPr>
                        </m:ctrlPr>
                      </m:sSupPr>
                      <m:e>
                        <m:r>
                          <a:rPr lang="en-US" sz="2000" b="1" i="1" smtClean="0">
                            <a:latin typeface="Cambria Math" panose="02040503050406030204" pitchFamily="18" charset="0"/>
                            <a:ea typeface="Cambria Math" panose="02040503050406030204" pitchFamily="18" charset="0"/>
                          </a:rPr>
                          <m:t>𝜷</m:t>
                        </m:r>
                      </m:e>
                      <m:sup>
                        <m:r>
                          <a:rPr lang="en-US" sz="2000" b="1" i="1" smtClean="0">
                            <a:latin typeface="Cambria Math" panose="02040503050406030204" pitchFamily="18" charset="0"/>
                            <a:ea typeface="Cambria Math" panose="02040503050406030204" pitchFamily="18" charset="0"/>
                          </a:rPr>
                          <m:t>’</m:t>
                        </m:r>
                      </m:sup>
                    </m:sSup>
                  </m:oMath>
                </a14:m>
                <a:endParaRPr lang="en-US" sz="2000" b="1" dirty="0"/>
              </a:p>
              <a:p>
                <a:endParaRPr lang="en-US" sz="2000" dirty="0"/>
              </a:p>
              <a:p>
                <a:r>
                  <a:rPr lang="en-US" sz="2000" dirty="0"/>
                  <a:t>The columns of </a:t>
                </a:r>
                <a14:m>
                  <m:oMath xmlns:m="http://schemas.openxmlformats.org/officeDocument/2006/math">
                    <m:r>
                      <a:rPr lang="en-US" sz="2000" b="1" i="1" smtClean="0">
                        <a:latin typeface="Cambria Math" panose="02040503050406030204" pitchFamily="18" charset="0"/>
                        <a:ea typeface="Cambria Math" panose="02040503050406030204" pitchFamily="18" charset="0"/>
                      </a:rPr>
                      <m:t>𝜷</m:t>
                    </m:r>
                  </m:oMath>
                </a14:m>
                <a:r>
                  <a:rPr lang="en-US" sz="2000" dirty="0"/>
                  <a:t> are the cointegrating vectors and the system has cointegration rank k. </a:t>
                </a:r>
              </a:p>
              <a:p>
                <a:r>
                  <a:rPr lang="en-US" sz="2000" dirty="0"/>
                  <a:t>The cointegrating vectors eliminate the non-stationarity potentially present. In this case, if </a:t>
                </a:r>
                <a14:m>
                  <m:oMath xmlns:m="http://schemas.openxmlformats.org/officeDocument/2006/math">
                    <m:r>
                      <a:rPr lang="en-US" sz="2000" b="1" i="1">
                        <a:latin typeface="Cambria Math" panose="02040503050406030204" pitchFamily="18" charset="0"/>
                        <a:ea typeface="Cambria Math" panose="02040503050406030204" pitchFamily="18" charset="0"/>
                      </a:rPr>
                      <m:t>𝚷</m:t>
                    </m:r>
                    <m:sSub>
                      <m:sSubPr>
                        <m:ctrlPr>
                          <a:rPr lang="en-US" sz="2000" b="1" i="1">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𝒌</m:t>
                        </m:r>
                      </m:sub>
                    </m:sSub>
                  </m:oMath>
                </a14:m>
                <a:r>
                  <a:rPr lang="en-US" sz="2000" dirty="0"/>
                  <a:t> is omitted, a VAR in first difference is </a:t>
                </a:r>
                <a:r>
                  <a:rPr lang="en-US" sz="2000" dirty="0" err="1"/>
                  <a:t>misspecified</a:t>
                </a:r>
                <a:r>
                  <a:rPr lang="en-US" sz="2000" dirty="0"/>
                  <a:t>. The cointegration vector </a:t>
                </a:r>
                <a14:m>
                  <m:oMath xmlns:m="http://schemas.openxmlformats.org/officeDocument/2006/math">
                    <m:r>
                      <a:rPr lang="en-US" sz="2000" b="1" i="1">
                        <a:latin typeface="Cambria Math" panose="02040503050406030204" pitchFamily="18" charset="0"/>
                        <a:ea typeface="Cambria Math" panose="02040503050406030204" pitchFamily="18" charset="0"/>
                      </a:rPr>
                      <m:t>𝜷</m:t>
                    </m:r>
                  </m:oMath>
                </a14:m>
                <a:r>
                  <a:rPr lang="en-US" sz="2000" dirty="0"/>
                  <a:t> removes the common stochastic trend from the linear combination of Y and X. </a:t>
                </a:r>
              </a:p>
              <a:p>
                <a:endParaRPr lang="en-US" sz="2000" dirty="0"/>
              </a:p>
              <a:p>
                <a:r>
                  <a:rPr lang="en-US" sz="2000" dirty="0"/>
                  <a:t>Both tests (we will see max eigenvalue test) rely on the eigenvalues of the </a:t>
                </a:r>
                <a14:m>
                  <m:oMath xmlns:m="http://schemas.openxmlformats.org/officeDocument/2006/math">
                    <m:r>
                      <a:rPr lang="el-GR" sz="2000" b="1" i="1">
                        <a:latin typeface="Cambria Math" panose="02040503050406030204" pitchFamily="18" charset="0"/>
                        <a:ea typeface="Cambria Math" panose="02040503050406030204" pitchFamily="18" charset="0"/>
                      </a:rPr>
                      <m:t>𝜫</m:t>
                    </m:r>
                  </m:oMath>
                </a14:m>
                <a:r>
                  <a:rPr lang="en-US" sz="2000" dirty="0"/>
                  <a:t> matrix, because it includes the matrix of cointegrating coefficients (it will be the number of eigenvalues that determine the number of cointegrating coefficients). If all of the n variables are cointegrated, then there will be n – 1 linearly independent cointegrating relationship between them (the </a:t>
                </a:r>
                <a14:m>
                  <m:oMath xmlns:m="http://schemas.openxmlformats.org/officeDocument/2006/math">
                    <m:r>
                      <a:rPr lang="el-GR" sz="2000" b="1" i="1">
                        <a:latin typeface="Cambria Math" panose="02040503050406030204" pitchFamily="18" charset="0"/>
                        <a:ea typeface="Cambria Math" panose="02040503050406030204" pitchFamily="18" charset="0"/>
                      </a:rPr>
                      <m:t>𝜫</m:t>
                    </m:r>
                    <m:r>
                      <a:rPr lang="el-GR" sz="2000" b="1" i="1">
                        <a:latin typeface="Cambria Math" panose="02040503050406030204" pitchFamily="18" charset="0"/>
                        <a:ea typeface="Cambria Math" panose="02040503050406030204" pitchFamily="18" charset="0"/>
                      </a:rPr>
                      <m:t> </m:t>
                    </m:r>
                  </m:oMath>
                </a14:m>
                <a:r>
                  <a:rPr lang="en-US" sz="2000" dirty="0"/>
                  <a:t>matrix is not of full rank: r &lt; n). </a:t>
                </a:r>
              </a:p>
              <a:p>
                <a:r>
                  <a:rPr lang="en-US" sz="2000" dirty="0">
                    <a:solidFill>
                      <a:srgbClr val="FF0000"/>
                    </a:solidFill>
                  </a:rPr>
                  <a:t>***</a:t>
                </a:r>
                <a:r>
                  <a:rPr lang="en-US" sz="2000" dirty="0"/>
                  <a:t>A non-full rank matrix will have the determinant equal to zero and the determinant is equal to the product of its eigenvalues.</a:t>
                </a:r>
              </a:p>
            </p:txBody>
          </p:sp>
        </mc:Choice>
        <mc:Fallback xmlns="">
          <p:sp>
            <p:nvSpPr>
              <p:cNvPr id="4" name="Rectangle 3">
                <a:extLst>
                  <a:ext uri="{FF2B5EF4-FFF2-40B4-BE49-F238E27FC236}">
                    <a16:creationId xmlns:a16="http://schemas.microsoft.com/office/drawing/2014/main" id="{0F19D9D0-2910-6642-8DD6-DCA7A5F4E981}"/>
                  </a:ext>
                </a:extLst>
              </p:cNvPr>
              <p:cNvSpPr>
                <a:spLocks noRot="1" noChangeAspect="1" noMove="1" noResize="1" noEditPoints="1" noAdjustHandles="1" noChangeArrowheads="1" noChangeShapeType="1" noTextEdit="1"/>
              </p:cNvSpPr>
              <p:nvPr/>
            </p:nvSpPr>
            <p:spPr>
              <a:xfrm>
                <a:off x="985652" y="142503"/>
                <a:ext cx="11008426" cy="5945410"/>
              </a:xfrm>
              <a:prstGeom prst="rect">
                <a:avLst/>
              </a:prstGeom>
              <a:blipFill>
                <a:blip r:embed="rId2"/>
                <a:stretch>
                  <a:fillRect l="-577" t="-5117" r="-115" b="-640"/>
                </a:stretch>
              </a:blipFill>
            </p:spPr>
            <p:txBody>
              <a:bodyPr/>
              <a:lstStyle/>
              <a:p>
                <a:r>
                  <a:rPr lang="en-US">
                    <a:noFill/>
                  </a:rPr>
                  <a:t> </a:t>
                </a:r>
              </a:p>
            </p:txBody>
          </p:sp>
        </mc:Fallback>
      </mc:AlternateContent>
    </p:spTree>
    <p:extLst>
      <p:ext uri="{BB962C8B-B14F-4D97-AF65-F5344CB8AC3E}">
        <p14:creationId xmlns:p14="http://schemas.microsoft.com/office/powerpoint/2010/main" val="21941895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4E2630-63D3-7948-8306-78D73F0A4C09}"/>
                  </a:ext>
                </a:extLst>
              </p:cNvPr>
              <p:cNvSpPr>
                <a:spLocks noGrp="1"/>
              </p:cNvSpPr>
              <p:nvPr>
                <p:ph idx="1"/>
              </p:nvPr>
            </p:nvSpPr>
            <p:spPr>
              <a:xfrm>
                <a:off x="838200" y="285008"/>
                <a:ext cx="10515600" cy="5891955"/>
              </a:xfrm>
            </p:spPr>
            <p:txBody>
              <a:bodyPr>
                <a:normAutofit/>
              </a:bodyPr>
              <a:lstStyle/>
              <a:p>
                <a:pPr marL="0" indent="0" algn="ctr">
                  <a:buNone/>
                </a:pPr>
                <a:r>
                  <a:rPr lang="en-US" sz="2000" b="1" dirty="0"/>
                  <a:t>THE MAXIMAL EIGENVALUE TEST</a:t>
                </a:r>
              </a:p>
              <a:p>
                <a:pPr marL="0" indent="0" algn="ctr">
                  <a:buNone/>
                </a:pPr>
                <a:endParaRPr lang="en-US" sz="2000" b="1" dirty="0"/>
              </a:p>
              <a:p>
                <a:r>
                  <a:rPr lang="en-US" sz="2000" dirty="0"/>
                  <a:t>This test examines the null of k cointegrating vectors versus the alternative k + 1 cointegrating vectors.</a:t>
                </a:r>
              </a:p>
              <a:p>
                <a:pPr marL="0" indent="0" algn="ctr">
                  <a:buNone/>
                </a:pP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0</m:t>
                          </m:r>
                        </m:sub>
                      </m:sSub>
                      <m:r>
                        <a:rPr lang="en-US" sz="2000" i="1">
                          <a:latin typeface="Cambria Math" panose="02040503050406030204" pitchFamily="18" charset="0"/>
                        </a:rPr>
                        <m:t>:   </m:t>
                      </m:r>
                      <m:r>
                        <a:rPr lang="en-US" sz="2000" i="1">
                          <a:latin typeface="Cambria Math" panose="02040503050406030204" pitchFamily="18" charset="0"/>
                        </a:rPr>
                        <m:t>𝐶𝐼</m:t>
                      </m:r>
                      <m:r>
                        <a:rPr lang="en-US" sz="2000" i="1">
                          <a:latin typeface="Cambria Math" panose="02040503050406030204" pitchFamily="18" charset="0"/>
                        </a:rPr>
                        <m:t>=</m:t>
                      </m:r>
                      <m:r>
                        <a:rPr lang="en-US" sz="2000" b="0" i="1" smtClean="0">
                          <a:latin typeface="Cambria Math" panose="02040503050406030204" pitchFamily="18" charset="0"/>
                        </a:rPr>
                        <m:t>𝑘</m:t>
                      </m:r>
                    </m:oMath>
                  </m:oMathPara>
                </a14:m>
                <a:endParaRPr lang="en-US" sz="2000" dirty="0"/>
              </a:p>
              <a:p>
                <a:pPr lvl="1"/>
                <a:endParaRPr lang="en-US" sz="1600"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i="1">
                              <a:latin typeface="Cambria Math" panose="02040503050406030204" pitchFamily="18" charset="0"/>
                            </a:rPr>
                            <m:t>1</m:t>
                          </m:r>
                        </m:sub>
                      </m:sSub>
                      <m:r>
                        <a:rPr lang="en-US" sz="2000" i="1">
                          <a:latin typeface="Cambria Math" panose="02040503050406030204" pitchFamily="18" charset="0"/>
                        </a:rPr>
                        <m:t>:   </m:t>
                      </m:r>
                      <m:r>
                        <a:rPr lang="en-US" sz="2000" i="1">
                          <a:latin typeface="Cambria Math" panose="02040503050406030204" pitchFamily="18" charset="0"/>
                        </a:rPr>
                        <m:t>𝐶𝐼</m:t>
                      </m:r>
                      <m:r>
                        <a:rPr lang="en-US" sz="2000" i="1">
                          <a:latin typeface="Cambria Math" panose="02040503050406030204" pitchFamily="18" charset="0"/>
                        </a:rPr>
                        <m:t>=</m:t>
                      </m:r>
                      <m:r>
                        <a:rPr lang="en-US" sz="2000" b="0" i="1" smtClean="0">
                          <a:latin typeface="Cambria Math" panose="02040503050406030204" pitchFamily="18" charset="0"/>
                        </a:rPr>
                        <m:t>𝑘</m:t>
                      </m:r>
                      <m:r>
                        <a:rPr lang="en-US" sz="2000" i="1">
                          <a:latin typeface="Cambria Math" panose="02040503050406030204" pitchFamily="18" charset="0"/>
                          <a:ea typeface="Cambria Math" panose="02040503050406030204" pitchFamily="18" charset="0"/>
                        </a:rPr>
                        <m:t>+1</m:t>
                      </m:r>
                    </m:oMath>
                  </m:oMathPara>
                </a14:m>
                <a:endParaRPr lang="en-US" sz="2000" dirty="0"/>
              </a:p>
              <a:p>
                <a:pPr marL="0" indent="0">
                  <a:buNone/>
                </a:pPr>
                <a:endParaRPr lang="en-US" sz="2000" dirty="0"/>
              </a:p>
              <a:p>
                <a:pPr marL="0" indent="0">
                  <a:buNone/>
                </a:pPr>
                <a:endParaRPr lang="en-US" sz="2000" dirty="0"/>
              </a:p>
              <a:p>
                <a:pPr marL="0" indent="0">
                  <a:buNone/>
                </a:pPr>
                <a:r>
                  <a:rPr lang="en-US" sz="2000" dirty="0"/>
                  <a:t>Like the trace test, the max eigenvalue test is also a sequential test. We start with k = 0, If you do not reject the null, then you can stop (there is not cointegration); if you reject the null, then update the null and the alternative and re-run the test. If you do not reject the null, then there is one cointegrating vector. The two tests may be contradictory, then the maximal eigenvalue test is prioritized in this case. </a:t>
                </a:r>
              </a:p>
            </p:txBody>
          </p:sp>
        </mc:Choice>
        <mc:Fallback xmlns="">
          <p:sp>
            <p:nvSpPr>
              <p:cNvPr id="3" name="Content Placeholder 2">
                <a:extLst>
                  <a:ext uri="{FF2B5EF4-FFF2-40B4-BE49-F238E27FC236}">
                    <a16:creationId xmlns:a16="http://schemas.microsoft.com/office/drawing/2014/main" id="{D04E2630-63D3-7948-8306-78D73F0A4C09}"/>
                  </a:ext>
                </a:extLst>
              </p:cNvPr>
              <p:cNvSpPr>
                <a:spLocks noGrp="1" noRot="1" noChangeAspect="1" noMove="1" noResize="1" noEditPoints="1" noAdjustHandles="1" noChangeArrowheads="1" noChangeShapeType="1" noTextEdit="1"/>
              </p:cNvSpPr>
              <p:nvPr>
                <p:ph idx="1"/>
              </p:nvPr>
            </p:nvSpPr>
            <p:spPr>
              <a:xfrm>
                <a:off x="838200" y="285008"/>
                <a:ext cx="10515600" cy="5891955"/>
              </a:xfrm>
              <a:blipFill>
                <a:blip r:embed="rId2"/>
                <a:stretch>
                  <a:fillRect l="-603" t="-1075"/>
                </a:stretch>
              </a:blipFill>
            </p:spPr>
            <p:txBody>
              <a:bodyPr/>
              <a:lstStyle/>
              <a:p>
                <a:r>
                  <a:rPr lang="en-US">
                    <a:noFill/>
                  </a:rPr>
                  <a:t> </a:t>
                </a:r>
              </a:p>
            </p:txBody>
          </p:sp>
        </mc:Fallback>
      </mc:AlternateContent>
    </p:spTree>
    <p:extLst>
      <p:ext uri="{BB962C8B-B14F-4D97-AF65-F5344CB8AC3E}">
        <p14:creationId xmlns:p14="http://schemas.microsoft.com/office/powerpoint/2010/main" val="37574320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9515E7E-EBE7-044F-951C-2EC5145FB41A}"/>
                  </a:ext>
                </a:extLst>
              </p:cNvPr>
              <p:cNvSpPr>
                <a:spLocks noGrp="1"/>
              </p:cNvSpPr>
              <p:nvPr>
                <p:ph idx="1"/>
              </p:nvPr>
            </p:nvSpPr>
            <p:spPr>
              <a:xfrm>
                <a:off x="790699" y="0"/>
                <a:ext cx="10515600" cy="7196447"/>
              </a:xfrm>
            </p:spPr>
            <p:txBody>
              <a:bodyPr>
                <a:normAutofit/>
              </a:bodyPr>
              <a:lstStyle/>
              <a:p>
                <a:pPr marL="0" indent="0">
                  <a:buNone/>
                </a:pPr>
                <a:r>
                  <a:rPr lang="en-US" sz="2000" dirty="0">
                    <a:latin typeface="Cambria Math" panose="02040503050406030204" pitchFamily="18" charset="0"/>
                  </a:rPr>
                  <a:t>Johansen’s tests are based on the following variation of the VECM model: </a:t>
                </a:r>
              </a:p>
              <a:p>
                <a:pPr marL="0" indent="0">
                  <a:buNone/>
                </a:pPr>
                <a:endParaRPr lang="en-US" sz="2000" b="1"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000" b="1" i="1">
                              <a:latin typeface="Cambria Math" panose="02040503050406030204" pitchFamily="18" charset="0"/>
                            </a:rPr>
                          </m:ctrlPr>
                        </m:sSubPr>
                        <m:e>
                          <m:r>
                            <a:rPr lang="el-GR" sz="2000" b="1" i="1">
                              <a:latin typeface="Cambria Math" panose="02040503050406030204" pitchFamily="18" charset="0"/>
                              <a:ea typeface="Cambria Math" panose="02040503050406030204" pitchFamily="18" charset="0"/>
                            </a:rPr>
                            <m:t>𝜟</m:t>
                          </m:r>
                          <m:r>
                            <a:rPr lang="pt-BR" sz="2000" b="1" i="1">
                              <a:latin typeface="Cambria Math" panose="02040503050406030204" pitchFamily="18" charset="0"/>
                            </a:rPr>
                            <m:t>𝒀</m:t>
                          </m:r>
                        </m:e>
                        <m:sub>
                          <m:r>
                            <a:rPr lang="en-US" sz="2000" b="1" i="1">
                              <a:latin typeface="Cambria Math" panose="02040503050406030204" pitchFamily="18" charset="0"/>
                            </a:rPr>
                            <m:t>𝒕</m:t>
                          </m:r>
                        </m:sub>
                      </m:sSub>
                      <m:r>
                        <a:rPr lang="en-US" sz="2000" b="1" i="1">
                          <a:latin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l-GR" sz="2000" b="1" i="1">
                              <a:latin typeface="Cambria Math" panose="02040503050406030204" pitchFamily="18" charset="0"/>
                              <a:ea typeface="Cambria Math" panose="02040503050406030204" pitchFamily="18" charset="0"/>
                            </a:rPr>
                            <m:t>𝜞</m:t>
                          </m:r>
                        </m:e>
                        <m:sub>
                          <m:r>
                            <a:rPr lang="en-US" sz="2000" b="1" i="1">
                              <a:latin typeface="Cambria Math" panose="02040503050406030204" pitchFamily="18" charset="0"/>
                              <a:ea typeface="Cambria Math" panose="02040503050406030204" pitchFamily="18" charset="0"/>
                            </a:rPr>
                            <m:t>𝟏</m:t>
                          </m:r>
                        </m:sub>
                      </m:sSub>
                      <m:r>
                        <a:rPr lang="el-GR" sz="2000" b="1" i="1">
                          <a:latin typeface="Cambria Math" panose="02040503050406030204" pitchFamily="18" charset="0"/>
                          <a:ea typeface="Cambria Math" panose="02040503050406030204" pitchFamily="18" charset="0"/>
                        </a:rPr>
                        <m:t>𝜟</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𝟏</m:t>
                          </m:r>
                        </m:sub>
                      </m:sSub>
                      <m:r>
                        <a:rPr lang="en-US" sz="2000" b="1" i="1">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l-GR" sz="2000" b="1" i="1">
                              <a:latin typeface="Cambria Math" panose="02040503050406030204" pitchFamily="18" charset="0"/>
                              <a:ea typeface="Cambria Math" panose="02040503050406030204" pitchFamily="18" charset="0"/>
                            </a:rPr>
                            <m:t>𝜞</m:t>
                          </m:r>
                        </m:e>
                        <m:sub>
                          <m:r>
                            <a:rPr lang="en-US" sz="2000" b="1" i="1">
                              <a:latin typeface="Cambria Math" panose="02040503050406030204" pitchFamily="18" charset="0"/>
                              <a:ea typeface="Cambria Math" panose="02040503050406030204" pitchFamily="18" charset="0"/>
                            </a:rPr>
                            <m:t>𝟐</m:t>
                          </m:r>
                        </m:sub>
                      </m:sSub>
                      <m:r>
                        <a:rPr lang="el-GR" sz="2000" b="1" i="1">
                          <a:latin typeface="Cambria Math" panose="02040503050406030204" pitchFamily="18" charset="0"/>
                          <a:ea typeface="Cambria Math" panose="02040503050406030204" pitchFamily="18" charset="0"/>
                        </a:rPr>
                        <m:t>𝜟</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𝟐</m:t>
                          </m:r>
                        </m:sub>
                      </m:sSub>
                      <m:r>
                        <a:rPr lang="en-US" sz="2000" b="1" i="1">
                          <a:latin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l-GR" sz="2000" b="1" i="1">
                              <a:latin typeface="Cambria Math" panose="02040503050406030204" pitchFamily="18" charset="0"/>
                              <a:ea typeface="Cambria Math" panose="02040503050406030204" pitchFamily="18" charset="0"/>
                            </a:rPr>
                            <m:t>𝜞</m:t>
                          </m:r>
                        </m:e>
                        <m:sub>
                          <m:r>
                            <a:rPr lang="en-US" sz="2000" b="1" i="1">
                              <a:latin typeface="Cambria Math" panose="02040503050406030204" pitchFamily="18" charset="0"/>
                              <a:ea typeface="Cambria Math" panose="02040503050406030204" pitchFamily="18" charset="0"/>
                            </a:rPr>
                            <m:t>𝒌</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𝟏</m:t>
                          </m:r>
                        </m:sub>
                      </m:sSub>
                      <m:r>
                        <a:rPr lang="el-GR" sz="2000" b="1" i="1">
                          <a:latin typeface="Cambria Math" panose="02040503050406030204" pitchFamily="18" charset="0"/>
                          <a:ea typeface="Cambria Math" panose="02040503050406030204" pitchFamily="18" charset="0"/>
                        </a:rPr>
                        <m:t>𝜟</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𝒌</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𝟏</m:t>
                          </m:r>
                        </m:sub>
                      </m:sSub>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𝜶</m:t>
                      </m:r>
                      <m:d>
                        <m:dPr>
                          <m:ctrlPr>
                            <a:rPr lang="en-US" sz="2000" b="1" i="1">
                              <a:latin typeface="Cambria Math" panose="02040503050406030204" pitchFamily="18" charset="0"/>
                              <a:ea typeface="Cambria Math" panose="02040503050406030204" pitchFamily="18" charset="0"/>
                            </a:rPr>
                          </m:ctrlPr>
                        </m:dPr>
                        <m:e>
                          <m:r>
                            <a:rPr lang="en-US" sz="2000" b="1" i="1">
                              <a:latin typeface="Cambria Math" panose="02040503050406030204" pitchFamily="18" charset="0"/>
                              <a:ea typeface="Cambria Math" panose="02040503050406030204" pitchFamily="18" charset="0"/>
                            </a:rPr>
                            <m:t>𝜷</m:t>
                          </m:r>
                          <m:sSub>
                            <m:sSubPr>
                              <m:ctrlPr>
                                <a:rPr lang="en-US" sz="2000" b="1" i="1">
                                  <a:latin typeface="Cambria Math" panose="02040503050406030204" pitchFamily="18" charset="0"/>
                                  <a:ea typeface="Cambria Math" panose="02040503050406030204" pitchFamily="18" charset="0"/>
                                </a:rPr>
                              </m:ctrlPr>
                            </m:sSubPr>
                            <m:e>
                              <m:r>
                                <a:rPr lang="pt-BR" sz="2000" b="1" i="1">
                                  <a:latin typeface="Cambria Math" panose="02040503050406030204" pitchFamily="18" charset="0"/>
                                  <a:ea typeface="Cambria Math" panose="02040503050406030204" pitchFamily="18" charset="0"/>
                                </a:rPr>
                                <m:t>𝒀</m:t>
                              </m:r>
                            </m:e>
                            <m:sub>
                              <m:r>
                                <a:rPr lang="en-US" sz="2000" b="1" i="1">
                                  <a:latin typeface="Cambria Math" panose="02040503050406030204" pitchFamily="18" charset="0"/>
                                  <a:ea typeface="Cambria Math" panose="02040503050406030204" pitchFamily="18" charset="0"/>
                                </a:rPr>
                                <m:t>𝒕</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𝒌</m:t>
                              </m:r>
                            </m:sub>
                          </m:sSub>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𝝁</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𝝆</m:t>
                          </m:r>
                          <m:r>
                            <a:rPr lang="en-US" sz="2000" b="1" i="1">
                              <a:latin typeface="Cambria Math" panose="02040503050406030204" pitchFamily="18" charset="0"/>
                              <a:ea typeface="Cambria Math" panose="02040503050406030204" pitchFamily="18" charset="0"/>
                            </a:rPr>
                            <m:t>𝒕</m:t>
                          </m:r>
                        </m:e>
                      </m:d>
                      <m:r>
                        <a:rPr lang="en-US" sz="2000" b="1" i="1">
                          <a:latin typeface="Cambria Math" panose="02040503050406030204" pitchFamily="18" charset="0"/>
                          <a:ea typeface="Cambria Math" panose="02040503050406030204" pitchFamily="18" charset="0"/>
                        </a:rPr>
                        <m:t>+</m:t>
                      </m:r>
                      <m:d>
                        <m:dPr>
                          <m:ctrlPr>
                            <a:rPr lang="en-US" sz="2000" b="1" i="1">
                              <a:latin typeface="Cambria Math" panose="02040503050406030204" pitchFamily="18" charset="0"/>
                              <a:ea typeface="Cambria Math" panose="02040503050406030204" pitchFamily="18" charset="0"/>
                            </a:rPr>
                          </m:ctrlPr>
                        </m:dPr>
                        <m:e>
                          <m:r>
                            <a:rPr lang="en-US" sz="2000" b="1" i="1">
                              <a:latin typeface="Cambria Math" panose="02040503050406030204" pitchFamily="18" charset="0"/>
                              <a:ea typeface="Cambria Math" panose="02040503050406030204" pitchFamily="18" charset="0"/>
                            </a:rPr>
                            <m:t>𝜸</m:t>
                          </m:r>
                          <m:r>
                            <a:rPr lang="en-US" sz="2000" b="1" i="1">
                              <a:latin typeface="Cambria Math" panose="02040503050406030204" pitchFamily="18" charset="0"/>
                              <a:ea typeface="Cambria Math" panose="02040503050406030204" pitchFamily="18" charset="0"/>
                            </a:rPr>
                            <m:t>+</m:t>
                          </m:r>
                          <m:r>
                            <a:rPr lang="en-US" sz="2000" b="1" i="1">
                              <a:latin typeface="Cambria Math" panose="02040503050406030204" pitchFamily="18" charset="0"/>
                              <a:ea typeface="Cambria Math" panose="02040503050406030204" pitchFamily="18" charset="0"/>
                            </a:rPr>
                            <m:t>𝝉</m:t>
                          </m:r>
                          <m:r>
                            <a:rPr lang="en-US" sz="2000" b="1" i="1">
                              <a:latin typeface="Cambria Math" panose="02040503050406030204" pitchFamily="18" charset="0"/>
                              <a:ea typeface="Cambria Math" panose="02040503050406030204" pitchFamily="18" charset="0"/>
                            </a:rPr>
                            <m:t>𝒕</m:t>
                          </m:r>
                        </m:e>
                      </m:d>
                      <m:r>
                        <a:rPr lang="en-US" sz="2000" b="1" i="1">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𝒆</m:t>
                          </m:r>
                        </m:e>
                        <m:sub>
                          <m:r>
                            <a:rPr lang="en-US" sz="2000" b="1" i="1">
                              <a:latin typeface="Cambria Math" panose="02040503050406030204" pitchFamily="18" charset="0"/>
                              <a:ea typeface="Cambria Math" panose="02040503050406030204" pitchFamily="18" charset="0"/>
                            </a:rPr>
                            <m:t>𝒕</m:t>
                          </m:r>
                        </m:sub>
                      </m:sSub>
                    </m:oMath>
                  </m:oMathPara>
                </a14:m>
                <a:endParaRPr lang="en-US" sz="2000" dirty="0"/>
              </a:p>
              <a:p>
                <a:endParaRPr lang="en-US" sz="2000" dirty="0"/>
              </a:p>
              <a:p>
                <a:r>
                  <a:rPr lang="en-US" sz="2000" dirty="0"/>
                  <a:t>Each of the Johansen’s two tests (trace and max eigenvalue) has five variants that rely on different restrictions on the trend and drift terms:</a:t>
                </a:r>
              </a:p>
              <a:p>
                <a:pPr marL="0" indent="0">
                  <a:buNone/>
                </a:pPr>
                <a:endParaRPr lang="en-US" sz="2000" dirty="0"/>
              </a:p>
              <a:p>
                <a:pPr marL="0" indent="0">
                  <a:buNone/>
                </a:pPr>
                <a:r>
                  <a:rPr lang="en-US" sz="2000" dirty="0"/>
                  <a:t>Johansen allows for drift (constants </a:t>
                </a:r>
                <a14:m>
                  <m:oMath xmlns:m="http://schemas.openxmlformats.org/officeDocument/2006/math">
                    <m:r>
                      <a:rPr lang="en-US" sz="2000" b="1" i="1">
                        <a:latin typeface="Cambria Math" panose="02040503050406030204" pitchFamily="18" charset="0"/>
                        <a:ea typeface="Cambria Math" panose="02040503050406030204" pitchFamily="18" charset="0"/>
                      </a:rPr>
                      <m:t>𝝁</m:t>
                    </m:r>
                  </m:oMath>
                </a14:m>
                <a:r>
                  <a:rPr lang="en-US" sz="2000" dirty="0"/>
                  <a:t> and </a:t>
                </a:r>
                <a14:m>
                  <m:oMath xmlns:m="http://schemas.openxmlformats.org/officeDocument/2006/math">
                    <m:r>
                      <a:rPr lang="en-US" sz="2000" b="1" i="1">
                        <a:latin typeface="Cambria Math" panose="02040503050406030204" pitchFamily="18" charset="0"/>
                        <a:ea typeface="Cambria Math" panose="02040503050406030204" pitchFamily="18" charset="0"/>
                      </a:rPr>
                      <m:t>𝜸</m:t>
                    </m:r>
                  </m:oMath>
                </a14:m>
                <a:r>
                  <a:rPr lang="en-US" sz="2000" dirty="0"/>
                  <a:t>); and deterministic trend (</a:t>
                </a:r>
                <a14:m>
                  <m:oMath xmlns:m="http://schemas.openxmlformats.org/officeDocument/2006/math">
                    <m:r>
                      <a:rPr lang="en-US" sz="2000" b="1" i="1">
                        <a:latin typeface="Cambria Math" panose="02040503050406030204" pitchFamily="18" charset="0"/>
                        <a:ea typeface="Cambria Math" panose="02040503050406030204" pitchFamily="18" charset="0"/>
                      </a:rPr>
                      <m:t>𝝆</m:t>
                    </m:r>
                    <m:r>
                      <a:rPr lang="en-US" sz="2000" b="1">
                        <a:latin typeface="Cambria Math" panose="02040503050406030204" pitchFamily="18" charset="0"/>
                        <a:ea typeface="Cambria Math" panose="02040503050406030204" pitchFamily="18" charset="0"/>
                      </a:rPr>
                      <m:t>𝐭</m:t>
                    </m:r>
                  </m:oMath>
                </a14:m>
                <a:r>
                  <a:rPr lang="en-US" sz="2000" b="1" dirty="0"/>
                  <a:t>  and </a:t>
                </a:r>
                <a14:m>
                  <m:oMath xmlns:m="http://schemas.openxmlformats.org/officeDocument/2006/math">
                    <m:r>
                      <a:rPr lang="en-US" sz="2000" b="1" i="1">
                        <a:latin typeface="Cambria Math" panose="02040503050406030204" pitchFamily="18" charset="0"/>
                        <a:ea typeface="Cambria Math" panose="02040503050406030204" pitchFamily="18" charset="0"/>
                      </a:rPr>
                      <m:t>𝝉</m:t>
                    </m:r>
                  </m:oMath>
                </a14:m>
                <a:r>
                  <a:rPr lang="en-US" sz="2000" b="1" dirty="0"/>
                  <a:t>t).</a:t>
                </a:r>
              </a:p>
              <a:p>
                <a:pPr marL="0" indent="0">
                  <a:buNone/>
                </a:pPr>
                <a:endParaRPr lang="en-US" sz="2000" dirty="0"/>
              </a:p>
              <a:p>
                <a:pPr marL="514350" indent="-514350">
                  <a:buFont typeface="+mj-lt"/>
                  <a:buAutoNum type="arabicPeriod"/>
                </a:pPr>
                <a14:m>
                  <m:oMath xmlns:m="http://schemas.openxmlformats.org/officeDocument/2006/math">
                    <m:r>
                      <a:rPr lang="en-US" sz="2000" i="1" smtClean="0">
                        <a:latin typeface="Cambria Math" panose="02040503050406030204" pitchFamily="18" charset="0"/>
                        <a:ea typeface="Cambria Math" panose="02040503050406030204" pitchFamily="18" charset="0"/>
                      </a:rPr>
                      <m:t>𝜇</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𝛾</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𝜌</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𝜏</m:t>
                    </m:r>
                    <m:r>
                      <a:rPr lang="en-US" sz="2000" b="0" i="1" smtClean="0">
                        <a:latin typeface="Cambria Math" panose="02040503050406030204" pitchFamily="18" charset="0"/>
                        <a:ea typeface="Cambria Math" panose="02040503050406030204" pitchFamily="18" charset="0"/>
                      </a:rPr>
                      <m:t>=0</m:t>
                    </m:r>
                  </m:oMath>
                </a14:m>
                <a:endParaRPr lang="en-US" sz="2000" b="0" dirty="0">
                  <a:ea typeface="Cambria Math" panose="02040503050406030204" pitchFamily="18" charset="0"/>
                </a:endParaRPr>
              </a:p>
              <a:p>
                <a:pPr marL="514350" indent="-514350">
                  <a:buFont typeface="+mj-lt"/>
                  <a:buAutoNum type="arabicPeriod"/>
                </a:pPr>
                <a14:m>
                  <m:oMath xmlns:m="http://schemas.openxmlformats.org/officeDocument/2006/math">
                    <m:r>
                      <a:rPr lang="en-US" sz="2000" i="1">
                        <a:latin typeface="Cambria Math" panose="02040503050406030204" pitchFamily="18" charset="0"/>
                        <a:ea typeface="Cambria Math" panose="02040503050406030204" pitchFamily="18" charset="0"/>
                      </a:rPr>
                      <m:t>𝛾</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𝜌</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𝜏</m:t>
                    </m:r>
                    <m:r>
                      <a:rPr lang="en-US" sz="2000" i="1">
                        <a:latin typeface="Cambria Math" panose="02040503050406030204" pitchFamily="18" charset="0"/>
                        <a:ea typeface="Cambria Math" panose="02040503050406030204" pitchFamily="18" charset="0"/>
                      </a:rPr>
                      <m:t>=0</m:t>
                    </m:r>
                  </m:oMath>
                </a14:m>
                <a:r>
                  <a:rPr lang="en-US" sz="2000" dirty="0">
                    <a:ea typeface="Cambria Math" panose="02040503050406030204" pitchFamily="18" charset="0"/>
                  </a:rPr>
                  <a:t> </a:t>
                </a:r>
              </a:p>
              <a:p>
                <a:pPr marL="514350" indent="-514350">
                  <a:buFont typeface="+mj-lt"/>
                  <a:buAutoNum type="arabicPeriod"/>
                </a:pPr>
                <a14:m>
                  <m:oMath xmlns:m="http://schemas.openxmlformats.org/officeDocument/2006/math">
                    <m:r>
                      <a:rPr lang="en-US" sz="2000" i="1">
                        <a:latin typeface="Cambria Math" panose="02040503050406030204" pitchFamily="18" charset="0"/>
                        <a:ea typeface="Cambria Math" panose="02040503050406030204" pitchFamily="18" charset="0"/>
                      </a:rPr>
                      <m:t>𝜌</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𝜏</m:t>
                    </m:r>
                    <m:r>
                      <a:rPr lang="en-US" sz="2000" i="1">
                        <a:latin typeface="Cambria Math" panose="02040503050406030204" pitchFamily="18" charset="0"/>
                        <a:ea typeface="Cambria Math" panose="02040503050406030204" pitchFamily="18" charset="0"/>
                      </a:rPr>
                      <m:t>=0</m:t>
                    </m:r>
                  </m:oMath>
                </a14:m>
                <a:endParaRPr lang="en-US" sz="2000" dirty="0">
                  <a:ea typeface="Cambria Math" panose="02040503050406030204" pitchFamily="18" charset="0"/>
                </a:endParaRPr>
              </a:p>
              <a:p>
                <a:pPr marL="514350" indent="-514350">
                  <a:buFont typeface="+mj-lt"/>
                  <a:buAutoNum type="arabicPeriod"/>
                </a:pPr>
                <a14:m>
                  <m:oMath xmlns:m="http://schemas.openxmlformats.org/officeDocument/2006/math">
                    <m:r>
                      <a:rPr lang="en-US" sz="2000" i="1">
                        <a:latin typeface="Cambria Math" panose="02040503050406030204" pitchFamily="18" charset="0"/>
                        <a:ea typeface="Cambria Math" panose="02040503050406030204" pitchFamily="18" charset="0"/>
                      </a:rPr>
                      <m:t>𝜏</m:t>
                    </m:r>
                    <m:r>
                      <a:rPr lang="en-US" sz="2000" i="1">
                        <a:latin typeface="Cambria Math" panose="02040503050406030204" pitchFamily="18" charset="0"/>
                        <a:ea typeface="Cambria Math" panose="02040503050406030204" pitchFamily="18" charset="0"/>
                      </a:rPr>
                      <m:t>=0</m:t>
                    </m:r>
                  </m:oMath>
                </a14:m>
                <a:endParaRPr lang="en-US" sz="2000" dirty="0">
                  <a:ea typeface="Cambria Math" panose="02040503050406030204" pitchFamily="18" charset="0"/>
                </a:endParaRPr>
              </a:p>
              <a:p>
                <a:pPr marL="514350" indent="-514350">
                  <a:buFont typeface="+mj-lt"/>
                  <a:buAutoNum type="arabicPeriod"/>
                </a:pPr>
                <a:r>
                  <a:rPr lang="en-US" sz="2000" dirty="0">
                    <a:ea typeface="Cambria Math" panose="02040503050406030204" pitchFamily="18" charset="0"/>
                  </a:rPr>
                  <a:t>There are no restrictions on </a:t>
                </a:r>
                <a14:m>
                  <m:oMath xmlns:m="http://schemas.openxmlformats.org/officeDocument/2006/math">
                    <m:r>
                      <a:rPr lang="en-US" sz="2000" i="1">
                        <a:latin typeface="Cambria Math" panose="02040503050406030204" pitchFamily="18" charset="0"/>
                        <a:ea typeface="Cambria Math" panose="02040503050406030204" pitchFamily="18" charset="0"/>
                      </a:rPr>
                      <m:t>𝜇</m:t>
                    </m:r>
                    <m:r>
                      <a:rPr lang="en-US" sz="2000" b="0" i="1" smtClean="0">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𝛾</m:t>
                    </m:r>
                    <m:r>
                      <a:rPr lang="en-US" sz="2000" b="0" i="1" smtClean="0">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𝜌</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𝑜𝑟</m:t>
                    </m:r>
                    <m:r>
                      <a:rPr lang="en-US" sz="2000" b="0" i="1" smtClean="0">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𝜏</m:t>
                    </m:r>
                  </m:oMath>
                </a14:m>
                <a:endParaRPr lang="en-US" sz="2000" dirty="0">
                  <a:ea typeface="Cambria Math" panose="02040503050406030204" pitchFamily="18" charset="0"/>
                </a:endParaRPr>
              </a:p>
              <a:p>
                <a:pPr marL="0" indent="0">
                  <a:buNone/>
                </a:pPr>
                <a:r>
                  <a:rPr lang="en-US" sz="2000" dirty="0">
                    <a:ea typeface="Cambria Math" panose="02040503050406030204" pitchFamily="18" charset="0"/>
                  </a:rPr>
                  <a:t>Case 1 and 5 are not used in practice. Use case 2 if none of the series appear to have a trend. Use case 3 if  it seems  that all trends are stochastic (due to drift form a  random walk); case 4 if it seems that some of the series are trend-stationary.</a:t>
                </a:r>
              </a:p>
              <a:p>
                <a:pPr marL="0" indent="0">
                  <a:buNone/>
                </a:pPr>
                <a:r>
                  <a:rPr lang="en-US" sz="2000" dirty="0"/>
                  <a:t>For variables like GDP , its components, price level and financial asset prices, Zivot and Wang (2007) recommend using case 3.</a:t>
                </a:r>
              </a:p>
              <a:p>
                <a:pPr marL="0" indent="0">
                  <a:buNone/>
                </a:pPr>
                <a:endParaRPr lang="en-US" sz="2000"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99515E7E-EBE7-044F-951C-2EC5145FB41A}"/>
                  </a:ext>
                </a:extLst>
              </p:cNvPr>
              <p:cNvSpPr>
                <a:spLocks noGrp="1" noRot="1" noChangeAspect="1" noMove="1" noResize="1" noEditPoints="1" noAdjustHandles="1" noChangeArrowheads="1" noChangeShapeType="1" noTextEdit="1"/>
              </p:cNvSpPr>
              <p:nvPr>
                <p:ph idx="1"/>
              </p:nvPr>
            </p:nvSpPr>
            <p:spPr>
              <a:xfrm>
                <a:off x="790699" y="0"/>
                <a:ext cx="10515600" cy="7196447"/>
              </a:xfrm>
              <a:blipFill>
                <a:blip r:embed="rId2"/>
                <a:stretch>
                  <a:fillRect l="-483" t="-882" r="-1086"/>
                </a:stretch>
              </a:blipFill>
            </p:spPr>
            <p:txBody>
              <a:bodyPr/>
              <a:lstStyle/>
              <a:p>
                <a:r>
                  <a:rPr lang="en-US">
                    <a:noFill/>
                  </a:rPr>
                  <a:t> </a:t>
                </a:r>
              </a:p>
            </p:txBody>
          </p:sp>
        </mc:Fallback>
      </mc:AlternateContent>
    </p:spTree>
    <p:extLst>
      <p:ext uri="{BB962C8B-B14F-4D97-AF65-F5344CB8AC3E}">
        <p14:creationId xmlns:p14="http://schemas.microsoft.com/office/powerpoint/2010/main" val="31094188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CB822-C1F6-3F41-8CCE-B623DECE140B}"/>
              </a:ext>
            </a:extLst>
          </p:cNvPr>
          <p:cNvSpPr>
            <a:spLocks noGrp="1"/>
          </p:cNvSpPr>
          <p:nvPr>
            <p:ph type="title"/>
          </p:nvPr>
        </p:nvSpPr>
        <p:spPr>
          <a:xfrm>
            <a:off x="838200" y="365126"/>
            <a:ext cx="10515600" cy="810532"/>
          </a:xfrm>
        </p:spPr>
        <p:txBody>
          <a:bodyPr>
            <a:normAutofit/>
          </a:bodyPr>
          <a:lstStyle/>
          <a:p>
            <a:pPr algn="ctr"/>
            <a:r>
              <a:rPr lang="en-US" sz="3200" b="1" dirty="0"/>
              <a:t>Johansen’s test on STATA</a:t>
            </a:r>
          </a:p>
        </p:txBody>
      </p:sp>
      <p:sp>
        <p:nvSpPr>
          <p:cNvPr id="3" name="Content Placeholder 2">
            <a:extLst>
              <a:ext uri="{FF2B5EF4-FFF2-40B4-BE49-F238E27FC236}">
                <a16:creationId xmlns:a16="http://schemas.microsoft.com/office/drawing/2014/main" id="{8A826068-D797-EA4D-9271-731C4D8793CF}"/>
              </a:ext>
            </a:extLst>
          </p:cNvPr>
          <p:cNvSpPr>
            <a:spLocks noGrp="1"/>
          </p:cNvSpPr>
          <p:nvPr>
            <p:ph idx="1"/>
          </p:nvPr>
        </p:nvSpPr>
        <p:spPr>
          <a:xfrm>
            <a:off x="838200" y="1175658"/>
            <a:ext cx="10515600" cy="5001305"/>
          </a:xfrm>
        </p:spPr>
        <p:txBody>
          <a:bodyPr>
            <a:normAutofit/>
          </a:bodyPr>
          <a:lstStyle/>
          <a:p>
            <a:pPr marL="0" indent="0">
              <a:buNone/>
            </a:pPr>
            <a:r>
              <a:rPr lang="en-US" sz="2000" dirty="0">
                <a:solidFill>
                  <a:srgbClr val="FF0000"/>
                </a:solidFill>
              </a:rPr>
              <a:t>vecrank  </a:t>
            </a:r>
            <a:r>
              <a:rPr lang="en-US" sz="2000" dirty="0"/>
              <a:t>is the command on STATA to test for the cointegration rank:</a:t>
            </a:r>
          </a:p>
          <a:p>
            <a:pPr marL="0" indent="0">
              <a:buNone/>
            </a:pPr>
            <a:endParaRPr lang="en-US" sz="2000" dirty="0"/>
          </a:p>
          <a:p>
            <a:pPr marL="0" indent="0">
              <a:buNone/>
            </a:pPr>
            <a:r>
              <a:rPr lang="en-US" sz="2000" dirty="0"/>
              <a:t>vecrank X1 X2 X3 X4 X5, max</a:t>
            </a:r>
          </a:p>
          <a:p>
            <a:pPr marL="0" indent="0">
              <a:buNone/>
            </a:pPr>
            <a:endParaRPr lang="en-US" sz="2000" dirty="0"/>
          </a:p>
          <a:p>
            <a:pPr marL="0" indent="0">
              <a:buNone/>
            </a:pPr>
            <a:r>
              <a:rPr lang="en-US" sz="2000" dirty="0"/>
              <a:t>The command above you compute both statistic, the trace statistic and max eigenvalue statistic.</a:t>
            </a:r>
          </a:p>
          <a:p>
            <a:pPr marL="0" indent="0">
              <a:buNone/>
            </a:pPr>
            <a:endParaRPr lang="en-US" sz="2000" dirty="0"/>
          </a:p>
          <a:p>
            <a:pPr marL="0" indent="0">
              <a:buNone/>
            </a:pPr>
            <a:r>
              <a:rPr lang="en-US" sz="2000" dirty="0"/>
              <a:t>Once you find out how many cointegrating equation you have, the next step is to estimate those long-run cointegrating relationship, as well as the short-run adjustment terms (speed of adjustment):</a:t>
            </a:r>
          </a:p>
          <a:p>
            <a:pPr marL="0" indent="0">
              <a:buNone/>
            </a:pPr>
            <a:endParaRPr lang="en-US" sz="2000" dirty="0"/>
          </a:p>
          <a:p>
            <a:pPr marL="0" indent="0">
              <a:buNone/>
            </a:pPr>
            <a:r>
              <a:rPr lang="en-US" sz="2000" dirty="0"/>
              <a:t>vec Z Y X, rank(2) trend(constant)</a:t>
            </a:r>
          </a:p>
        </p:txBody>
      </p:sp>
    </p:spTree>
    <p:extLst>
      <p:ext uri="{BB962C8B-B14F-4D97-AF65-F5344CB8AC3E}">
        <p14:creationId xmlns:p14="http://schemas.microsoft.com/office/powerpoint/2010/main" val="4836035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39C0E-6CBB-3946-8647-890FA09D9B4B}"/>
              </a:ext>
            </a:extLst>
          </p:cNvPr>
          <p:cNvSpPr>
            <a:spLocks noGrp="1"/>
          </p:cNvSpPr>
          <p:nvPr>
            <p:ph type="title"/>
          </p:nvPr>
        </p:nvSpPr>
        <p:spPr>
          <a:xfrm>
            <a:off x="838200" y="365125"/>
            <a:ext cx="10515600" cy="893659"/>
          </a:xfrm>
        </p:spPr>
        <p:txBody>
          <a:bodyPr>
            <a:normAutofit/>
          </a:bodyPr>
          <a:lstStyle/>
          <a:p>
            <a:pPr algn="ctr"/>
            <a:r>
              <a:rPr lang="en-US" sz="3200" dirty="0"/>
              <a:t>IRFs, OIRFs and Forecasting from VECMs</a:t>
            </a:r>
          </a:p>
        </p:txBody>
      </p:sp>
      <p:sp>
        <p:nvSpPr>
          <p:cNvPr id="3" name="Content Placeholder 2">
            <a:extLst>
              <a:ext uri="{FF2B5EF4-FFF2-40B4-BE49-F238E27FC236}">
                <a16:creationId xmlns:a16="http://schemas.microsoft.com/office/drawing/2014/main" id="{1937CDC9-925F-AC41-90A4-F4650B3B26C3}"/>
              </a:ext>
            </a:extLst>
          </p:cNvPr>
          <p:cNvSpPr>
            <a:spLocks noGrp="1"/>
          </p:cNvSpPr>
          <p:nvPr>
            <p:ph idx="1"/>
          </p:nvPr>
        </p:nvSpPr>
        <p:spPr>
          <a:xfrm>
            <a:off x="838200" y="1258784"/>
            <a:ext cx="10515600" cy="4918179"/>
          </a:xfrm>
        </p:spPr>
        <p:txBody>
          <a:bodyPr/>
          <a:lstStyle/>
          <a:p>
            <a:r>
              <a:rPr lang="en-US" sz="2000" dirty="0"/>
              <a:t>VECMs are derived from VAR or SVAR, so we can estimate impulse response functions, OIRFs, and FEVDs, after estimating a VECM.</a:t>
            </a:r>
          </a:p>
          <a:p>
            <a:pPr marL="0" indent="0">
              <a:buNone/>
            </a:pPr>
            <a:endParaRPr lang="en-US" sz="2000" dirty="0"/>
          </a:p>
          <a:p>
            <a:r>
              <a:rPr lang="en-US" sz="2000" dirty="0"/>
              <a:t>STATA will compute IRFs, OIRFs, and FEVDs after estimating a VECM.</a:t>
            </a:r>
          </a:p>
          <a:p>
            <a:pPr marL="0" indent="0">
              <a:buNone/>
            </a:pPr>
            <a:endParaRPr lang="en-US" sz="2000" dirty="0"/>
          </a:p>
          <a:p>
            <a:r>
              <a:rPr lang="en-US" sz="2000" dirty="0"/>
              <a:t>As we have seen when estimating a VAR model, for better results, the lag-length selection is very important. Correctly estimating the number of lags affects the ability to estimate the correct rank r. VECM have one fewer lag than the level-VAR. </a:t>
            </a:r>
          </a:p>
          <a:p>
            <a:pPr marL="0" indent="0">
              <a:buNone/>
            </a:pPr>
            <a:endParaRPr lang="en-US" sz="2000" dirty="0"/>
          </a:p>
          <a:p>
            <a:r>
              <a:rPr lang="en-US" sz="2000" dirty="0"/>
              <a:t>WE can use AIC, SBIC, HQIC,  and FPE criteria to select the appropriate number of lags. Some studies found that BIC and HQIC are better to identify correctly the number of cointegrating vectors</a:t>
            </a:r>
            <a:r>
              <a:rPr lang="en-US" dirty="0"/>
              <a:t>. </a:t>
            </a:r>
          </a:p>
          <a:p>
            <a:pPr marL="0" indent="0">
              <a:buNone/>
            </a:pPr>
            <a:endParaRPr lang="en-US" dirty="0"/>
          </a:p>
        </p:txBody>
      </p:sp>
    </p:spTree>
    <p:extLst>
      <p:ext uri="{BB962C8B-B14F-4D97-AF65-F5344CB8AC3E}">
        <p14:creationId xmlns:p14="http://schemas.microsoft.com/office/powerpoint/2010/main" val="10006963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14991</TotalTime>
  <Words>3200</Words>
  <Application>Microsoft Macintosh PowerPoint</Application>
  <PresentationFormat>Widescreen</PresentationFormat>
  <Paragraphs>297</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Calibri Light</vt:lpstr>
      <vt:lpstr>Cambria Math</vt:lpstr>
      <vt:lpstr>Office Theme</vt:lpstr>
      <vt:lpstr>Chapter 12: COINTEGRATION</vt:lpstr>
      <vt:lpstr>A simple way to understand cointegration</vt:lpstr>
      <vt:lpstr>Their path: Y is the drunk; X is her dog: we may not know where they will go as a pair (due the fact that their trend is stochastic), but they will be close to each other: cointegrated.</vt:lpstr>
      <vt:lpstr>The distance between them is stationary</vt:lpstr>
      <vt:lpstr>Example of Cointegrated series: GDP and Personal Consumption</vt:lpstr>
      <vt:lpstr>Example of Cointegrated series: Short-term and long-term interest rates</vt:lpstr>
      <vt:lpstr>Spurious Regression and Cointegration</vt:lpstr>
      <vt:lpstr>Spurious Regression and Cointegration</vt:lpstr>
      <vt:lpstr>PowerPoint Presentation</vt:lpstr>
      <vt:lpstr>Cointegration: case 2</vt:lpstr>
      <vt:lpstr>ERROR CORRECTION MECHANISM</vt:lpstr>
      <vt:lpstr>ERROR CORRECTION MECHANISM</vt:lpstr>
      <vt:lpstr>ERROR CORRECTION MECHANISM</vt:lpstr>
      <vt:lpstr>PowerPoint Presentation</vt:lpstr>
      <vt:lpstr>PowerPoint Presentation</vt:lpstr>
      <vt:lpstr>The Speed of Adjustment Factor</vt:lpstr>
      <vt:lpstr>Deriving the ECM</vt:lpstr>
      <vt:lpstr>Deriving the ECM</vt:lpstr>
      <vt:lpstr>Engle and Granger’s  (E-G) Residual Tests of Cointegration</vt:lpstr>
      <vt:lpstr>Engle and Granger’s Residual Tests of Cointegration</vt:lpstr>
      <vt:lpstr>Engle-Granger approach example</vt:lpstr>
      <vt:lpstr>PowerPoint Presentation</vt:lpstr>
      <vt:lpstr>Critics to the two-step E-G approach</vt:lpstr>
      <vt:lpstr>3-cointegrated series (X, Y, and Z); V is not</vt:lpstr>
      <vt:lpstr>Johansen Tests (1988)</vt:lpstr>
      <vt:lpstr>Deriving the VECM from a Simple SVAR(2) model</vt:lpstr>
      <vt:lpstr>Deriving the VECM from a Simple VAR(2) model</vt:lpstr>
      <vt:lpstr>PowerPoint Presentation</vt:lpstr>
      <vt:lpstr>Johansen’s Trace Test and the Rank of Π</vt:lpstr>
      <vt:lpstr>PowerPoint Presentation</vt:lpstr>
      <vt:lpstr>PowerPoint Presentation</vt:lpstr>
      <vt:lpstr>PowerPoint Presentation</vt:lpstr>
      <vt:lpstr>PowerPoint Presentation</vt:lpstr>
      <vt:lpstr>Johansen’s test on STATA</vt:lpstr>
      <vt:lpstr>IRFs, OIRFs and Forecasting from VECMs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Vector Autoregression (VAR): Multivariable, multi-equation models</dc:title>
  <dc:creator>Microsoft Office User</dc:creator>
  <cp:lastModifiedBy>Cati, Regina</cp:lastModifiedBy>
  <cp:revision>181</cp:revision>
  <cp:lastPrinted>2021-11-11T13:16:18Z</cp:lastPrinted>
  <dcterms:created xsi:type="dcterms:W3CDTF">2021-10-17T17:24:28Z</dcterms:created>
  <dcterms:modified xsi:type="dcterms:W3CDTF">2022-10-31T14:41:20Z</dcterms:modified>
</cp:coreProperties>
</file>